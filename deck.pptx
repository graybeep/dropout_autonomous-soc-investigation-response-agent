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Graybeep/Dropout_Autonomous-SOC-Investigation-Response-Agent" TargetMode="External"/><Relationship Id="rId3" Type="http://schemas.openxmlformats.org/officeDocument/2006/relationships/hyperlink" Target="https://soc-agent-trace-viewer.vercel.ap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25880"/>
            <a:ext cx="10607040" cy="320040"/>
          </a:xfrm>
          <a:prstGeom prst="rect">
            <a:avLst/>
          </a:prstGeom>
          <a:noFill/>
        </p:spPr>
        <p:txBody>
          <a:bodyPr wrap="square" lIns="0" rIns="0" tIns="0" bIns="0">
            <a:spAutoFit/>
          </a:bodyPr>
          <a:lstStyle/>
          <a:p>
            <a:pPr algn="l">
              <a:lnSpc>
                <a:spcPct val="125000"/>
              </a:lnSpc>
              <a:spcAft>
                <a:spcPts val="600"/>
              </a:spcAft>
            </a:pPr>
            <a:r>
              <a:rPr sz="1400" b="1">
                <a:solidFill>
                  <a:srgbClr val="E2551F"/>
                </a:solidFill>
                <a:latin typeface="Segoe UI"/>
              </a:rPr>
              <a:t>PROBLEM STATEMENT 9</a:t>
            </a:r>
          </a:p>
        </p:txBody>
      </p:sp>
      <p:sp>
        <p:nvSpPr>
          <p:cNvPr id="5" name="TextBox 4"/>
          <p:cNvSpPr txBox="1"/>
          <p:nvPr/>
        </p:nvSpPr>
        <p:spPr>
          <a:xfrm>
            <a:off x="777240" y="1737360"/>
            <a:ext cx="10607040" cy="1463040"/>
          </a:xfrm>
          <a:prstGeom prst="rect">
            <a:avLst/>
          </a:prstGeom>
          <a:noFill/>
        </p:spPr>
        <p:txBody>
          <a:bodyPr wrap="square" lIns="0" rIns="0" tIns="0" bIns="0">
            <a:spAutoFit/>
          </a:bodyPr>
          <a:lstStyle/>
          <a:p>
            <a:pPr algn="l">
              <a:lnSpc>
                <a:spcPct val="105000"/>
              </a:lnSpc>
              <a:spcAft>
                <a:spcPts val="600"/>
              </a:spcAft>
            </a:pPr>
            <a:r>
              <a:rPr sz="4600" b="1">
                <a:solidFill>
                  <a:srgbClr val="1C1C1E"/>
                </a:solidFill>
                <a:latin typeface="Georgia"/>
              </a:rPr>
              <a:t>Autonomous SOC Investigation</a:t>
            </a:r>
          </a:p>
          <a:p>
            <a:pPr algn="l">
              <a:lnSpc>
                <a:spcPct val="105000"/>
              </a:lnSpc>
              <a:spcAft>
                <a:spcPts val="600"/>
              </a:spcAft>
            </a:pPr>
            <a:r>
              <a:rPr sz="4600" b="1">
                <a:solidFill>
                  <a:srgbClr val="1C1C1E"/>
                </a:solidFill>
                <a:latin typeface="Georgia"/>
              </a:rPr>
              <a:t>&amp; Response Agent</a:t>
            </a:r>
          </a:p>
        </p:txBody>
      </p:sp>
      <p:sp>
        <p:nvSpPr>
          <p:cNvPr id="6" name="TextBox 5"/>
          <p:cNvSpPr txBox="1"/>
          <p:nvPr/>
        </p:nvSpPr>
        <p:spPr>
          <a:xfrm>
            <a:off x="777240" y="3401568"/>
            <a:ext cx="9875520" cy="822960"/>
          </a:xfrm>
          <a:prstGeom prst="rect">
            <a:avLst/>
          </a:prstGeom>
          <a:noFill/>
        </p:spPr>
        <p:txBody>
          <a:bodyPr wrap="square" lIns="0" rIns="0" tIns="0" bIns="0">
            <a:spAutoFit/>
          </a:bodyPr>
          <a:lstStyle/>
          <a:p>
            <a:pPr algn="l">
              <a:lnSpc>
                <a:spcPct val="125000"/>
              </a:lnSpc>
              <a:spcAft>
                <a:spcPts val="600"/>
              </a:spcAft>
            </a:pPr>
            <a:r>
              <a:rPr sz="1700" b="0">
                <a:solidFill>
                  <a:srgbClr val="4A4A52"/>
                </a:solidFill>
                <a:latin typeface="Segoe UI"/>
              </a:rPr>
              <a:t>An alert says you were attacked. The agent decides whether it actually worked,</a:t>
            </a:r>
          </a:p>
          <a:p>
            <a:pPr algn="l">
              <a:lnSpc>
                <a:spcPct val="125000"/>
              </a:lnSpc>
              <a:spcAft>
                <a:spcPts val="600"/>
              </a:spcAft>
            </a:pPr>
            <a:r>
              <a:rPr sz="1700" b="0">
                <a:solidFill>
                  <a:srgbClr val="4A4A52"/>
                </a:solidFill>
                <a:latin typeface="Segoe UI"/>
              </a:rPr>
              <a:t>by correlating asset, vulnerability, configuration and log evidence rather than</a:t>
            </a:r>
          </a:p>
          <a:p>
            <a:pPr algn="l">
              <a:lnSpc>
                <a:spcPct val="125000"/>
              </a:lnSpc>
              <a:spcAft>
                <a:spcPts val="600"/>
              </a:spcAft>
            </a:pPr>
            <a:r>
              <a:rPr sz="1700" b="0">
                <a:solidFill>
                  <a:srgbClr val="4A4A52"/>
                </a:solidFill>
                <a:latin typeface="Segoe UI"/>
              </a:rPr>
              <a:t>trusting the alert's own severity label.</a:t>
            </a:r>
          </a:p>
        </p:txBody>
      </p:sp>
      <p:sp>
        <p:nvSpPr>
          <p:cNvPr id="7" name="Rounded Rectangle 6"/>
          <p:cNvSpPr/>
          <p:nvPr/>
        </p:nvSpPr>
        <p:spPr>
          <a:xfrm>
            <a:off x="777240" y="4572000"/>
            <a:ext cx="502920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457200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4754880"/>
            <a:ext cx="448056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TEAM</a:t>
            </a:r>
          </a:p>
        </p:txBody>
      </p:sp>
      <p:sp>
        <p:nvSpPr>
          <p:cNvPr id="10" name="TextBox 9"/>
          <p:cNvSpPr txBox="1"/>
          <p:nvPr/>
        </p:nvSpPr>
        <p:spPr>
          <a:xfrm>
            <a:off x="1078992" y="5056632"/>
            <a:ext cx="4480560" cy="548640"/>
          </a:xfrm>
          <a:prstGeom prst="rect">
            <a:avLst/>
          </a:prstGeom>
          <a:noFill/>
        </p:spPr>
        <p:txBody>
          <a:bodyPr wrap="square" lIns="0" rIns="0" tIns="0" bIns="0">
            <a:spAutoFit/>
          </a:bodyPr>
          <a:lstStyle/>
          <a:p>
            <a:pPr algn="l">
              <a:lnSpc>
                <a:spcPct val="125000"/>
              </a:lnSpc>
              <a:spcAft>
                <a:spcPts val="600"/>
              </a:spcAft>
            </a:pPr>
            <a:r>
              <a:rPr sz="1900" b="1">
                <a:solidFill>
                  <a:srgbClr val="1C1C1E"/>
                </a:solidFill>
                <a:latin typeface="Segoe UI"/>
              </a:rPr>
              <a:t>Dropout</a:t>
            </a:r>
          </a:p>
        </p:txBody>
      </p:sp>
      <p:sp>
        <p:nvSpPr>
          <p:cNvPr id="11" name="Rounded Rectangle 10"/>
          <p:cNvSpPr/>
          <p:nvPr/>
        </p:nvSpPr>
        <p:spPr>
          <a:xfrm>
            <a:off x="6035040" y="4572000"/>
            <a:ext cx="534924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4754880"/>
            <a:ext cx="484632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LIVE PROTOTYPE</a:t>
            </a:r>
          </a:p>
        </p:txBody>
      </p:sp>
      <p:sp>
        <p:nvSpPr>
          <p:cNvPr id="13" name="TextBox 12"/>
          <p:cNvSpPr txBox="1"/>
          <p:nvPr/>
        </p:nvSpPr>
        <p:spPr>
          <a:xfrm>
            <a:off x="6336792" y="5056632"/>
            <a:ext cx="4846320" cy="548640"/>
          </a:xfrm>
          <a:prstGeom prst="rect">
            <a:avLst/>
          </a:prstGeom>
          <a:noFill/>
        </p:spPr>
        <p:txBody>
          <a:bodyPr wrap="square" lIns="0" rIns="0" tIns="0" bIns="0">
            <a:spAutoFit/>
          </a:bodyPr>
          <a:lstStyle/>
          <a:p>
            <a:pPr algn="l">
              <a:lnSpc>
                <a:spcPct val="125000"/>
              </a:lnSpc>
              <a:spcAft>
                <a:spcPts val="600"/>
              </a:spcAft>
            </a:pPr>
            <a:r>
              <a:rPr sz="1500" b="1">
                <a:solidFill>
                  <a:srgbClr val="E2551F"/>
                </a:solidFill>
                <a:latin typeface="Consolas"/>
              </a:rPr>
              <a:t>soc-agent-trace-viewer.vercel.app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PROBLEM</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Alarms are cheap. Answers are not.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83080"/>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20240"/>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An alert is only a pattern match</a:t>
            </a:r>
          </a:p>
        </p:txBody>
      </p:sp>
      <p:sp>
        <p:nvSpPr>
          <p:cNvPr id="8" name="TextBox 7"/>
          <p:cNvSpPr txBox="1"/>
          <p:nvPr/>
        </p:nvSpPr>
        <p:spPr>
          <a:xfrm>
            <a:off x="1078992" y="2286000"/>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detection rule fires when traffic LOOKS like an attack. It cannot tell you whether anything was actually breached.</a:t>
            </a:r>
          </a:p>
        </p:txBody>
      </p:sp>
      <p:sp>
        <p:nvSpPr>
          <p:cNvPr id="9" name="Rounded Rectangle 8"/>
          <p:cNvSpPr/>
          <p:nvPr/>
        </p:nvSpPr>
        <p:spPr>
          <a:xfrm>
            <a:off x="777240" y="2843784"/>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80944"/>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The severity label is an opinion</a:t>
            </a:r>
          </a:p>
        </p:txBody>
      </p:sp>
      <p:sp>
        <p:nvSpPr>
          <p:cNvPr id="11" name="TextBox 10"/>
          <p:cNvSpPr txBox="1"/>
          <p:nvPr/>
        </p:nvSpPr>
        <p:spPr>
          <a:xfrm>
            <a:off x="1078992" y="3346704"/>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critical label on a host patched years ago is noise. A quiet alert on an unpatched host shipping 2 MB out is a breach.</a:t>
            </a:r>
          </a:p>
        </p:txBody>
      </p:sp>
      <p:sp>
        <p:nvSpPr>
          <p:cNvPr id="12" name="Rounded Rectangle 11"/>
          <p:cNvSpPr/>
          <p:nvPr/>
        </p:nvSpPr>
        <p:spPr>
          <a:xfrm>
            <a:off x="777240" y="3904488"/>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041648"/>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So a human checks, every single time</a:t>
            </a:r>
          </a:p>
        </p:txBody>
      </p:sp>
      <p:sp>
        <p:nvSpPr>
          <p:cNvPr id="14" name="TextBox 13"/>
          <p:cNvSpPr txBox="1"/>
          <p:nvPr/>
        </p:nvSpPr>
        <p:spPr>
          <a:xfrm>
            <a:off x="1078992" y="4407408"/>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analyst pulls asset data, CVE ranges, host logs, configuration and packet metadata, joins them, and decides. Then does it again.</a:t>
            </a:r>
          </a:p>
        </p:txBody>
      </p:sp>
      <p:sp>
        <p:nvSpPr>
          <p:cNvPr id="15" name="Rounded Rectangle 14"/>
          <p:cNvSpPr/>
          <p:nvPr/>
        </p:nvSpPr>
        <p:spPr>
          <a:xfrm>
            <a:off x="777240" y="5029200"/>
            <a:ext cx="10607040" cy="137160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29200"/>
            <a:ext cx="50292" cy="137160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57800"/>
            <a:ext cx="10058400" cy="292608"/>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WHY THIS NEEDS AN AGENT AND NOT A SCRIPT</a:t>
            </a:r>
          </a:p>
        </p:txBody>
      </p:sp>
      <p:sp>
        <p:nvSpPr>
          <p:cNvPr id="18" name="TextBox 17"/>
          <p:cNvSpPr txBox="1"/>
          <p:nvPr/>
        </p:nvSpPr>
        <p:spPr>
          <a:xfrm>
            <a:off x="1097280" y="5577840"/>
            <a:ext cx="1005840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evidence that settles one alert is not the evidence that settles the next. A script fixes the order in advance; here the agent chooses each call, states why, and re-plans when new evidence arrives.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AGENTIC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The agent picks its own path</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sp>
        <p:nvSpPr>
          <p:cNvPr id="6" name="Rounded Rectangle 5"/>
          <p:cNvSpPr/>
          <p:nvPr/>
        </p:nvSpPr>
        <p:spPr>
          <a:xfrm>
            <a:off x="77724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INGEST</a:t>
            </a:r>
          </a:p>
        </p:txBody>
      </p:sp>
      <p:sp>
        <p:nvSpPr>
          <p:cNvPr id="8" name="TextBox 7"/>
          <p:cNvSpPr txBox="1"/>
          <p:nvPr/>
        </p:nvSpPr>
        <p:spPr>
          <a:xfrm>
            <a:off x="90525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an alert</a:t>
            </a:r>
          </a:p>
          <a:p>
            <a:pPr algn="ctr">
              <a:lnSpc>
                <a:spcPct val="125000"/>
              </a:lnSpc>
              <a:spcAft>
                <a:spcPts val="600"/>
              </a:spcAft>
            </a:pPr>
            <a:r>
              <a:rPr sz="1050" b="0">
                <a:solidFill>
                  <a:srgbClr val="4A4A52"/>
                </a:solidFill>
                <a:latin typeface="Segoe UI"/>
              </a:rPr>
              <a:t>opens a case</a:t>
            </a:r>
          </a:p>
        </p:txBody>
      </p:sp>
      <p:sp>
        <p:nvSpPr>
          <p:cNvPr id="9" name="TextBox 8"/>
          <p:cNvSpPr txBox="1"/>
          <p:nvPr/>
        </p:nvSpPr>
        <p:spPr>
          <a:xfrm>
            <a:off x="2377440"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0" name="Rounded Rectangle 9"/>
          <p:cNvSpPr/>
          <p:nvPr/>
        </p:nvSpPr>
        <p:spPr>
          <a:xfrm>
            <a:off x="2569464"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9464"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97480"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HYPOTHESIZE</a:t>
            </a:r>
          </a:p>
        </p:txBody>
      </p:sp>
      <p:sp>
        <p:nvSpPr>
          <p:cNvPr id="13" name="TextBox 12"/>
          <p:cNvSpPr txBox="1"/>
          <p:nvPr/>
        </p:nvSpPr>
        <p:spPr>
          <a:xfrm>
            <a:off x="2697480"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what confirms?</a:t>
            </a:r>
          </a:p>
          <a:p>
            <a:pPr algn="ctr">
              <a:lnSpc>
                <a:spcPct val="125000"/>
              </a:lnSpc>
              <a:spcAft>
                <a:spcPts val="600"/>
              </a:spcAft>
            </a:pPr>
            <a:r>
              <a:rPr sz="1050" b="0">
                <a:solidFill>
                  <a:srgbClr val="4A4A52"/>
                </a:solidFill>
                <a:latin typeface="Segoe UI"/>
              </a:rPr>
              <a:t>what falsifies?</a:t>
            </a:r>
          </a:p>
        </p:txBody>
      </p:sp>
      <p:sp>
        <p:nvSpPr>
          <p:cNvPr id="14" name="TextBox 13"/>
          <p:cNvSpPr txBox="1"/>
          <p:nvPr/>
        </p:nvSpPr>
        <p:spPr>
          <a:xfrm>
            <a:off x="4169664"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5" name="Rounded Rectangle 14"/>
          <p:cNvSpPr/>
          <p:nvPr/>
        </p:nvSpPr>
        <p:spPr>
          <a:xfrm>
            <a:off x="4361688"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GATHER</a:t>
            </a:r>
          </a:p>
        </p:txBody>
      </p:sp>
      <p:sp>
        <p:nvSpPr>
          <p:cNvPr id="17" name="TextBox 16"/>
          <p:cNvSpPr txBox="1"/>
          <p:nvPr/>
        </p:nvSpPr>
        <p:spPr>
          <a:xfrm>
            <a:off x="4489704"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pick a tool,</a:t>
            </a:r>
          </a:p>
          <a:p>
            <a:pPr algn="ctr">
              <a:lnSpc>
                <a:spcPct val="125000"/>
              </a:lnSpc>
              <a:spcAft>
                <a:spcPts val="600"/>
              </a:spcAft>
            </a:pPr>
            <a:r>
              <a:rPr sz="1050" b="0">
                <a:solidFill>
                  <a:srgbClr val="4A4A52"/>
                </a:solidFill>
                <a:latin typeface="Segoe UI"/>
              </a:rPr>
              <a:t>say why, assess</a:t>
            </a:r>
          </a:p>
        </p:txBody>
      </p:sp>
      <p:sp>
        <p:nvSpPr>
          <p:cNvPr id="18" name="TextBox 17"/>
          <p:cNvSpPr txBox="1"/>
          <p:nvPr/>
        </p:nvSpPr>
        <p:spPr>
          <a:xfrm>
            <a:off x="5961888"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9" name="Rounded Rectangle 18"/>
          <p:cNvSpPr/>
          <p:nvPr/>
        </p:nvSpPr>
        <p:spPr>
          <a:xfrm>
            <a:off x="6153912"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81928"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DETERMINE</a:t>
            </a:r>
          </a:p>
        </p:txBody>
      </p:sp>
      <p:sp>
        <p:nvSpPr>
          <p:cNvPr id="21" name="TextBox 20"/>
          <p:cNvSpPr txBox="1"/>
          <p:nvPr/>
        </p:nvSpPr>
        <p:spPr>
          <a:xfrm>
            <a:off x="6281928"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declare evidence,</a:t>
            </a:r>
          </a:p>
          <a:p>
            <a:pPr algn="ctr">
              <a:lnSpc>
                <a:spcPct val="125000"/>
              </a:lnSpc>
              <a:spcAft>
                <a:spcPts val="600"/>
              </a:spcAft>
            </a:pPr>
            <a:r>
              <a:rPr sz="1050" b="0">
                <a:solidFill>
                  <a:srgbClr val="4A4A52"/>
                </a:solidFill>
                <a:latin typeface="Segoe UI"/>
              </a:rPr>
              <a:t>score it</a:t>
            </a:r>
          </a:p>
        </p:txBody>
      </p:sp>
      <p:sp>
        <p:nvSpPr>
          <p:cNvPr id="22" name="TextBox 21"/>
          <p:cNvSpPr txBox="1"/>
          <p:nvPr/>
        </p:nvSpPr>
        <p:spPr>
          <a:xfrm>
            <a:off x="7754112"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3" name="Rounded Rectangle 22"/>
          <p:cNvSpPr/>
          <p:nvPr/>
        </p:nvSpPr>
        <p:spPr>
          <a:xfrm>
            <a:off x="7946136"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4152"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ACT</a:t>
            </a:r>
          </a:p>
        </p:txBody>
      </p:sp>
      <p:sp>
        <p:nvSpPr>
          <p:cNvPr id="25" name="TextBox 24"/>
          <p:cNvSpPr txBox="1"/>
          <p:nvPr/>
        </p:nvSpPr>
        <p:spPr>
          <a:xfrm>
            <a:off x="8074152"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block, contain</a:t>
            </a:r>
          </a:p>
          <a:p>
            <a:pPr algn="ctr">
              <a:lnSpc>
                <a:spcPct val="125000"/>
              </a:lnSpc>
              <a:spcAft>
                <a:spcPts val="600"/>
              </a:spcAft>
            </a:pPr>
            <a:r>
              <a:rPr sz="1050" b="0">
                <a:solidFill>
                  <a:srgbClr val="4A4A52"/>
                </a:solidFill>
                <a:latin typeface="Segoe UI"/>
              </a:rPr>
              <a:t>or do nothing</a:t>
            </a:r>
          </a:p>
        </p:txBody>
      </p:sp>
      <p:sp>
        <p:nvSpPr>
          <p:cNvPr id="26" name="TextBox 25"/>
          <p:cNvSpPr txBox="1"/>
          <p:nvPr/>
        </p:nvSpPr>
        <p:spPr>
          <a:xfrm>
            <a:off x="9546336"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7" name="Rounded Rectangle 26"/>
          <p:cNvSpPr/>
          <p:nvPr/>
        </p:nvSpPr>
        <p:spPr>
          <a:xfrm>
            <a:off x="973836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38360"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6637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VERIFY</a:t>
            </a:r>
          </a:p>
        </p:txBody>
      </p:sp>
      <p:sp>
        <p:nvSpPr>
          <p:cNvPr id="30" name="TextBox 29"/>
          <p:cNvSpPr txBox="1"/>
          <p:nvPr/>
        </p:nvSpPr>
        <p:spPr>
          <a:xfrm>
            <a:off x="986637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re-read state</a:t>
            </a:r>
          </a:p>
          <a:p>
            <a:pPr algn="ctr">
              <a:lnSpc>
                <a:spcPct val="125000"/>
              </a:lnSpc>
              <a:spcAft>
                <a:spcPts val="600"/>
              </a:spcAft>
            </a:pPr>
            <a:r>
              <a:rPr sz="1050" b="0">
                <a:solidFill>
                  <a:srgbClr val="4A4A52"/>
                </a:solidFill>
                <a:latin typeface="Segoe UI"/>
              </a:rPr>
              <a:t>from disk</a:t>
            </a:r>
          </a:p>
        </p:txBody>
      </p:sp>
      <p:sp>
        <p:nvSpPr>
          <p:cNvPr id="31" name="TextBox 30"/>
          <p:cNvSpPr txBox="1"/>
          <p:nvPr/>
        </p:nvSpPr>
        <p:spPr>
          <a:xfrm>
            <a:off x="777240" y="3310128"/>
            <a:ext cx="10607040" cy="320040"/>
          </a:xfrm>
          <a:prstGeom prst="rect">
            <a:avLst/>
          </a:prstGeom>
          <a:noFill/>
        </p:spPr>
        <p:txBody>
          <a:bodyPr wrap="square" lIns="0" rIns="0" tIns="0" bIns="0">
            <a:spAutoFit/>
          </a:bodyPr>
          <a:lstStyle/>
          <a:p>
            <a:pPr algn="l">
              <a:lnSpc>
                <a:spcPct val="125000"/>
              </a:lnSpc>
              <a:spcAft>
                <a:spcPts val="600"/>
              </a:spcAft>
            </a:pPr>
            <a:r>
              <a:rPr sz="1600" b="1">
                <a:solidFill>
                  <a:srgbClr val="E2551F"/>
                </a:solidFill>
                <a:latin typeface="Segoe UI"/>
              </a:rPr>
              <a:t>reconsider() re-enters at HYPOTHESIZE, never at the verdict</a:t>
            </a:r>
          </a:p>
        </p:txBody>
      </p:sp>
      <p:sp>
        <p:nvSpPr>
          <p:cNvPr id="32" name="TextBox 31"/>
          <p:cNvSpPr txBox="1"/>
          <p:nvPr/>
        </p:nvSpPr>
        <p:spPr>
          <a:xfrm>
            <a:off x="777240" y="3657600"/>
            <a:ext cx="10607040" cy="54864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New evidence, a tool failure and a human override all route through one function. It re-opens the case at the hypothesis stage so the agent gathers NEW evidence, instead of silently re-scoring what it already had.</a:t>
            </a:r>
          </a:p>
        </p:txBody>
      </p:sp>
      <p:sp>
        <p:nvSpPr>
          <p:cNvPr id="33" name="Rounded Rectangle 32"/>
          <p:cNvSpPr/>
          <p:nvPr/>
        </p:nvSpPr>
        <p:spPr>
          <a:xfrm>
            <a:off x="77724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FRAMEWORK</a:t>
            </a:r>
          </a:p>
        </p:txBody>
      </p:sp>
      <p:sp>
        <p:nvSpPr>
          <p:cNvPr id="35" name="TextBox 34"/>
          <p:cNvSpPr txBox="1"/>
          <p:nvPr/>
        </p:nvSpPr>
        <p:spPr>
          <a:xfrm>
            <a:off x="107899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 LangChain, no AutoGen. A hand-written tool-use loop on the model's native tool calling, so the reasoning trace is ours and every decision point is inspectable rather than hidden inside a framework.</a:t>
            </a:r>
          </a:p>
        </p:txBody>
      </p:sp>
      <p:sp>
        <p:nvSpPr>
          <p:cNvPr id="36" name="Rounded Rectangle 35"/>
          <p:cNvSpPr/>
          <p:nvPr/>
        </p:nvSpPr>
        <p:spPr>
          <a:xfrm>
            <a:off x="621792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THE MODEL CHOOSES</a:t>
            </a:r>
          </a:p>
        </p:txBody>
      </p:sp>
      <p:sp>
        <p:nvSpPr>
          <p:cNvPr id="38" name="TextBox 37"/>
          <p:cNvSpPr txBox="1"/>
          <p:nvPr/>
        </p:nvSpPr>
        <p:spPr>
          <a:xfrm>
            <a:off x="651967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Which tool, in what order, and when it has enough to stop. Nothing about the sequence is scripted: measured across runs, the outcome is identical while the trajectory genuinely varies.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SYSTEM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Nine components, one entry point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sp>
        <p:nvSpPr>
          <p:cNvPr id="6" name="Rounded Rectangle 5"/>
          <p:cNvSpPr/>
          <p:nvPr/>
        </p:nvSpPr>
        <p:spPr>
          <a:xfrm>
            <a:off x="777240" y="1627632"/>
            <a:ext cx="10607040" cy="713232"/>
          </a:xfrm>
          <a:prstGeom prst="roundRect">
            <a:avLst>
              <a:gd name="adj" fmla="val 12000"/>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00784"/>
            <a:ext cx="2743200" cy="228600"/>
          </a:xfrm>
          <a:prstGeom prst="rect">
            <a:avLst/>
          </a:prstGeom>
          <a:noFill/>
        </p:spPr>
        <p:txBody>
          <a:bodyPr wrap="square" lIns="0" rIns="0" tIns="0" bIns="0">
            <a:spAutoFit/>
          </a:bodyPr>
          <a:lstStyle/>
          <a:p>
            <a:pPr algn="l">
              <a:lnSpc>
                <a:spcPct val="125000"/>
              </a:lnSpc>
              <a:spcAft>
                <a:spcPts val="600"/>
              </a:spcAft>
            </a:pPr>
            <a:r>
              <a:rPr sz="1050" b="1">
                <a:solidFill>
                  <a:srgbClr val="E2551F"/>
                </a:solidFill>
                <a:latin typeface="Segoe UI"/>
              </a:rPr>
              <a:t>EXTERNAL SYSTEMS</a:t>
            </a:r>
          </a:p>
        </p:txBody>
      </p:sp>
      <p:sp>
        <p:nvSpPr>
          <p:cNvPr id="8" name="TextBox 7"/>
          <p:cNvSpPr txBox="1"/>
          <p:nvPr/>
        </p:nvSpPr>
        <p:spPr>
          <a:xfrm>
            <a:off x="960120" y="1947672"/>
            <a:ext cx="10241280" cy="32004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alerts  ·  asset inventory  ·  CVE knowledge base  ·  configuration  ·  host logs  ·  packet metadata  ·  firewall state (read AND written)</a:t>
            </a:r>
          </a:p>
        </p:txBody>
      </p:sp>
      <p:sp>
        <p:nvSpPr>
          <p:cNvPr id="9" name="Rounded Rectangle 8"/>
          <p:cNvSpPr/>
          <p:nvPr/>
        </p:nvSpPr>
        <p:spPr>
          <a:xfrm>
            <a:off x="777240" y="2697480"/>
            <a:ext cx="2514600" cy="868680"/>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PLANNING</a:t>
            </a:r>
          </a:p>
          <a:p>
            <a:pPr algn="ctr"/>
            <a:r>
              <a:rPr sz="850">
                <a:solidFill>
                  <a:srgbClr val="4A4A52"/>
                </a:solidFill>
                <a:latin typeface="Segoe UI"/>
              </a:rPr>
              <a:t>hypothesis + falsifier
re-plan after every result</a:t>
            </a:r>
          </a:p>
        </p:txBody>
      </p:sp>
      <p:sp>
        <p:nvSpPr>
          <p:cNvPr id="10" name="Rounded Rectangle 9"/>
          <p:cNvSpPr/>
          <p:nvPr/>
        </p:nvSpPr>
        <p:spPr>
          <a:xfrm>
            <a:off x="3611880" y="2697480"/>
            <a:ext cx="2514600" cy="868680"/>
          </a:xfrm>
          <a:prstGeom prst="roundRect">
            <a:avLst>
              <a:gd name="adj" fmla="val 8000"/>
            </a:avLst>
          </a:prstGeom>
          <a:solidFill>
            <a:srgbClr val="FFFFFF"/>
          </a:solidFill>
          <a:ln w="25400">
            <a:solidFill>
              <a:srgbClr val="1C1C1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AGENT / CONTROLLER</a:t>
            </a:r>
          </a:p>
          <a:p>
            <a:pPr algn="ctr"/>
            <a:r>
              <a:rPr sz="850">
                <a:solidFill>
                  <a:srgbClr val="4A4A52"/>
                </a:solidFill>
                <a:latin typeface="Segoe UI"/>
              </a:rPr>
              <a:t>Investigation · Case
investigate() · reconsider()</a:t>
            </a:r>
          </a:p>
        </p:txBody>
      </p:sp>
      <p:sp>
        <p:nvSpPr>
          <p:cNvPr id="11" name="Rounded Rectangle 10"/>
          <p:cNvSpPr/>
          <p:nvPr/>
        </p:nvSpPr>
        <p:spPr>
          <a:xfrm>
            <a:off x="6446520" y="2697480"/>
            <a:ext cx="2514600" cy="868680"/>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MEMORY / STATE</a:t>
            </a:r>
          </a:p>
          <a:p>
            <a:pPr algn="ctr"/>
            <a:r>
              <a:rPr sz="850">
                <a:solidFill>
                  <a:srgbClr val="4A4A52"/>
                </a:solidFill>
                <a:latin typeface="Segoe UI"/>
              </a:rPr>
              <a:t>trace · cases.json
conclusions append-only</a:t>
            </a:r>
          </a:p>
        </p:txBody>
      </p:sp>
      <p:sp>
        <p:nvSpPr>
          <p:cNvPr id="12" name="Rounded Rectangle 11"/>
          <p:cNvSpPr/>
          <p:nvPr/>
        </p:nvSpPr>
        <p:spPr>
          <a:xfrm>
            <a:off x="9281160" y="2697480"/>
            <a:ext cx="2103120" cy="868680"/>
          </a:xfrm>
          <a:prstGeom prst="roundRect">
            <a:avLst>
              <a:gd name="adj" fmla="val 8000"/>
            </a:avLst>
          </a:prstGeom>
          <a:solidFill>
            <a:srgbClr val="E8F6EF"/>
          </a:solidFill>
          <a:ln w="12700">
            <a:solidFill>
              <a:srgbClr val="0B6B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0B6B44"/>
                </a:solidFill>
                <a:latin typeface="Segoe UI"/>
              </a:rPr>
              <a:t>HUMAN INTERACTION</a:t>
            </a:r>
          </a:p>
          <a:p>
            <a:pPr algn="ctr"/>
            <a:r>
              <a:rPr sz="850">
                <a:solidFill>
                  <a:srgbClr val="4A4A52"/>
                </a:solidFill>
                <a:latin typeface="Segoe UI"/>
              </a:rPr>
              <a:t>human_override()
inject_new_evidence()</a:t>
            </a:r>
          </a:p>
        </p:txBody>
      </p:sp>
      <p:sp>
        <p:nvSpPr>
          <p:cNvPr id="13" name="Rounded Rectangle 12"/>
          <p:cNvSpPr/>
          <p:nvPr/>
        </p:nvSpPr>
        <p:spPr>
          <a:xfrm>
            <a:off x="777240" y="3931920"/>
            <a:ext cx="8183879" cy="1170432"/>
          </a:xfrm>
          <a:prstGeom prst="roundRect">
            <a:avLst>
              <a:gd name="adj" fmla="val 7000"/>
            </a:avLst>
          </a:prstGeom>
          <a:solidFill>
            <a:srgbClr val="FAF5EE"/>
          </a:solidFill>
          <a:ln>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977639"/>
            <a:ext cx="3657600" cy="201168"/>
          </a:xfrm>
          <a:prstGeom prst="rect">
            <a:avLst/>
          </a:prstGeom>
          <a:noFill/>
        </p:spPr>
        <p:txBody>
          <a:bodyPr wrap="square" lIns="0" rIns="0" tIns="0" bIns="0">
            <a:spAutoFit/>
          </a:bodyPr>
          <a:lstStyle/>
          <a:p>
            <a:pPr algn="l">
              <a:lnSpc>
                <a:spcPct val="125000"/>
              </a:lnSpc>
              <a:spcAft>
                <a:spcPts val="600"/>
              </a:spcAft>
            </a:pPr>
            <a:r>
              <a:rPr sz="900" b="1">
                <a:solidFill>
                  <a:srgbClr val="8A8A94"/>
                </a:solidFill>
                <a:latin typeface="Segoe UI"/>
              </a:rPr>
              <a:t>TOOL BUS · the one entry point</a:t>
            </a:r>
          </a:p>
        </p:txBody>
      </p:sp>
      <p:sp>
        <p:nvSpPr>
          <p:cNvPr id="15" name="Rounded Rectangle 14"/>
          <p:cNvSpPr/>
          <p:nvPr/>
        </p:nvSpPr>
        <p:spPr>
          <a:xfrm>
            <a:off x="932688" y="4224528"/>
            <a:ext cx="2487168" cy="786384"/>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RETRIEVAL</a:t>
            </a:r>
          </a:p>
          <a:p>
            <a:pPr algn="ctr"/>
            <a:r>
              <a:rPr sz="850">
                <a:solidFill>
                  <a:srgbClr val="4A4A52"/>
                </a:solidFill>
                <a:latin typeface="Segoe UI"/>
              </a:rPr>
              <a:t>8 read tools, keyed lookup
+ stored case verdicts</a:t>
            </a:r>
          </a:p>
        </p:txBody>
      </p:sp>
      <p:sp>
        <p:nvSpPr>
          <p:cNvPr id="16" name="Rounded Rectangle 15"/>
          <p:cNvSpPr/>
          <p:nvPr/>
        </p:nvSpPr>
        <p:spPr>
          <a:xfrm>
            <a:off x="3566160" y="4224528"/>
            <a:ext cx="2487168" cy="786384"/>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TOOLS</a:t>
            </a:r>
          </a:p>
          <a:p>
            <a:pPr algn="ctr"/>
            <a:r>
              <a:rPr sz="850">
                <a:solidFill>
                  <a:srgbClr val="4A4A52"/>
                </a:solidFill>
                <a:latin typeface="Segoe UI"/>
              </a:rPr>
              <a:t>block_ip · unblock_ip
submit_assessment</a:t>
            </a:r>
          </a:p>
        </p:txBody>
      </p:sp>
      <p:sp>
        <p:nvSpPr>
          <p:cNvPr id="17" name="Rounded Rectangle 16"/>
          <p:cNvSpPr/>
          <p:nvPr/>
        </p:nvSpPr>
        <p:spPr>
          <a:xfrm>
            <a:off x="6199632" y="4224528"/>
            <a:ext cx="2624328" cy="786384"/>
          </a:xfrm>
          <a:prstGeom prst="roundRect">
            <a:avLst>
              <a:gd name="adj" fmla="val 8000"/>
            </a:avLst>
          </a:prstGeom>
          <a:solidFill>
            <a:srgbClr val="FFFFFF"/>
          </a:solidFill>
          <a:ln w="12700">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E2551F"/>
                </a:solidFill>
                <a:latin typeface="Segoe UI"/>
              </a:rPr>
              <a:t>FAILURE HANDLING</a:t>
            </a:r>
          </a:p>
          <a:p>
            <a:pPr algn="ctr"/>
            <a:r>
              <a:rPr sz="850">
                <a:solidFill>
                  <a:srgbClr val="4A4A52"/>
                </a:solidFill>
                <a:latin typeface="Segoe UI"/>
              </a:rPr>
              <a:t>retry · degraded clamp
refusal · impasse after 3</a:t>
            </a:r>
          </a:p>
        </p:txBody>
      </p:sp>
      <p:sp>
        <p:nvSpPr>
          <p:cNvPr id="18" name="Rounded Rectangle 17"/>
          <p:cNvSpPr/>
          <p:nvPr/>
        </p:nvSpPr>
        <p:spPr>
          <a:xfrm>
            <a:off x="9281160" y="3931920"/>
            <a:ext cx="2103120" cy="1170432"/>
          </a:xfrm>
          <a:prstGeom prst="roundRect">
            <a:avLst>
              <a:gd name="adj" fmla="val 8000"/>
            </a:avLst>
          </a:prstGeom>
          <a:solidFill>
            <a:srgbClr val="FFE8DC"/>
          </a:solidFill>
          <a:ln w="25400">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E2551F"/>
                </a:solidFill>
                <a:latin typeface="Segoe UI"/>
              </a:rPr>
              <a:t>EVALUATION /
VERIFICATION</a:t>
            </a:r>
          </a:p>
          <a:p>
            <a:pPr algn="ctr"/>
            <a:r>
              <a:rPr sz="850">
                <a:solidFill>
                  <a:srgbClr val="4A4A52"/>
                </a:solidFill>
                <a:latin typeface="Segoe UI"/>
              </a:rPr>
              <a:t>4 guard families
score() · re-read from disk</a:t>
            </a:r>
          </a:p>
        </p:txBody>
      </p:sp>
      <p:cxnSp>
        <p:nvCxnSpPr>
          <p:cNvPr id="19" name="Connector 18"/>
          <p:cNvCxnSpPr/>
          <p:nvPr/>
        </p:nvCxnSpPr>
        <p:spPr>
          <a:xfrm flipH="1">
            <a:off x="3291840" y="3131820"/>
            <a:ext cx="320040" cy="0"/>
          </a:xfrm>
          <a:prstGeom prst="line">
            <a:avLst/>
          </a:prstGeom>
          <a:ln w="17780">
            <a:solidFill>
              <a:srgbClr val="8A8A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26480" y="3131820"/>
            <a:ext cx="320040" cy="0"/>
          </a:xfrm>
          <a:prstGeom prst="line">
            <a:avLst/>
          </a:prstGeom>
          <a:ln w="17780">
            <a:solidFill>
              <a:srgbClr val="8A8A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11680" y="3566160"/>
            <a:ext cx="0" cy="365760"/>
          </a:xfrm>
          <a:prstGeom prst="line">
            <a:avLst/>
          </a:prstGeom>
          <a:ln w="17780">
            <a:solidFill>
              <a:srgbClr val="8A8A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6432" y="2340864"/>
            <a:ext cx="0" cy="1591056"/>
          </a:xfrm>
          <a:prstGeom prst="line">
            <a:avLst/>
          </a:prstGeom>
          <a:ln w="17780">
            <a:solidFill>
              <a:srgbClr val="E2551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0332720" y="2523744"/>
            <a:ext cx="0" cy="173736"/>
          </a:xfrm>
          <a:prstGeom prst="line">
            <a:avLst/>
          </a:prstGeom>
          <a:ln w="17780">
            <a:solidFill>
              <a:srgbClr val="0B6B4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143500" y="2523744"/>
            <a:ext cx="5189220" cy="0"/>
          </a:xfrm>
          <a:prstGeom prst="line">
            <a:avLst/>
          </a:prstGeom>
          <a:ln w="17780">
            <a:solidFill>
              <a:srgbClr val="0B6B4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43500" y="2523744"/>
            <a:ext cx="0" cy="173736"/>
          </a:xfrm>
          <a:prstGeom prst="line">
            <a:avLst/>
          </a:prstGeom>
          <a:ln w="17780">
            <a:solidFill>
              <a:srgbClr val="0B6B4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61120" y="4617720"/>
            <a:ext cx="320040" cy="0"/>
          </a:xfrm>
          <a:prstGeom prst="line">
            <a:avLst/>
          </a:prstGeom>
          <a:ln w="17780">
            <a:solidFill>
              <a:srgbClr val="E2551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92640" y="3749039"/>
            <a:ext cx="0" cy="182881"/>
          </a:xfrm>
          <a:prstGeom prst="line">
            <a:avLst/>
          </a:prstGeom>
          <a:ln w="17780">
            <a:solidFill>
              <a:srgbClr val="E2551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4594860" y="3749039"/>
            <a:ext cx="5097780" cy="0"/>
          </a:xfrm>
          <a:prstGeom prst="line">
            <a:avLst/>
          </a:prstGeom>
          <a:ln w="17780">
            <a:solidFill>
              <a:srgbClr val="E2551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594860" y="3566160"/>
            <a:ext cx="0" cy="182879"/>
          </a:xfrm>
          <a:prstGeom prst="line">
            <a:avLst/>
          </a:prstGeom>
          <a:ln w="17780">
            <a:solidFill>
              <a:srgbClr val="E255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 y="5349240"/>
            <a:ext cx="10607040" cy="32004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reconsider() re-enters at HYPOTHESIZE, not at the verdict: evidence, failure and override all route through it.</a:t>
            </a:r>
          </a:p>
        </p:txBody>
      </p:sp>
      <p:sp>
        <p:nvSpPr>
          <p:cNvPr id="31" name="TextBox 30"/>
          <p:cNvSpPr txBox="1"/>
          <p:nvPr/>
        </p:nvSpPr>
        <p:spPr>
          <a:xfrm>
            <a:off x="777240" y="5742432"/>
            <a:ext cx="10607040" cy="548640"/>
          </a:xfrm>
          <a:prstGeom prst="rect">
            <a:avLst/>
          </a:prstGeom>
          <a:noFill/>
        </p:spPr>
        <p:txBody>
          <a:bodyPr wrap="square" lIns="0" rIns="0" tIns="0" bIns="0">
            <a:spAutoFit/>
          </a:bodyPr>
          <a:lstStyle/>
          <a:p>
            <a:pPr algn="l">
              <a:lnSpc>
                <a:spcPct val="125000"/>
              </a:lnSpc>
              <a:spcAft>
                <a:spcPts val="600"/>
              </a:spcAft>
            </a:pPr>
            <a:r>
              <a:rPr sz="1200" b="0">
                <a:solidFill>
                  <a:srgbClr val="4A4A52"/>
                </a:solidFill>
                <a:latin typeface="Segoe UI"/>
              </a:rPr>
              <a:t>The model decides which tool, in what order, and what the evidence means. Code decides whether a claim is well-formed, the score, and the action policy. Nothing reaches a real network, host or credential.</a:t>
            </a:r>
          </a:p>
        </p:txBody>
      </p:sp>
      <p:sp>
        <p:nvSpPr>
          <p:cNvPr id="32" name="TextBox 31"/>
          <p:cNvSpPr txBox="1"/>
          <p:nvPr/>
        </p:nvSpPr>
        <p:spPr>
          <a:xfrm>
            <a:off x="777240" y="6355080"/>
            <a:ext cx="10607040" cy="27432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Consolas"/>
              </a:rPr>
              <a:t>Full breakdown: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SANDBOX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Eleven tools, and a boundary it cannot cross</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0B6B44"/>
                </a:solidFill>
                <a:latin typeface="Segoe UI"/>
              </a:rPr>
              <a:t>CAN READ</a:t>
            </a:r>
          </a:p>
        </p:txBody>
      </p:sp>
      <p:sp>
        <p:nvSpPr>
          <p:cNvPr id="8" name="TextBox 7"/>
          <p:cNvSpPr txBox="1"/>
          <p:nvPr/>
        </p:nvSpPr>
        <p:spPr>
          <a:xfrm>
            <a:off x="1033272"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get_alert</a:t>
            </a:r>
          </a:p>
        </p:txBody>
      </p:sp>
      <p:sp>
        <p:nvSpPr>
          <p:cNvPr id="9" name="TextBox 8"/>
          <p:cNvSpPr txBox="1"/>
          <p:nvPr/>
        </p:nvSpPr>
        <p:spPr>
          <a:xfrm>
            <a:off x="1033272"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get_asset_info</a:t>
            </a:r>
          </a:p>
        </p:txBody>
      </p:sp>
      <p:sp>
        <p:nvSpPr>
          <p:cNvPr id="10" name="TextBox 9"/>
          <p:cNvSpPr txBox="1"/>
          <p:nvPr/>
        </p:nvSpPr>
        <p:spPr>
          <a:xfrm>
            <a:off x="1033272"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get_vulnerabilities</a:t>
            </a:r>
          </a:p>
        </p:txBody>
      </p:sp>
      <p:sp>
        <p:nvSpPr>
          <p:cNvPr id="11" name="TextBox 10"/>
          <p:cNvSpPr txBox="1"/>
          <p:nvPr/>
        </p:nvSpPr>
        <p:spPr>
          <a:xfrm>
            <a:off x="1033272"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get_configuration</a:t>
            </a:r>
          </a:p>
        </p:txBody>
      </p:sp>
      <p:sp>
        <p:nvSpPr>
          <p:cNvPr id="12" name="TextBox 11"/>
          <p:cNvSpPr txBox="1"/>
          <p:nvPr/>
        </p:nvSpPr>
        <p:spPr>
          <a:xfrm>
            <a:off x="1033272"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get_server_logs</a:t>
            </a:r>
          </a:p>
        </p:txBody>
      </p:sp>
      <p:sp>
        <p:nvSpPr>
          <p:cNvPr id="13" name="TextBox 12"/>
          <p:cNvSpPr txBox="1"/>
          <p:nvPr/>
        </p:nvSpPr>
        <p:spPr>
          <a:xfrm>
            <a:off x="1033272" y="384048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get_packet_metadata</a:t>
            </a:r>
          </a:p>
        </p:txBody>
      </p:sp>
      <p:sp>
        <p:nvSpPr>
          <p:cNvPr id="14" name="TextBox 13"/>
          <p:cNvSpPr txBox="1"/>
          <p:nvPr/>
        </p:nvSpPr>
        <p:spPr>
          <a:xfrm>
            <a:off x="1033272" y="413308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get_related_alerts</a:t>
            </a:r>
          </a:p>
        </p:txBody>
      </p:sp>
      <p:sp>
        <p:nvSpPr>
          <p:cNvPr id="15" name="TextBox 14"/>
          <p:cNvSpPr txBox="1"/>
          <p:nvPr/>
        </p:nvSpPr>
        <p:spPr>
          <a:xfrm>
            <a:off x="1033272" y="442569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check_firewall_state</a:t>
            </a:r>
          </a:p>
        </p:txBody>
      </p:sp>
      <p:sp>
        <p:nvSpPr>
          <p:cNvPr id="16" name="TextBox 15"/>
          <p:cNvSpPr txBox="1"/>
          <p:nvPr/>
        </p:nvSpPr>
        <p:spPr>
          <a:xfrm>
            <a:off x="1033272"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Flat JSON fixtures a judge can open and read.</a:t>
            </a:r>
          </a:p>
        </p:txBody>
      </p:sp>
      <p:sp>
        <p:nvSpPr>
          <p:cNvPr id="17" name="Rounded Rectangle 16"/>
          <p:cNvSpPr/>
          <p:nvPr/>
        </p:nvSpPr>
        <p:spPr>
          <a:xfrm>
            <a:off x="4379976"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A82D16"/>
                </a:solidFill>
                <a:latin typeface="Segoe UI"/>
              </a:rPr>
              <a:t>CAN ACT</a:t>
            </a:r>
          </a:p>
        </p:txBody>
      </p:sp>
      <p:sp>
        <p:nvSpPr>
          <p:cNvPr id="19" name="TextBox 18"/>
          <p:cNvSpPr txBox="1"/>
          <p:nvPr/>
        </p:nvSpPr>
        <p:spPr>
          <a:xfrm>
            <a:off x="4636008"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block_ip</a:t>
            </a:r>
          </a:p>
        </p:txBody>
      </p:sp>
      <p:sp>
        <p:nvSpPr>
          <p:cNvPr id="20" name="TextBox 19"/>
          <p:cNvSpPr txBox="1"/>
          <p:nvPr/>
        </p:nvSpPr>
        <p:spPr>
          <a:xfrm>
            <a:off x="4636008"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unblock_ip</a:t>
            </a:r>
          </a:p>
        </p:txBody>
      </p:sp>
      <p:sp>
        <p:nvSpPr>
          <p:cNvPr id="21" name="TextBox 20"/>
          <p:cNvSpPr txBox="1"/>
          <p:nvPr/>
        </p:nvSpPr>
        <p:spPr>
          <a:xfrm>
            <a:off x="4636008"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Both mutate firewall_state.json. check_firewall_state reads that same file back from disk, which is what makes verification real rather than decorative.</a:t>
            </a:r>
          </a:p>
        </p:txBody>
      </p:sp>
      <p:sp>
        <p:nvSpPr>
          <p:cNvPr id="22" name="Rounded Rectangle 21"/>
          <p:cNvSpPr/>
          <p:nvPr/>
        </p:nvSpPr>
        <p:spPr>
          <a:xfrm>
            <a:off x="7982712" y="1783080"/>
            <a:ext cx="3401568" cy="3977639"/>
          </a:xfrm>
          <a:prstGeom prst="roundRect">
            <a:avLst>
              <a:gd name="adj" fmla="val 4000"/>
            </a:avLst>
          </a:prstGeom>
          <a:solidFill>
            <a:srgbClr val="FBF1EC"/>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8A8A94"/>
                </a:solidFill>
                <a:latin typeface="Segoe UI"/>
              </a:rPr>
              <a:t>CANNOT REACH</a:t>
            </a:r>
          </a:p>
        </p:txBody>
      </p:sp>
      <p:sp>
        <p:nvSpPr>
          <p:cNvPr id="24" name="TextBox 23"/>
          <p:cNvSpPr txBox="1"/>
          <p:nvPr/>
        </p:nvSpPr>
        <p:spPr>
          <a:xfrm>
            <a:off x="8238744"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real hosts</a:t>
            </a:r>
          </a:p>
        </p:txBody>
      </p:sp>
      <p:sp>
        <p:nvSpPr>
          <p:cNvPr id="25" name="TextBox 24"/>
          <p:cNvSpPr txBox="1"/>
          <p:nvPr/>
        </p:nvSpPr>
        <p:spPr>
          <a:xfrm>
            <a:off x="8238744"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credentials</a:t>
            </a:r>
          </a:p>
        </p:txBody>
      </p:sp>
      <p:sp>
        <p:nvSpPr>
          <p:cNvPr id="26" name="TextBox 25"/>
          <p:cNvSpPr txBox="1"/>
          <p:nvPr/>
        </p:nvSpPr>
        <p:spPr>
          <a:xfrm>
            <a:off x="8238744"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live network traffic</a:t>
            </a:r>
          </a:p>
        </p:txBody>
      </p:sp>
      <p:sp>
        <p:nvSpPr>
          <p:cNvPr id="27" name="TextBox 26"/>
          <p:cNvSpPr txBox="1"/>
          <p:nvPr/>
        </p:nvSpPr>
        <p:spPr>
          <a:xfrm>
            <a:off x="8238744"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any outbound call</a:t>
            </a:r>
          </a:p>
        </p:txBody>
      </p:sp>
      <p:sp>
        <p:nvSpPr>
          <p:cNvPr id="28" name="TextBox 27"/>
          <p:cNvSpPr txBox="1"/>
          <p:nvPr/>
        </p:nvSpPr>
        <p:spPr>
          <a:xfrm>
            <a:off x="8238744"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the pristine seed fixtures</a:t>
            </a:r>
          </a:p>
        </p:txBody>
      </p:sp>
      <p:sp>
        <p:nvSpPr>
          <p:cNvPr id="29" name="TextBox 28"/>
          <p:cNvSpPr txBox="1"/>
          <p:nvPr/>
        </p:nvSpPr>
        <p:spPr>
          <a:xfrm>
            <a:off x="8238744"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Every hostname, IP, account and log line is synthetic.</a:t>
            </a:r>
          </a:p>
        </p:txBody>
      </p:sp>
      <p:sp>
        <p:nvSpPr>
          <p:cNvPr id="30" name="TextBox 29"/>
          <p:cNvSpPr txBox="1"/>
          <p:nvPr/>
        </p:nvSpPr>
        <p:spPr>
          <a:xfrm>
            <a:off x="777240" y="5943600"/>
            <a:ext cx="10607040" cy="502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eleventh is submit_assessment: not a read and not an action, but how the agent declares what it found. It is the one tool that can refuse.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SELF-CORRECTION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 real refusal, and what the agent did next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37360"/>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865376"/>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1C1C1E"/>
                </a:solidFill>
                <a:latin typeface="Segoe UI"/>
              </a:rPr>
              <a:t>1  SUBMITS</a:t>
            </a:r>
          </a:p>
        </p:txBody>
      </p:sp>
      <p:sp>
        <p:nvSpPr>
          <p:cNvPr id="8" name="TextBox 7"/>
          <p:cNvSpPr txBox="1"/>
          <p:nvPr/>
        </p:nvSpPr>
        <p:spPr>
          <a:xfrm>
            <a:off x="3200400" y="1865376"/>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Declares the host patched, and cites a related alert as corroboration.</a:t>
            </a:r>
          </a:p>
        </p:txBody>
      </p:sp>
      <p:sp>
        <p:nvSpPr>
          <p:cNvPr id="9" name="Rounded Rectangle 8"/>
          <p:cNvSpPr/>
          <p:nvPr/>
        </p:nvSpPr>
        <p:spPr>
          <a:xfrm>
            <a:off x="777240" y="2670048"/>
            <a:ext cx="10607040" cy="841248"/>
          </a:xfrm>
          <a:prstGeom prst="roundRect">
            <a:avLst>
              <a:gd name="adj" fmla="val 4000"/>
            </a:avLst>
          </a:prstGeom>
          <a:solidFill>
            <a:srgbClr val="FCEDE9"/>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70048"/>
            <a:ext cx="50292" cy="841248"/>
          </a:xfrm>
          <a:prstGeom prst="rect">
            <a:avLst/>
          </a:prstGeom>
          <a:solidFill>
            <a:srgbClr val="A82D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798064"/>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A82D16"/>
                </a:solidFill>
                <a:latin typeface="Segoe UI"/>
              </a:rPr>
              <a:t>2  REFUSED</a:t>
            </a:r>
          </a:p>
        </p:txBody>
      </p:sp>
      <p:sp>
        <p:nvSpPr>
          <p:cNvPr id="12" name="TextBox 11"/>
          <p:cNvSpPr txBox="1"/>
          <p:nvPr/>
        </p:nvSpPr>
        <p:spPr>
          <a:xfrm>
            <a:off x="3200400" y="2798064"/>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Two problems at once: it checked 2 of the host's 3 services, and the corroboration came from a lookup that returned no data.</a:t>
            </a:r>
          </a:p>
        </p:txBody>
      </p:sp>
      <p:sp>
        <p:nvSpPr>
          <p:cNvPr id="13" name="Rounded Rectangle 12"/>
          <p:cNvSpPr/>
          <p:nvPr/>
        </p:nvSpPr>
        <p:spPr>
          <a:xfrm>
            <a:off x="777240" y="3602736"/>
            <a:ext cx="10607040" cy="841248"/>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602736"/>
            <a:ext cx="50292" cy="84124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730752"/>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E2551F"/>
                </a:solidFill>
                <a:latin typeface="Segoe UI"/>
              </a:rPr>
              <a:t>3  ITS OWN WORDS</a:t>
            </a:r>
          </a:p>
        </p:txBody>
      </p:sp>
      <p:sp>
        <p:nvSpPr>
          <p:cNvPr id="16" name="TextBox 15"/>
          <p:cNvSpPr txBox="1"/>
          <p:nvPr/>
        </p:nvSpPr>
        <p:spPr>
          <a:xfrm>
            <a:off x="3200400" y="3730752"/>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"I need to fix two issues. Let me check openssh CVEs and remove the related_alert_corroborates factor since no_data is not a finding."</a:t>
            </a:r>
          </a:p>
        </p:txBody>
      </p:sp>
      <p:sp>
        <p:nvSpPr>
          <p:cNvPr id="17" name="Rounded Rectangle 16"/>
          <p:cNvSpPr/>
          <p:nvPr/>
        </p:nvSpPr>
        <p:spPr>
          <a:xfrm>
            <a:off x="777240" y="4535424"/>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535424"/>
            <a:ext cx="50292" cy="841248"/>
          </a:xfrm>
          <a:prstGeom prst="rect">
            <a:avLst/>
          </a:prstGeom>
          <a:solidFill>
            <a:srgbClr val="0B6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0B6B44"/>
                </a:solidFill>
                <a:latin typeface="Segoe UI"/>
              </a:rPr>
              <a:t>4  RESOLVES BOTH</a:t>
            </a:r>
          </a:p>
        </p:txBody>
      </p:sp>
      <p:sp>
        <p:nvSpPr>
          <p:cNvPr id="20" name="TextBox 19"/>
          <p:cNvSpPr txBox="1"/>
          <p:nvPr/>
        </p:nvSpPr>
        <p:spPr>
          <a:xfrm>
            <a:off x="3200400" y="4663440"/>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Fetches the missing CVE data, and drops the claim it could not support. Resubmits. Accepted.</a:t>
            </a:r>
          </a:p>
        </p:txBody>
      </p:sp>
      <p:sp>
        <p:nvSpPr>
          <p:cNvPr id="21" name="Rounded Rectangle 20"/>
          <p:cNvSpPr/>
          <p:nvPr/>
        </p:nvSpPr>
        <p:spPr>
          <a:xfrm>
            <a:off x="777240" y="5486400"/>
            <a:ext cx="10607040" cy="86868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4864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32704"/>
            <a:ext cx="10058400" cy="64008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Measured across every run: the agent has NEVER resolved a refusal by rewording the same claim. It either fetches what it was missing, or it withdraws the claim. It does not negotiate.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TECHNICAL IMPLEMENTATION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Deterministic where it must be</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MODEL AND PROVIDER</a:t>
            </a:r>
          </a:p>
        </p:txBody>
      </p:sp>
      <p:sp>
        <p:nvSpPr>
          <p:cNvPr id="8" name="TextBox 7"/>
          <p:cNvSpPr txBox="1"/>
          <p:nvPr/>
        </p:nvSpPr>
        <p:spPr>
          <a:xfrm>
            <a:off x="107899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Provider-agnostic by design. SOC_BASE_URL, SOC_MODEL and SOC_API_STYLE are environment-driven, and the client speaks both wire formats: x-api-key for the Anthropic surface, Bearer for OpenAI-compatible. Swapping provider is one line.</a:t>
            </a:r>
          </a:p>
        </p:txBody>
      </p:sp>
      <p:sp>
        <p:nvSpPr>
          <p:cNvPr id="9" name="Rounded Rectangle 8"/>
          <p:cNvSpPr/>
          <p:nvPr/>
        </p:nvSpPr>
        <p:spPr>
          <a:xfrm>
            <a:off x="77724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PROMPTING STRATEGY</a:t>
            </a:r>
          </a:p>
        </p:txBody>
      </p:sp>
      <p:sp>
        <p:nvSpPr>
          <p:cNvPr id="11" name="TextBox 10"/>
          <p:cNvSpPr txBox="1"/>
          <p:nvPr/>
        </p:nvSpPr>
        <p:spPr>
          <a:xfrm>
            <a:off x="107899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Not ReAct off the shelf. Reason-before-act is enforced structurally: every evidence tool takes a required `reason` parameter, so the trace cannot contain an unexplained call. After each result the agent must state whether it has enough.</a:t>
            </a:r>
          </a:p>
        </p:txBody>
      </p:sp>
      <p:sp>
        <p:nvSpPr>
          <p:cNvPr id="12" name="Rounded Rectangle 11"/>
          <p:cNvSpPr/>
          <p:nvPr/>
        </p:nvSpPr>
        <p:spPr>
          <a:xfrm>
            <a:off x="621792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SCORING IS NOT THE MODEL'S JOB</a:t>
            </a:r>
          </a:p>
        </p:txBody>
      </p:sp>
      <p:sp>
        <p:nvSpPr>
          <p:cNvPr id="14" name="TextBox 13"/>
          <p:cNvSpPr txBox="1"/>
          <p:nvPr/>
        </p:nvSpPr>
        <p:spPr>
          <a:xfrm>
            <a:off x="651967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The agent never emits a confidence number. It declares which evidence CLASSES it established and cites each one; a fixed table in Python turns those into a score. Same evidence, same score, every run.</a:t>
            </a:r>
          </a:p>
        </p:txBody>
      </p:sp>
      <p:sp>
        <p:nvSpPr>
          <p:cNvPr id="15" name="Rounded Rectangle 14"/>
          <p:cNvSpPr/>
          <p:nvPr/>
        </p:nvSpPr>
        <p:spPr>
          <a:xfrm>
            <a:off x="621792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THE TRACE IS THE SOURCE OF TRUTH</a:t>
            </a:r>
          </a:p>
        </p:txBody>
      </p:sp>
      <p:sp>
        <p:nvSpPr>
          <p:cNvPr id="17" name="TextBox 16"/>
          <p:cNvSpPr txBox="1"/>
          <p:nvPr/>
        </p:nvSpPr>
        <p:spPr>
          <a:xfrm>
            <a:off x="651967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Every call, reason, result, refusal and score lands in one structured trace. The viewer and the written case reports are both rendered from it, so neither can drift from what actually happened.</a:t>
            </a:r>
          </a:p>
        </p:txBody>
      </p:sp>
      <p:sp>
        <p:nvSpPr>
          <p:cNvPr id="18" name="TextBox 17"/>
          <p:cNvSpPr txBox="1"/>
          <p:nvPr/>
        </p:nvSpPr>
        <p:spPr>
          <a:xfrm>
            <a:off x="777240" y="6263640"/>
            <a:ext cx="10607040" cy="365760"/>
          </a:xfrm>
          <a:prstGeom prst="rect">
            <a:avLst/>
          </a:prstGeom>
          <a:noFill/>
        </p:spPr>
        <p:txBody>
          <a:bodyPr wrap="square" lIns="0" rIns="0" tIns="0" bIns="0">
            <a:spAutoFit/>
          </a:bodyPr>
          <a:lstStyle/>
          <a:p>
            <a:pPr algn="l">
              <a:lnSpc>
                <a:spcPct val="125000"/>
              </a:lnSpc>
              <a:spcAft>
                <a:spcPts val="600"/>
              </a:spcAft>
            </a:pPr>
            <a:r>
              <a:rPr sz="1300" b="0">
                <a:solidFill>
                  <a:srgbClr val="8A8A94"/>
                </a:solidFill>
                <a:latin typeface="Segoe UI"/>
              </a:rPr>
              <a:t>Python standard library only. No framework, no dependencies, no lockfile.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PROTOTYPE AND UX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Watch the investigation, step by step</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858000" cy="4023360"/>
          </a:xfrm>
          <a:prstGeom prst="roundRect">
            <a:avLst/>
          </a:prstGeom>
          <a:solidFill>
            <a:srgbClr val="0D0D0D"/>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572768" cy="4023360"/>
          </a:xfrm>
          <a:prstGeom prst="rect">
            <a:avLst/>
          </a:prstGeom>
          <a:solidFill>
            <a:srgbClr val="08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856232"/>
            <a:ext cx="1371600" cy="182880"/>
          </a:xfrm>
          <a:prstGeom prst="rect">
            <a:avLst/>
          </a:prstGeom>
          <a:noFill/>
        </p:spPr>
        <p:txBody>
          <a:bodyPr wrap="square" lIns="0" rIns="0" tIns="0" bIns="0">
            <a:spAutoFit/>
          </a:bodyPr>
          <a:lstStyle/>
          <a:p>
            <a:pPr algn="l">
              <a:lnSpc>
                <a:spcPct val="125000"/>
              </a:lnSpc>
              <a:spcAft>
                <a:spcPts val="600"/>
              </a:spcAft>
            </a:pPr>
            <a:r>
              <a:rPr sz="850" b="1">
                <a:solidFill>
                  <a:srgbClr val="E4E4E7"/>
                </a:solidFill>
                <a:latin typeface="Segoe UI"/>
              </a:rPr>
              <a:t>SOC AGENT</a:t>
            </a:r>
          </a:p>
        </p:txBody>
      </p:sp>
      <p:sp>
        <p:nvSpPr>
          <p:cNvPr id="9" name="TextBox 8"/>
          <p:cNvSpPr txBox="1"/>
          <p:nvPr/>
        </p:nvSpPr>
        <p:spPr>
          <a:xfrm>
            <a:off x="905256" y="2121408"/>
            <a:ext cx="1371600" cy="164592"/>
          </a:xfrm>
          <a:prstGeom prst="rect">
            <a:avLst/>
          </a:prstGeom>
          <a:noFill/>
        </p:spPr>
        <p:txBody>
          <a:bodyPr wrap="square" lIns="0" rIns="0" tIns="0" bIns="0">
            <a:spAutoFit/>
          </a:bodyPr>
          <a:lstStyle/>
          <a:p>
            <a:pPr algn="l">
              <a:lnSpc>
                <a:spcPct val="125000"/>
              </a:lnSpc>
              <a:spcAft>
                <a:spcPts val="600"/>
              </a:spcAft>
            </a:pPr>
            <a:r>
              <a:rPr sz="650" b="1">
                <a:solidFill>
                  <a:srgbClr val="8A8A94"/>
                </a:solidFill>
                <a:latin typeface="Segoe UI"/>
              </a:rPr>
              <a:t>SCENARIOS</a:t>
            </a:r>
          </a:p>
        </p:txBody>
      </p:sp>
      <p:sp>
        <p:nvSpPr>
          <p:cNvPr id="10" name="TextBox 9"/>
          <p:cNvSpPr txBox="1"/>
          <p:nvPr/>
        </p:nvSpPr>
        <p:spPr>
          <a:xfrm>
            <a:off x="923544" y="234086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1 False alarm</a:t>
            </a:r>
          </a:p>
        </p:txBody>
      </p:sp>
      <p:sp>
        <p:nvSpPr>
          <p:cNvPr id="11" name="TextBox 10"/>
          <p:cNvSpPr txBox="1"/>
          <p:nvPr/>
        </p:nvSpPr>
        <p:spPr>
          <a:xfrm>
            <a:off x="1911096" y="234086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0B6B44"/>
                </a:solidFill>
                <a:latin typeface="Segoe UI"/>
              </a:rPr>
              <a:t>FAIL</a:t>
            </a:r>
          </a:p>
        </p:txBody>
      </p:sp>
      <p:sp>
        <p:nvSpPr>
          <p:cNvPr id="12" name="Rounded Rectangle 11"/>
          <p:cNvSpPr/>
          <p:nvPr/>
        </p:nvSpPr>
        <p:spPr>
          <a:xfrm>
            <a:off x="850392" y="2596896"/>
            <a:ext cx="1426464" cy="237744"/>
          </a:xfrm>
          <a:prstGeom prst="roundRect">
            <a:avLst/>
          </a:prstGeom>
          <a:solidFill>
            <a:srgbClr val="161616"/>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61518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2 True positive</a:t>
            </a:r>
          </a:p>
        </p:txBody>
      </p:sp>
      <p:sp>
        <p:nvSpPr>
          <p:cNvPr id="14" name="TextBox 13"/>
          <p:cNvSpPr txBox="1"/>
          <p:nvPr/>
        </p:nvSpPr>
        <p:spPr>
          <a:xfrm>
            <a:off x="1911096" y="261518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5" name="TextBox 14"/>
          <p:cNvSpPr txBox="1"/>
          <p:nvPr/>
        </p:nvSpPr>
        <p:spPr>
          <a:xfrm>
            <a:off x="923544" y="288950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3 Delayed evidence</a:t>
            </a:r>
          </a:p>
        </p:txBody>
      </p:sp>
      <p:sp>
        <p:nvSpPr>
          <p:cNvPr id="16" name="TextBox 15"/>
          <p:cNvSpPr txBox="1"/>
          <p:nvPr/>
        </p:nvSpPr>
        <p:spPr>
          <a:xfrm>
            <a:off x="1911096" y="288950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7" name="TextBox 16"/>
          <p:cNvSpPr txBox="1"/>
          <p:nvPr/>
        </p:nvSpPr>
        <p:spPr>
          <a:xfrm>
            <a:off x="923544" y="316382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4 Human override</a:t>
            </a:r>
          </a:p>
        </p:txBody>
      </p:sp>
      <p:sp>
        <p:nvSpPr>
          <p:cNvPr id="18" name="TextBox 17"/>
          <p:cNvSpPr txBox="1"/>
          <p:nvPr/>
        </p:nvSpPr>
        <p:spPr>
          <a:xfrm>
            <a:off x="1911096" y="316382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9" name="TextBox 18"/>
          <p:cNvSpPr txBox="1"/>
          <p:nvPr/>
        </p:nvSpPr>
        <p:spPr>
          <a:xfrm>
            <a:off x="923544" y="343814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5 Correlation</a:t>
            </a:r>
          </a:p>
        </p:txBody>
      </p:sp>
      <p:sp>
        <p:nvSpPr>
          <p:cNvPr id="20" name="TextBox 19"/>
          <p:cNvSpPr txBox="1"/>
          <p:nvPr/>
        </p:nvSpPr>
        <p:spPr>
          <a:xfrm>
            <a:off x="1911096" y="343814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21" name="TextBox 20"/>
          <p:cNvSpPr txBox="1"/>
          <p:nvPr/>
        </p:nvSpPr>
        <p:spPr>
          <a:xfrm>
            <a:off x="923544" y="371246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6 Tool failure</a:t>
            </a:r>
          </a:p>
        </p:txBody>
      </p:sp>
      <p:sp>
        <p:nvSpPr>
          <p:cNvPr id="22" name="TextBox 21"/>
          <p:cNvSpPr txBox="1"/>
          <p:nvPr/>
        </p:nvSpPr>
        <p:spPr>
          <a:xfrm>
            <a:off x="1911096" y="371246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INC</a:t>
            </a:r>
          </a:p>
        </p:txBody>
      </p:sp>
      <p:sp>
        <p:nvSpPr>
          <p:cNvPr id="23" name="TextBox 22"/>
          <p:cNvSpPr txBox="1"/>
          <p:nvPr/>
        </p:nvSpPr>
        <p:spPr>
          <a:xfrm>
            <a:off x="923544" y="398678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7 Configuration</a:t>
            </a:r>
          </a:p>
        </p:txBody>
      </p:sp>
      <p:sp>
        <p:nvSpPr>
          <p:cNvPr id="24" name="TextBox 23"/>
          <p:cNvSpPr txBox="1"/>
          <p:nvPr/>
        </p:nvSpPr>
        <p:spPr>
          <a:xfrm>
            <a:off x="1911096" y="398678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INC</a:t>
            </a:r>
          </a:p>
        </p:txBody>
      </p:sp>
      <p:sp>
        <p:nvSpPr>
          <p:cNvPr id="25" name="Rounded Rectangle 24"/>
          <p:cNvSpPr/>
          <p:nvPr/>
        </p:nvSpPr>
        <p:spPr>
          <a:xfrm>
            <a:off x="2478024"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OUTCOME</a:t>
            </a:r>
          </a:p>
        </p:txBody>
      </p:sp>
      <p:sp>
        <p:nvSpPr>
          <p:cNvPr id="27" name="TextBox 26"/>
          <p:cNvSpPr txBox="1"/>
          <p:nvPr/>
        </p:nvSpPr>
        <p:spPr>
          <a:xfrm>
            <a:off x="2560320"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A82D16"/>
                </a:solidFill>
                <a:latin typeface="Segoe UI"/>
              </a:rPr>
              <a:t>SUCCEEDED</a:t>
            </a:r>
          </a:p>
        </p:txBody>
      </p:sp>
      <p:sp>
        <p:nvSpPr>
          <p:cNvPr id="28" name="Rounded Rectangle 27"/>
          <p:cNvSpPr/>
          <p:nvPr/>
        </p:nvSpPr>
        <p:spPr>
          <a:xfrm>
            <a:off x="3721608"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CONFIDENCE</a:t>
            </a:r>
          </a:p>
        </p:txBody>
      </p:sp>
      <p:sp>
        <p:nvSpPr>
          <p:cNvPr id="30" name="TextBox 29"/>
          <p:cNvSpPr txBox="1"/>
          <p:nvPr/>
        </p:nvSpPr>
        <p:spPr>
          <a:xfrm>
            <a:off x="3803904"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0.95</a:t>
            </a:r>
          </a:p>
        </p:txBody>
      </p:sp>
      <p:sp>
        <p:nvSpPr>
          <p:cNvPr id="31" name="Rounded Rectangle 30"/>
          <p:cNvSpPr/>
          <p:nvPr/>
        </p:nvSpPr>
        <p:spPr>
          <a:xfrm>
            <a:off x="4965192"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EVIDENCE</a:t>
            </a:r>
          </a:p>
        </p:txBody>
      </p:sp>
      <p:sp>
        <p:nvSpPr>
          <p:cNvPr id="33" name="TextBox 32"/>
          <p:cNvSpPr txBox="1"/>
          <p:nvPr/>
        </p:nvSpPr>
        <p:spPr>
          <a:xfrm>
            <a:off x="5047488"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9</a:t>
            </a:r>
          </a:p>
        </p:txBody>
      </p:sp>
      <p:sp>
        <p:nvSpPr>
          <p:cNvPr id="34" name="Rounded Rectangle 33"/>
          <p:cNvSpPr/>
          <p:nvPr/>
        </p:nvSpPr>
        <p:spPr>
          <a:xfrm>
            <a:off x="6208776"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REFUSALS</a:t>
            </a:r>
          </a:p>
        </p:txBody>
      </p:sp>
      <p:sp>
        <p:nvSpPr>
          <p:cNvPr id="36" name="TextBox 35"/>
          <p:cNvSpPr txBox="1"/>
          <p:nvPr/>
        </p:nvSpPr>
        <p:spPr>
          <a:xfrm>
            <a:off x="6291072"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1</a:t>
            </a:r>
          </a:p>
        </p:txBody>
      </p:sp>
      <p:sp>
        <p:nvSpPr>
          <p:cNvPr id="37" name="Rounded Rectangle 36"/>
          <p:cNvSpPr/>
          <p:nvPr/>
        </p:nvSpPr>
        <p:spPr>
          <a:xfrm>
            <a:off x="2478024" y="2606040"/>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87752" y="2660904"/>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39FF14"/>
                </a:solidFill>
                <a:latin typeface="Segoe UI"/>
              </a:rPr>
              <a:t>TOOL CALL</a:t>
            </a:r>
          </a:p>
        </p:txBody>
      </p:sp>
      <p:sp>
        <p:nvSpPr>
          <p:cNvPr id="39" name="TextBox 38"/>
          <p:cNvSpPr txBox="1"/>
          <p:nvPr/>
        </p:nvSpPr>
        <p:spPr>
          <a:xfrm>
            <a:off x="2587752" y="2816352"/>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get_asset_info(asset_id='SRV-DB-02')</a:t>
            </a:r>
          </a:p>
        </p:txBody>
      </p:sp>
      <p:sp>
        <p:nvSpPr>
          <p:cNvPr id="40" name="Rounded Rectangle 39"/>
          <p:cNvSpPr/>
          <p:nvPr/>
        </p:nvSpPr>
        <p:spPr>
          <a:xfrm>
            <a:off x="2478024" y="3118104"/>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87752" y="3172968"/>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RESULT  OK</a:t>
            </a:r>
          </a:p>
        </p:txBody>
      </p:sp>
      <p:sp>
        <p:nvSpPr>
          <p:cNvPr id="42" name="TextBox 41"/>
          <p:cNvSpPr txBox="1"/>
          <p:nvPr/>
        </p:nvSpPr>
        <p:spPr>
          <a:xfrm>
            <a:off x="2587752" y="3328416"/>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mysql 5.7.21 running</a:t>
            </a:r>
          </a:p>
        </p:txBody>
      </p:sp>
      <p:sp>
        <p:nvSpPr>
          <p:cNvPr id="43" name="Rounded Rectangle 42"/>
          <p:cNvSpPr/>
          <p:nvPr/>
        </p:nvSpPr>
        <p:spPr>
          <a:xfrm>
            <a:off x="2478024" y="3630168"/>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87752" y="3685032"/>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39FF14"/>
                </a:solidFill>
                <a:latin typeface="Segoe UI"/>
              </a:rPr>
              <a:t>TOOL CALL</a:t>
            </a:r>
          </a:p>
        </p:txBody>
      </p:sp>
      <p:sp>
        <p:nvSpPr>
          <p:cNvPr id="45" name="TextBox 44"/>
          <p:cNvSpPr txBox="1"/>
          <p:nvPr/>
        </p:nvSpPr>
        <p:spPr>
          <a:xfrm>
            <a:off x="2587752" y="3840480"/>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get_vulnerabilities(service_name='mysql')</a:t>
            </a:r>
          </a:p>
        </p:txBody>
      </p:sp>
      <p:sp>
        <p:nvSpPr>
          <p:cNvPr id="46" name="Rounded Rectangle 45"/>
          <p:cNvSpPr/>
          <p:nvPr/>
        </p:nvSpPr>
        <p:spPr>
          <a:xfrm>
            <a:off x="2478024" y="4142232"/>
            <a:ext cx="4983480" cy="457200"/>
          </a:xfrm>
          <a:prstGeom prst="roundRect">
            <a:avLst/>
          </a:prstGeom>
          <a:solidFill>
            <a:srgbClr val="24100F"/>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587752" y="4197096"/>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RESULT  REJECTED</a:t>
            </a:r>
          </a:p>
        </p:txBody>
      </p:sp>
      <p:sp>
        <p:nvSpPr>
          <p:cNvPr id="48" name="TextBox 47"/>
          <p:cNvSpPr txBox="1"/>
          <p:nvPr/>
        </p:nvSpPr>
        <p:spPr>
          <a:xfrm>
            <a:off x="2587752" y="4352544"/>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factor 'version_patched' claims the host is outside ALL ranges, but openssh was never looked up</a:t>
            </a:r>
          </a:p>
        </p:txBody>
      </p:sp>
      <p:sp>
        <p:nvSpPr>
          <p:cNvPr id="49" name="Rounded Rectangle 48"/>
          <p:cNvSpPr/>
          <p:nvPr/>
        </p:nvSpPr>
        <p:spPr>
          <a:xfrm>
            <a:off x="2478024" y="4654296"/>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587752" y="4709160"/>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E4E4E7"/>
                </a:solidFill>
                <a:latin typeface="Segoe UI"/>
              </a:rPr>
              <a:t>REASONING</a:t>
            </a:r>
          </a:p>
        </p:txBody>
      </p:sp>
      <p:sp>
        <p:nvSpPr>
          <p:cNvPr id="51" name="TextBox 50"/>
          <p:cNvSpPr txBox="1"/>
          <p:nvPr/>
        </p:nvSpPr>
        <p:spPr>
          <a:xfrm>
            <a:off x="2587752" y="4864608"/>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I need to fix two issues. Let me check openssh CVEs.</a:t>
            </a:r>
          </a:p>
        </p:txBody>
      </p:sp>
      <p:sp>
        <p:nvSpPr>
          <p:cNvPr id="52" name="Rounded Rectangle 51"/>
          <p:cNvSpPr/>
          <p:nvPr/>
        </p:nvSpPr>
        <p:spPr>
          <a:xfrm>
            <a:off x="2478024" y="5166360"/>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87752" y="5221224"/>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SCORING</a:t>
            </a:r>
          </a:p>
        </p:txBody>
      </p:sp>
      <p:sp>
        <p:nvSpPr>
          <p:cNvPr id="54" name="TextBox 53"/>
          <p:cNvSpPr txBox="1"/>
          <p:nvPr/>
        </p:nvSpPr>
        <p:spPr>
          <a:xfrm>
            <a:off x="2587752" y="5376672"/>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base 0.50 -&gt; raw 1.15 -&gt; score 0.95  SUCCEEDED</a:t>
            </a:r>
          </a:p>
        </p:txBody>
      </p:sp>
      <p:sp>
        <p:nvSpPr>
          <p:cNvPr id="55" name="Rounded Rectangle 54"/>
          <p:cNvSpPr/>
          <p:nvPr/>
        </p:nvSpPr>
        <p:spPr>
          <a:xfrm>
            <a:off x="7863840" y="1737360"/>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863840" y="1737360"/>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56448" y="1865376"/>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Every step, in order</a:t>
            </a:r>
          </a:p>
        </p:txBody>
      </p:sp>
      <p:sp>
        <p:nvSpPr>
          <p:cNvPr id="58" name="TextBox 57"/>
          <p:cNvSpPr txBox="1"/>
          <p:nvPr/>
        </p:nvSpPr>
        <p:spPr>
          <a:xfrm>
            <a:off x="8156448" y="2157984"/>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Each tool call with the reason the agent gave BEFORE making it.</a:t>
            </a:r>
          </a:p>
        </p:txBody>
      </p:sp>
      <p:sp>
        <p:nvSpPr>
          <p:cNvPr id="59" name="Rounded Rectangle 58"/>
          <p:cNvSpPr/>
          <p:nvPr/>
        </p:nvSpPr>
        <p:spPr>
          <a:xfrm>
            <a:off x="7863840" y="2761488"/>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863840" y="2761488"/>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56448" y="2889504"/>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Refusals shown inline</a:t>
            </a:r>
          </a:p>
        </p:txBody>
      </p:sp>
      <p:sp>
        <p:nvSpPr>
          <p:cNvPr id="62" name="TextBox 61"/>
          <p:cNvSpPr txBox="1"/>
          <p:nvPr/>
        </p:nvSpPr>
        <p:spPr>
          <a:xfrm>
            <a:off x="8156448" y="3182112"/>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The guard rejection and the correction are both steps in the chain.</a:t>
            </a:r>
          </a:p>
        </p:txBody>
      </p:sp>
      <p:sp>
        <p:nvSpPr>
          <p:cNvPr id="63" name="Rounded Rectangle 62"/>
          <p:cNvSpPr/>
          <p:nvPr/>
        </p:nvSpPr>
        <p:spPr>
          <a:xfrm>
            <a:off x="7863840" y="3785616"/>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863840" y="3785616"/>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156448" y="3913632"/>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Reconsiderations forked</a:t>
            </a:r>
          </a:p>
        </p:txBody>
      </p:sp>
      <p:sp>
        <p:nvSpPr>
          <p:cNvPr id="66" name="TextBox 65"/>
          <p:cNvSpPr txBox="1"/>
          <p:nvPr/>
        </p:nvSpPr>
        <p:spPr>
          <a:xfrm>
            <a:off x="8156448" y="4206240"/>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Prior conclusion sits beside the new one. Never overwritten.</a:t>
            </a:r>
          </a:p>
        </p:txBody>
      </p:sp>
      <p:sp>
        <p:nvSpPr>
          <p:cNvPr id="67" name="Rounded Rectangle 66"/>
          <p:cNvSpPr/>
          <p:nvPr/>
        </p:nvSpPr>
        <p:spPr>
          <a:xfrm>
            <a:off x="7863840" y="4809744"/>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863840" y="4809744"/>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156448" y="4937760"/>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Replay, not live</a:t>
            </a:r>
          </a:p>
        </p:txBody>
      </p:sp>
      <p:sp>
        <p:nvSpPr>
          <p:cNvPr id="70" name="TextBox 69"/>
          <p:cNvSpPr txBox="1"/>
          <p:nvPr/>
        </p:nvSpPr>
        <p:spPr>
          <a:xfrm>
            <a:off x="8156448" y="5230368"/>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A live loop on stage can hang or rate-limit. Determinism over spectacle.</a:t>
            </a:r>
          </a:p>
        </p:txBody>
      </p:sp>
      <p:sp>
        <p:nvSpPr>
          <p:cNvPr id="71" name="TextBox 70"/>
          <p:cNvSpPr txBox="1"/>
          <p:nvPr/>
        </p:nvSpPr>
        <p:spPr>
          <a:xfrm>
            <a:off x="777240" y="5897880"/>
            <a:ext cx="10607040" cy="457200"/>
          </a:xfrm>
          <a:prstGeom prst="rect">
            <a:avLst/>
          </a:prstGeom>
          <a:noFill/>
        </p:spPr>
        <p:txBody>
          <a:bodyPr wrap="square" lIns="0" rIns="0" tIns="0" bIns="0">
            <a:spAutoFit/>
          </a:bodyPr>
          <a:lstStyle/>
          <a:p>
            <a:pPr algn="l">
              <a:lnSpc>
                <a:spcPct val="125000"/>
              </a:lnSpc>
              <a:spcAft>
                <a:spcPts val="600"/>
              </a:spcAft>
            </a:pPr>
            <a:r>
              <a:rPr sz="1250" b="0">
                <a:solidFill>
                  <a:srgbClr val="8A8A94"/>
                </a:solidFill>
                <a:latin typeface="Segoe UI"/>
              </a:rPr>
              <a:t>A separate plain-language site explains the product for a non-technical reader; the viewer is the technical artefact.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ROBUSTNESS AND GUARDRAILS</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stops it doing something wrong</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85623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cite what it did not read</a:t>
            </a:r>
          </a:p>
        </p:txBody>
      </p:sp>
      <p:sp>
        <p:nvSpPr>
          <p:cNvPr id="9" name="TextBox 8"/>
          <p:cNvSpPr txBox="1"/>
          <p:nvPr/>
        </p:nvSpPr>
        <p:spPr>
          <a:xfrm>
            <a:off x="1078992" y="215798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A factor drawn from a lookup that returned no data is refused before it can ever reach the score.</a:t>
            </a:r>
          </a:p>
        </p:txBody>
      </p:sp>
      <p:sp>
        <p:nvSpPr>
          <p:cNvPr id="10" name="Rounded Rectangle 9"/>
          <p:cNvSpPr/>
          <p:nvPr/>
        </p:nvSpPr>
        <p:spPr>
          <a:xfrm>
            <a:off x="777240" y="269748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69748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81635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claim ALL from SOME</a:t>
            </a:r>
          </a:p>
        </p:txBody>
      </p:sp>
      <p:sp>
        <p:nvSpPr>
          <p:cNvPr id="13" name="TextBox 12"/>
          <p:cNvSpPr txBox="1"/>
          <p:nvPr/>
        </p:nvSpPr>
        <p:spPr>
          <a:xfrm>
            <a:off x="1078992" y="311810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Saying a host is outside every affected range, having checked two of its three services, is refused.</a:t>
            </a:r>
          </a:p>
        </p:txBody>
      </p:sp>
      <p:sp>
        <p:nvSpPr>
          <p:cNvPr id="14" name="Rounded Rectangle 13"/>
          <p:cNvSpPr/>
          <p:nvPr/>
        </p:nvSpPr>
        <p:spPr>
          <a:xfrm>
            <a:off x="777240" y="365760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576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7647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hold both sides</a:t>
            </a:r>
          </a:p>
        </p:txBody>
      </p:sp>
      <p:sp>
        <p:nvSpPr>
          <p:cNvPr id="17" name="TextBox 16"/>
          <p:cNvSpPr txBox="1"/>
          <p:nvPr/>
        </p:nvSpPr>
        <p:spPr>
          <a:xfrm>
            <a:off x="1078992" y="407822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Declaring a finding and its negation together is refused.</a:t>
            </a:r>
          </a:p>
        </p:txBody>
      </p:sp>
      <p:sp>
        <p:nvSpPr>
          <p:cNvPr id="18" name="Rounded Rectangle 17"/>
          <p:cNvSpPr/>
          <p:nvPr/>
        </p:nvSpPr>
        <p:spPr>
          <a:xfrm>
            <a:off x="777240" y="461772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1772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73659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contradict a sibling case</a:t>
            </a:r>
          </a:p>
        </p:txBody>
      </p:sp>
      <p:sp>
        <p:nvSpPr>
          <p:cNvPr id="21" name="TextBox 20"/>
          <p:cNvSpPr txBox="1"/>
          <p:nvPr/>
        </p:nvSpPr>
        <p:spPr>
          <a:xfrm>
            <a:off x="1078992" y="503834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Calling an asset clean over a window another case already concluded was breached is refused.</a:t>
            </a:r>
          </a:p>
        </p:txBody>
      </p:sp>
      <p:sp>
        <p:nvSpPr>
          <p:cNvPr id="22" name="TextBox 21"/>
          <p:cNvSpPr txBox="1"/>
          <p:nvPr/>
        </p:nvSpPr>
        <p:spPr>
          <a:xfrm>
            <a:off x="777240" y="5623560"/>
            <a:ext cx="6766560" cy="777240"/>
          </a:xfrm>
          <a:prstGeom prst="rect">
            <a:avLst/>
          </a:prstGeom>
          <a:noFill/>
        </p:spPr>
        <p:txBody>
          <a:bodyPr wrap="square" lIns="0" rIns="0" tIns="0" bIns="0">
            <a:spAutoFit/>
          </a:bodyPr>
          <a:lstStyle/>
          <a:p>
            <a:pPr algn="l">
              <a:lnSpc>
                <a:spcPct val="125000"/>
              </a:lnSpc>
              <a:spcAft>
                <a:spcPts val="600"/>
              </a:spcAft>
            </a:pPr>
            <a:r>
              <a:rPr sz="1200" b="0">
                <a:solidFill>
                  <a:srgbClr val="8A8A94"/>
                </a:solidFill>
                <a:latin typeface="Segoe UI"/>
              </a:rPr>
              <a:t>The guards judge the FORM of a claim, never the evidence. They never decide whether a version is in range; that comparison stays the agent's, and it is visible in the trace.</a:t>
            </a:r>
          </a:p>
        </p:txBody>
      </p:sp>
      <p:sp>
        <p:nvSpPr>
          <p:cNvPr id="23" name="Rounded Rectangle 22"/>
          <p:cNvSpPr/>
          <p:nvPr/>
        </p:nvSpPr>
        <p:spPr>
          <a:xfrm>
            <a:off x="7863840" y="1737360"/>
            <a:ext cx="3520440" cy="4663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1737360"/>
            <a:ext cx="50292" cy="4663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79" y="1938528"/>
            <a:ext cx="301752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VERIFIED, NOT ASSERTED</a:t>
            </a:r>
          </a:p>
        </p:txBody>
      </p:sp>
      <p:sp>
        <p:nvSpPr>
          <p:cNvPr id="26" name="TextBox 25"/>
          <p:cNvSpPr txBox="1"/>
          <p:nvPr/>
        </p:nvSpPr>
        <p:spPr>
          <a:xfrm>
            <a:off x="8183879" y="233172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99 / 99</a:t>
            </a:r>
          </a:p>
        </p:txBody>
      </p:sp>
      <p:sp>
        <p:nvSpPr>
          <p:cNvPr id="27" name="TextBox 26"/>
          <p:cNvSpPr txBox="1"/>
          <p:nvPr/>
        </p:nvSpPr>
        <p:spPr>
          <a:xfrm>
            <a:off x="8183879" y="269748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offline behavioural checks, clean clone</a:t>
            </a:r>
          </a:p>
        </p:txBody>
      </p:sp>
      <p:sp>
        <p:nvSpPr>
          <p:cNvPr id="28" name="TextBox 27"/>
          <p:cNvSpPr txBox="1"/>
          <p:nvPr/>
        </p:nvSpPr>
        <p:spPr>
          <a:xfrm>
            <a:off x="8183879" y="315468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22 / 22</a:t>
            </a:r>
          </a:p>
        </p:txBody>
      </p:sp>
      <p:sp>
        <p:nvSpPr>
          <p:cNvPr id="29" name="TextBox 28"/>
          <p:cNvSpPr txBox="1"/>
          <p:nvPr/>
        </p:nvSpPr>
        <p:spPr>
          <a:xfrm>
            <a:off x="8183879" y="352044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guardrail checks</a:t>
            </a:r>
          </a:p>
        </p:txBody>
      </p:sp>
      <p:sp>
        <p:nvSpPr>
          <p:cNvPr id="30" name="TextBox 29"/>
          <p:cNvSpPr txBox="1"/>
          <p:nvPr/>
        </p:nvSpPr>
        <p:spPr>
          <a:xfrm>
            <a:off x="8183879" y="397764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51 / 51</a:t>
            </a:r>
          </a:p>
        </p:txBody>
      </p:sp>
      <p:sp>
        <p:nvSpPr>
          <p:cNvPr id="31" name="TextBox 30"/>
          <p:cNvSpPr txBox="1"/>
          <p:nvPr/>
        </p:nvSpPr>
        <p:spPr>
          <a:xfrm>
            <a:off x="8183879" y="434340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live checks across six scenarios</a:t>
            </a:r>
          </a:p>
        </p:txBody>
      </p:sp>
      <p:sp>
        <p:nvSpPr>
          <p:cNvPr id="32" name="TextBox 31"/>
          <p:cNvSpPr txBox="1"/>
          <p:nvPr/>
        </p:nvSpPr>
        <p:spPr>
          <a:xfrm>
            <a:off x="8183879" y="480060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1</a:t>
            </a:r>
          </a:p>
        </p:txBody>
      </p:sp>
      <p:sp>
        <p:nvSpPr>
          <p:cNvPr id="33" name="TextBox 32"/>
          <p:cNvSpPr txBox="1"/>
          <p:nvPr/>
        </p:nvSpPr>
        <p:spPr>
          <a:xfrm>
            <a:off x="8183879" y="516636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scenario left FAILING on purpose</a:t>
            </a:r>
          </a:p>
        </p:txBody>
      </p:sp>
      <p:sp>
        <p:nvSpPr>
          <p:cNvPr id="34" name="TextBox 33"/>
          <p:cNvSpPr txBox="1"/>
          <p:nvPr/>
        </p:nvSpPr>
        <p:spPr>
          <a:xfrm>
            <a:off x="8183879" y="562356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0</a:t>
            </a:r>
          </a:p>
        </p:txBody>
      </p:sp>
      <p:sp>
        <p:nvSpPr>
          <p:cNvPr id="35" name="TextBox 34"/>
          <p:cNvSpPr txBox="1"/>
          <p:nvPr/>
        </p:nvSpPr>
        <p:spPr>
          <a:xfrm>
            <a:off x="8183879" y="598932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refusals resolved by rewording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CONCLUSION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it is, and where it goes</a:t>
            </a:r>
          </a:p>
        </p:txBody>
      </p:sp>
      <p:sp>
        <p:nvSpPr>
          <p:cNvPr id="5" name="Rounded Rectangle 4"/>
          <p:cNvSpPr/>
          <p:nvPr/>
        </p:nvSpPr>
        <p:spPr>
          <a:xfrm>
            <a:off x="77724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WHAT WE BUILT</a:t>
            </a:r>
          </a:p>
        </p:txBody>
      </p:sp>
      <p:sp>
        <p:nvSpPr>
          <p:cNvPr id="7" name="TextBox 6"/>
          <p:cNvSpPr txBox="1"/>
          <p:nvPr/>
        </p:nvSpPr>
        <p:spPr>
          <a:xfrm>
            <a:off x="107899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agent that investigates a security alert the way an analyst would: forms a hypothesis, decides what evidence would falsify it, gathers, concludes with citations, acts when justified, and then checks that its own action actually took effect.</a:t>
            </a:r>
          </a:p>
        </p:txBody>
      </p:sp>
      <p:sp>
        <p:nvSpPr>
          <p:cNvPr id="8" name="Rounded Rectangle 7"/>
          <p:cNvSpPr/>
          <p:nvPr/>
        </p:nvSpPr>
        <p:spPr>
          <a:xfrm>
            <a:off x="621792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SCALING IT</a:t>
            </a:r>
          </a:p>
        </p:txBody>
      </p:sp>
      <p:sp>
        <p:nvSpPr>
          <p:cNvPr id="10" name="TextBox 9"/>
          <p:cNvSpPr txBox="1"/>
          <p:nvPr/>
        </p:nvSpPr>
        <p:spPr>
          <a:xfrm>
            <a:off x="651967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tools are already an interface, not an implementation. Point get_server_logs at a real SIEM, get_asset_info at a real CMDB and block_ip at a real firewall API, and the reasoning loop is unchanged. The sandbox boundary is a swap, not a rewrite.</a:t>
            </a:r>
          </a:p>
        </p:txBody>
      </p:sp>
      <p:sp>
        <p:nvSpPr>
          <p:cNvPr id="11" name="Rounded Rectangle 10"/>
          <p:cNvSpPr/>
          <p:nvPr/>
        </p:nvSpPr>
        <p:spPr>
          <a:xfrm>
            <a:off x="777240" y="4160520"/>
            <a:ext cx="10607040" cy="1234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16052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43400"/>
            <a:ext cx="10058400" cy="292608"/>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THE LIMITATION WE LEFT VISIBLE</a:t>
            </a:r>
          </a:p>
        </p:txBody>
      </p:sp>
      <p:sp>
        <p:nvSpPr>
          <p:cNvPr id="14" name="TextBox 13"/>
          <p:cNvSpPr txBox="1"/>
          <p:nvPr/>
        </p:nvSpPr>
        <p:spPr>
          <a:xfrm>
            <a:off x="1097280" y="4663440"/>
            <a:ext cx="10058400" cy="64008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Scenario 7 fails on purpose. The agent correctly works out that a database account had no privilege on the targeted table, and says so in its report, but the scoring model has no term for a configuration control, so the case stops short of a verdict. We built the factor, it failed its own gate, and we reverted it rather than ship a number we could not defend.</a:t>
            </a:r>
          </a:p>
        </p:txBody>
      </p:sp>
      <p:sp>
        <p:nvSpPr>
          <p:cNvPr id="15" name="TextBox 14"/>
          <p:cNvSpPr txBox="1"/>
          <p:nvPr/>
        </p:nvSpPr>
        <p:spPr>
          <a:xfrm>
            <a:off x="777240" y="5715000"/>
            <a:ext cx="10607040" cy="457200"/>
          </a:xfrm>
          <a:prstGeom prst="rect">
            <a:avLst/>
          </a:prstGeom>
          <a:noFill/>
        </p:spPr>
        <p:txBody>
          <a:bodyPr wrap="square" lIns="0" rIns="0" tIns="0" bIns="0">
            <a:spAutoFit/>
          </a:bodyPr>
          <a:lstStyle/>
          <a:p>
            <a:pPr algn="ctr">
              <a:lnSpc>
                <a:spcPct val="125000"/>
              </a:lnSpc>
              <a:spcAft>
                <a:spcPts val="600"/>
              </a:spcAft>
            </a:pPr>
            <a:r>
              <a:rPr sz="1700" b="1">
                <a:solidFill>
                  <a:srgbClr val="E2551F"/>
                </a:solidFill>
                <a:latin typeface="Consolas"/>
              </a:rPr>
              <a:t>soc-agent-trace-viewer.vercel.app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SUBMISSION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Submission Links</a:t>
            </a:r>
          </a:p>
        </p:txBody>
      </p:sp>
      <p:sp>
        <p:nvSpPr>
          <p:cNvPr id="5" name="Rounded Rectangle 4">
            <a:hlinkClick r:id="rId2"/>
          </p:cNvPr>
          <p:cNvSpPr/>
          <p:nvPr/>
        </p:nvSpPr>
        <p:spPr>
          <a:xfrm>
            <a:off x="777240" y="1874519"/>
            <a:ext cx="10607040" cy="141732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74519"/>
            <a:ext cx="50292" cy="141732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19"/>
            <a:ext cx="9966960" cy="1005840"/>
          </a:xfrm>
          <a:prstGeom prst="rect">
            <a:avLst/>
          </a:prstGeom>
          <a:noFill/>
        </p:spPr>
        <p:txBody>
          <a:bodyPr wrap="square" lIns="0" rIns="0" tIns="0" bIns="0">
            <a:spAutoFit/>
          </a:bodyPr>
          <a:lstStyle/>
          <a:p>
            <a:r>
              <a:rPr sz="2200">
                <a:latin typeface="Segoe UI Emoji"/>
              </a:rPr>
              <a:t>🔗  </a:t>
            </a:r>
            <a:r>
              <a:rPr sz="2200" b="1">
                <a:solidFill>
                  <a:srgbClr val="1C1C1E"/>
                </a:solidFill>
                <a:latin typeface="Segoe UI"/>
              </a:rPr>
              <a:t>GitHub Repository</a:t>
            </a:r>
          </a:p>
          <a:p>
            <a:pPr>
              <a:spcBef>
                <a:spcPts val="800"/>
              </a:spcBef>
            </a:pPr>
            <a:r>
              <a:rPr u="sng" sz="1700">
                <a:solidFill>
                  <a:srgbClr val="E2551F"/>
                </a:solidFill>
                <a:latin typeface="Consolas"/>
                <a:hlinkClick r:id="rId2"/>
              </a:rPr>
              <a:t>https://github.com/Graybeep/Dropout_Autonomous-SOC-Investigation-Response-Agent</a:t>
            </a:r>
          </a:p>
        </p:txBody>
      </p:sp>
      <p:sp>
        <p:nvSpPr>
          <p:cNvPr id="8" name="Rounded Rectangle 7"/>
          <p:cNvSpPr/>
          <p:nvPr/>
        </p:nvSpPr>
        <p:spPr>
          <a:xfrm>
            <a:off x="777240" y="3520440"/>
            <a:ext cx="10607040" cy="141732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3520440"/>
            <a:ext cx="50292" cy="141732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749040"/>
            <a:ext cx="9966960" cy="1005840"/>
          </a:xfrm>
          <a:prstGeom prst="rect">
            <a:avLst/>
          </a:prstGeom>
          <a:noFill/>
        </p:spPr>
        <p:txBody>
          <a:bodyPr wrap="square" lIns="0" rIns="0" tIns="0" bIns="0">
            <a:spAutoFit/>
          </a:bodyPr>
          <a:lstStyle/>
          <a:p>
            <a:r>
              <a:rPr sz="2200">
                <a:latin typeface="Segoe UI Emoji"/>
              </a:rPr>
              <a:t>▶️  </a:t>
            </a:r>
            <a:r>
              <a:rPr sz="2200" b="1">
                <a:solidFill>
                  <a:srgbClr val="1C1C1E"/>
                </a:solidFill>
                <a:latin typeface="Segoe UI"/>
              </a:rPr>
              <a:t>Video Demo</a:t>
            </a:r>
          </a:p>
          <a:p>
            <a:pPr>
              <a:spcBef>
                <a:spcPts val="800"/>
              </a:spcBef>
            </a:pPr>
            <a:r>
              <a:rPr sz="1700">
                <a:solidFill>
                  <a:srgbClr val="8A8A94"/>
                </a:solidFill>
                <a:latin typeface="Consolas"/>
              </a:rPr>
              <a:t>[Insert Link]</a:t>
            </a:r>
          </a:p>
        </p:txBody>
      </p:sp>
      <p:sp>
        <p:nvSpPr>
          <p:cNvPr id="11" name="TextBox 10"/>
          <p:cNvSpPr txBox="1"/>
          <p:nvPr/>
        </p:nvSpPr>
        <p:spPr>
          <a:xfrm>
            <a:off x="777240" y="5257800"/>
            <a:ext cx="10607040" cy="365760"/>
          </a:xfrm>
          <a:prstGeom prst="rect">
            <a:avLst/>
          </a:prstGeom>
          <a:noFill/>
        </p:spPr>
        <p:txBody>
          <a:bodyPr wrap="square" lIns="0" rIns="0" tIns="0" bIns="0">
            <a:spAutoFit/>
          </a:bodyPr>
          <a:lstStyle/>
          <a:p>
            <a:pPr algn="l">
              <a:lnSpc>
                <a:spcPct val="125000"/>
              </a:lnSpc>
              <a:spcAft>
                <a:spcPts val="600"/>
              </a:spcAft>
            </a:pPr>
            <a:r>
              <a:rPr sz="1400" b="0">
                <a:solidFill>
                  <a:srgbClr val="4A4A52"/>
                </a:solidFill>
                <a:latin typeface="Segoe UI"/>
              </a:rPr>
              <a:t>Live viewer:  </a:t>
            </a:r>
            <a:r>
              <a:rPr sz="1400" u="sng">
                <a:solidFill>
                  <a:srgbClr val="E2551F"/>
                </a:solidFill>
                <a:latin typeface="Consolas"/>
                <a:hlinkClick r:id="rId3"/>
              </a:rPr>
              <a:t>soc-agent-trace-viewer.vercel.app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