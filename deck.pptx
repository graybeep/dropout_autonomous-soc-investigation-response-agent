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66" r:id="rId17"/>
    <p:sldId id="258" r:id="rId9"/>
    <p:sldId id="265" r:id="rId16"/>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E25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325880"/>
            <a:ext cx="10607040" cy="320040"/>
          </a:xfrm>
          <a:prstGeom prst="rect">
            <a:avLst/>
          </a:prstGeom>
          <a:noFill/>
        </p:spPr>
        <p:txBody>
          <a:bodyPr wrap="square" lIns="0" rIns="0" tIns="0" bIns="0">
            <a:spAutoFit/>
          </a:bodyPr>
          <a:lstStyle/>
          <a:p>
            <a:pPr algn="l">
              <a:lnSpc>
                <a:spcPct val="125000"/>
              </a:lnSpc>
              <a:spcAft>
                <a:spcPts val="600"/>
              </a:spcAft>
            </a:pPr>
            <a:r>
              <a:rPr sz="1400" b="1">
                <a:solidFill>
                  <a:srgbClr val="E2551F"/>
                </a:solidFill>
                <a:latin typeface="Segoe UI"/>
              </a:rPr>
              <a:t>PROBLEM STATEMENT 9</a:t>
            </a:r>
          </a:p>
        </p:txBody>
      </p:sp>
      <p:sp>
        <p:nvSpPr>
          <p:cNvPr id="5" name="TextBox 4"/>
          <p:cNvSpPr txBox="1"/>
          <p:nvPr/>
        </p:nvSpPr>
        <p:spPr>
          <a:xfrm>
            <a:off x="777240" y="1737360"/>
            <a:ext cx="10607040" cy="1463040"/>
          </a:xfrm>
          <a:prstGeom prst="rect">
            <a:avLst/>
          </a:prstGeom>
          <a:noFill/>
        </p:spPr>
        <p:txBody>
          <a:bodyPr wrap="square" lIns="0" rIns="0" tIns="0" bIns="0">
            <a:spAutoFit/>
          </a:bodyPr>
          <a:lstStyle/>
          <a:p>
            <a:pPr algn="l">
              <a:lnSpc>
                <a:spcPct val="105000"/>
              </a:lnSpc>
              <a:spcAft>
                <a:spcPts val="600"/>
              </a:spcAft>
            </a:pPr>
            <a:r>
              <a:rPr sz="4600" b="1">
                <a:solidFill>
                  <a:srgbClr val="1C1C1E"/>
                </a:solidFill>
                <a:latin typeface="Georgia"/>
              </a:rPr>
              <a:t>Autonomous SOC Investigation</a:t>
            </a:r>
          </a:p>
          <a:p>
            <a:pPr algn="l">
              <a:lnSpc>
                <a:spcPct val="105000"/>
              </a:lnSpc>
              <a:spcAft>
                <a:spcPts val="600"/>
              </a:spcAft>
            </a:pPr>
            <a:r>
              <a:rPr sz="4600" b="1">
                <a:solidFill>
                  <a:srgbClr val="1C1C1E"/>
                </a:solidFill>
                <a:latin typeface="Georgia"/>
              </a:rPr>
              <a:t>&amp; Response Agent</a:t>
            </a:r>
          </a:p>
        </p:txBody>
      </p:sp>
      <p:sp>
        <p:nvSpPr>
          <p:cNvPr id="6" name="TextBox 5"/>
          <p:cNvSpPr txBox="1"/>
          <p:nvPr/>
        </p:nvSpPr>
        <p:spPr>
          <a:xfrm>
            <a:off x="777240" y="3401568"/>
            <a:ext cx="9875520" cy="822960"/>
          </a:xfrm>
          <a:prstGeom prst="rect">
            <a:avLst/>
          </a:prstGeom>
          <a:noFill/>
        </p:spPr>
        <p:txBody>
          <a:bodyPr wrap="square" lIns="0" rIns="0" tIns="0" bIns="0">
            <a:spAutoFit/>
          </a:bodyPr>
          <a:lstStyle/>
          <a:p>
            <a:pPr algn="l">
              <a:lnSpc>
                <a:spcPct val="125000"/>
              </a:lnSpc>
              <a:spcAft>
                <a:spcPts val="600"/>
              </a:spcAft>
            </a:pPr>
            <a:r>
              <a:rPr sz="1700" b="0">
                <a:solidFill>
                  <a:srgbClr val="4A4A52"/>
                </a:solidFill>
                <a:latin typeface="Segoe UI"/>
              </a:rPr>
              <a:t>An alert says you were attacked. The agent decides whether it actually worked,</a:t>
            </a:r>
          </a:p>
          <a:p>
            <a:pPr algn="l">
              <a:lnSpc>
                <a:spcPct val="125000"/>
              </a:lnSpc>
              <a:spcAft>
                <a:spcPts val="600"/>
              </a:spcAft>
            </a:pPr>
            <a:r>
              <a:rPr sz="1700" b="0">
                <a:solidFill>
                  <a:srgbClr val="4A4A52"/>
                </a:solidFill>
                <a:latin typeface="Segoe UI"/>
              </a:rPr>
              <a:t>by correlating asset, vulnerability, configuration and log evidence rather than</a:t>
            </a:r>
          </a:p>
          <a:p>
            <a:pPr algn="l">
              <a:lnSpc>
                <a:spcPct val="125000"/>
              </a:lnSpc>
              <a:spcAft>
                <a:spcPts val="600"/>
              </a:spcAft>
            </a:pPr>
            <a:r>
              <a:rPr sz="1700" b="0">
                <a:solidFill>
                  <a:srgbClr val="4A4A52"/>
                </a:solidFill>
                <a:latin typeface="Segoe UI"/>
              </a:rPr>
              <a:t>trusting the alert's own severity label.</a:t>
            </a:r>
          </a:p>
        </p:txBody>
      </p:sp>
      <p:sp>
        <p:nvSpPr>
          <p:cNvPr id="7" name="Rounded Rectangle 6"/>
          <p:cNvSpPr/>
          <p:nvPr/>
        </p:nvSpPr>
        <p:spPr>
          <a:xfrm>
            <a:off x="777240" y="4572000"/>
            <a:ext cx="5029200" cy="1234440"/>
          </a:xfrm>
          <a:prstGeom prst="roundRect">
            <a:avLst>
              <a:gd name="adj" fmla="val 4000"/>
            </a:avLst>
          </a:prstGeom>
          <a:solidFill>
            <a:srgbClr val="FFFFFF"/>
          </a:solidFill>
          <a:ln w="12700">
            <a:solidFill>
              <a:srgbClr val="E2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4572000"/>
            <a:ext cx="50292" cy="1234440"/>
          </a:xfrm>
          <a:prstGeom prst="rect">
            <a:avLst/>
          </a:prstGeom>
          <a:solidFill>
            <a:srgbClr val="E25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78992" y="4754880"/>
            <a:ext cx="4480560" cy="274320"/>
          </a:xfrm>
          <a:prstGeom prst="rect">
            <a:avLst/>
          </a:prstGeom>
          <a:noFill/>
        </p:spPr>
        <p:txBody>
          <a:bodyPr wrap="square" lIns="0" rIns="0" tIns="0" bIns="0">
            <a:spAutoFit/>
          </a:bodyPr>
          <a:lstStyle/>
          <a:p>
            <a:pPr algn="l">
              <a:lnSpc>
                <a:spcPct val="125000"/>
              </a:lnSpc>
              <a:spcAft>
                <a:spcPts val="600"/>
              </a:spcAft>
            </a:pPr>
            <a:r>
              <a:rPr sz="1100" b="1">
                <a:solidFill>
                  <a:srgbClr val="8A8A94"/>
                </a:solidFill>
                <a:latin typeface="Segoe UI"/>
              </a:rPr>
              <a:t>TEAM</a:t>
            </a:r>
          </a:p>
        </p:txBody>
      </p:sp>
      <p:sp>
        <p:nvSpPr>
          <p:cNvPr id="10" name="TextBox 9"/>
          <p:cNvSpPr txBox="1"/>
          <p:nvPr/>
        </p:nvSpPr>
        <p:spPr>
          <a:xfrm>
            <a:off x="1078992" y="5056632"/>
            <a:ext cx="4480560" cy="548640"/>
          </a:xfrm>
          <a:prstGeom prst="rect">
            <a:avLst/>
          </a:prstGeom>
          <a:noFill/>
        </p:spPr>
        <p:txBody>
          <a:bodyPr wrap="square" lIns="0" rIns="0" tIns="0" bIns="0">
            <a:spAutoFit/>
          </a:bodyPr>
          <a:lstStyle/>
          <a:p>
            <a:pPr algn="l">
              <a:lnSpc>
                <a:spcPct val="125000"/>
              </a:lnSpc>
              <a:spcAft>
                <a:spcPts val="600"/>
              </a:spcAft>
            </a:pPr>
            <a:r>
              <a:rPr sz="1900" b="1">
                <a:solidFill>
                  <a:srgbClr val="1C1C1E"/>
                </a:solidFill>
                <a:latin typeface="Segoe UI"/>
              </a:rPr>
              <a:t>[ your team name here ]</a:t>
            </a:r>
          </a:p>
        </p:txBody>
      </p:sp>
      <p:sp>
        <p:nvSpPr>
          <p:cNvPr id="11" name="Rounded Rectangle 10"/>
          <p:cNvSpPr/>
          <p:nvPr/>
        </p:nvSpPr>
        <p:spPr>
          <a:xfrm>
            <a:off x="6035040" y="4572000"/>
            <a:ext cx="5349240" cy="1234440"/>
          </a:xfrm>
          <a:prstGeom prst="roundRect">
            <a:avLst>
              <a:gd name="adj" fmla="val 4000"/>
            </a:avLst>
          </a:prstGeom>
          <a:solidFill>
            <a:srgbClr val="FFFFFF"/>
          </a:solidFill>
          <a:ln w="12700">
            <a:solidFill>
              <a:srgbClr val="E2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36792" y="4754880"/>
            <a:ext cx="4846320" cy="274320"/>
          </a:xfrm>
          <a:prstGeom prst="rect">
            <a:avLst/>
          </a:prstGeom>
          <a:noFill/>
        </p:spPr>
        <p:txBody>
          <a:bodyPr wrap="square" lIns="0" rIns="0" tIns="0" bIns="0">
            <a:spAutoFit/>
          </a:bodyPr>
          <a:lstStyle/>
          <a:p>
            <a:pPr algn="l">
              <a:lnSpc>
                <a:spcPct val="125000"/>
              </a:lnSpc>
              <a:spcAft>
                <a:spcPts val="600"/>
              </a:spcAft>
            </a:pPr>
            <a:r>
              <a:rPr sz="1100" b="1">
                <a:solidFill>
                  <a:srgbClr val="8A8A94"/>
                </a:solidFill>
                <a:latin typeface="Segoe UI"/>
              </a:rPr>
              <a:t>LIVE PROTOTYPE</a:t>
            </a:r>
          </a:p>
        </p:txBody>
      </p:sp>
      <p:sp>
        <p:nvSpPr>
          <p:cNvPr id="13" name="TextBox 12"/>
          <p:cNvSpPr txBox="1"/>
          <p:nvPr/>
        </p:nvSpPr>
        <p:spPr>
          <a:xfrm>
            <a:off x="6336792" y="5056632"/>
            <a:ext cx="4846320" cy="548640"/>
          </a:xfrm>
          <a:prstGeom prst="rect">
            <a:avLst/>
          </a:prstGeom>
          <a:noFill/>
        </p:spPr>
        <p:txBody>
          <a:bodyPr wrap="square" lIns="0" rIns="0" tIns="0" bIns="0">
            <a:spAutoFit/>
          </a:bodyPr>
          <a:lstStyle/>
          <a:p>
            <a:pPr algn="l">
              <a:lnSpc>
                <a:spcPct val="125000"/>
              </a:lnSpc>
              <a:spcAft>
                <a:spcPts val="600"/>
              </a:spcAft>
            </a:pPr>
            <a:r>
              <a:rPr sz="1500" b="1">
                <a:solidFill>
                  <a:srgbClr val="E2551F"/>
                </a:solidFill>
                <a:latin typeface="Consolas"/>
              </a:rPr>
              <a:t>soc-agent-trace-viewer.vercel.app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8961120" cy="274320"/>
          </a:xfrm>
          <a:prstGeom prst="rect">
            <a:avLst/>
          </a:prstGeom>
          <a:noFill/>
        </p:spPr>
        <p:txBody>
          <a:bodyPr wrap="square" lIns="0" rIns="0" tIns="0" bIns="0">
            <a:spAutoFit/>
          </a:bodyPr>
          <a:lstStyle/>
          <a:p>
            <a:pPr algn="l">
              <a:lnSpc>
                <a:spcPct val="125000"/>
              </a:lnSpc>
              <a:spcAft>
                <a:spcPts val="600"/>
              </a:spcAft>
            </a:pPr>
            <a:r>
              <a:rPr sz="1200" b="1">
                <a:solidFill>
                  <a:srgbClr val="E2551F"/>
                </a:solidFill>
                <a:latin typeface="Segoe UI"/>
              </a:rPr>
              <a:t>THE PROBLEM</a:t>
            </a:r>
          </a:p>
        </p:txBody>
      </p:sp>
      <p:sp>
        <p:nvSpPr>
          <p:cNvPr id="4" name="TextBox 3"/>
          <p:cNvSpPr txBox="1"/>
          <p:nvPr/>
        </p:nvSpPr>
        <p:spPr>
          <a:xfrm>
            <a:off x="777240" y="731520"/>
            <a:ext cx="9144000" cy="1024128"/>
          </a:xfrm>
          <a:prstGeom prst="rect">
            <a:avLst/>
          </a:prstGeom>
          <a:noFill/>
        </p:spPr>
        <p:txBody>
          <a:bodyPr wrap="square" lIns="0" rIns="0" tIns="0" bIns="0">
            <a:spAutoFit/>
          </a:bodyPr>
          <a:lstStyle/>
          <a:p>
            <a:pPr algn="l">
              <a:lnSpc>
                <a:spcPct val="125000"/>
              </a:lnSpc>
              <a:spcAft>
                <a:spcPts val="600"/>
              </a:spcAft>
            </a:pPr>
            <a:r>
              <a:rPr sz="2700" b="1">
                <a:solidFill>
                  <a:srgbClr val="1C1C1E"/>
                </a:solidFill>
                <a:latin typeface="Georgia"/>
              </a:rPr>
              <a:t>Alarms are cheap. Answers are not.</a:t>
            </a:r>
          </a:p>
        </p:txBody>
      </p:sp>
      <p:sp>
        <p:nvSpPr>
          <p:cNvPr id="5" name="Rounded Rectangle 4"/>
          <p:cNvSpPr/>
          <p:nvPr/>
        </p:nvSpPr>
        <p:spPr>
          <a:xfrm>
            <a:off x="10040112" y="475488"/>
            <a:ext cx="1344168" cy="402336"/>
          </a:xfrm>
          <a:prstGeom prst="roundRect">
            <a:avLst/>
          </a:prstGeom>
          <a:solidFill>
            <a:srgbClr val="FFF3E4"/>
          </a:solidFill>
          <a:ln>
            <a:solidFill>
              <a:srgbClr val="E255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E2551F"/>
                </a:solidFill>
                <a:latin typeface="Segoe UI"/>
              </a:rPr>
              <a:t>10%</a:t>
            </a:r>
          </a:p>
        </p:txBody>
      </p:sp>
      <p:sp>
        <p:nvSpPr>
          <p:cNvPr id="6" name="Rounded Rectangle 5"/>
          <p:cNvSpPr/>
          <p:nvPr/>
        </p:nvSpPr>
        <p:spPr>
          <a:xfrm>
            <a:off x="777240" y="1755648"/>
            <a:ext cx="10607040" cy="1078992"/>
          </a:xfrm>
          <a:prstGeom prst="roundRect">
            <a:avLst>
              <a:gd name="adj" fmla="val 4000"/>
            </a:avLst>
          </a:prstGeom>
          <a:solidFill>
            <a:srgbClr val="FFFFFF"/>
          </a:solidFill>
          <a:ln w="12700">
            <a:solidFill>
              <a:srgbClr val="E2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78992" y="1874520"/>
            <a:ext cx="5486400" cy="292608"/>
          </a:xfrm>
          <a:prstGeom prst="rect">
            <a:avLst/>
          </a:prstGeom>
          <a:noFill/>
        </p:spPr>
        <p:txBody>
          <a:bodyPr wrap="square" lIns="0" rIns="0" tIns="0" bIns="0">
            <a:spAutoFit/>
          </a:bodyPr>
          <a:lstStyle/>
          <a:p>
            <a:pPr algn="l">
              <a:lnSpc>
                <a:spcPct val="125000"/>
              </a:lnSpc>
              <a:spcAft>
                <a:spcPts val="600"/>
              </a:spcAft>
            </a:pPr>
            <a:r>
              <a:rPr sz="1700" b="1">
                <a:solidFill>
                  <a:srgbClr val="1C1C1E"/>
                </a:solidFill>
                <a:latin typeface="Segoe UI"/>
              </a:rPr>
              <a:t>An alert is only a pattern match</a:t>
            </a:r>
          </a:p>
        </p:txBody>
      </p:sp>
      <p:sp>
        <p:nvSpPr>
          <p:cNvPr id="8" name="TextBox 7"/>
          <p:cNvSpPr txBox="1"/>
          <p:nvPr/>
        </p:nvSpPr>
        <p:spPr>
          <a:xfrm>
            <a:off x="1078992" y="2212848"/>
            <a:ext cx="9966960" cy="548640"/>
          </a:xfrm>
          <a:prstGeom prst="rect">
            <a:avLst/>
          </a:prstGeom>
          <a:noFill/>
        </p:spPr>
        <p:txBody>
          <a:bodyPr wrap="square" lIns="0" rIns="0" tIns="0" bIns="0">
            <a:spAutoFit/>
          </a:bodyPr>
          <a:lstStyle/>
          <a:p>
            <a:pPr algn="l">
              <a:lnSpc>
                <a:spcPct val="125000"/>
              </a:lnSpc>
              <a:spcAft>
                <a:spcPts val="600"/>
              </a:spcAft>
            </a:pPr>
            <a:r>
              <a:rPr sz="1300" b="0">
                <a:solidFill>
                  <a:srgbClr val="4A4A52"/>
                </a:solidFill>
                <a:latin typeface="Segoe UI"/>
              </a:rPr>
              <a:t>A detection rule fires when traffic LOOKS like an attack. It cannot tell you whether anything was actually breached.</a:t>
            </a:r>
          </a:p>
        </p:txBody>
      </p:sp>
      <p:sp>
        <p:nvSpPr>
          <p:cNvPr id="9" name="Rounded Rectangle 8"/>
          <p:cNvSpPr/>
          <p:nvPr/>
        </p:nvSpPr>
        <p:spPr>
          <a:xfrm>
            <a:off x="777240" y="2971800"/>
            <a:ext cx="10607040" cy="1078992"/>
          </a:xfrm>
          <a:prstGeom prst="roundRect">
            <a:avLst>
              <a:gd name="adj" fmla="val 4000"/>
            </a:avLst>
          </a:prstGeom>
          <a:solidFill>
            <a:srgbClr val="FFFFFF"/>
          </a:solidFill>
          <a:ln w="12700">
            <a:solidFill>
              <a:srgbClr val="E2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8992" y="3090672"/>
            <a:ext cx="5486400" cy="292608"/>
          </a:xfrm>
          <a:prstGeom prst="rect">
            <a:avLst/>
          </a:prstGeom>
          <a:noFill/>
        </p:spPr>
        <p:txBody>
          <a:bodyPr wrap="square" lIns="0" rIns="0" tIns="0" bIns="0">
            <a:spAutoFit/>
          </a:bodyPr>
          <a:lstStyle/>
          <a:p>
            <a:pPr algn="l">
              <a:lnSpc>
                <a:spcPct val="125000"/>
              </a:lnSpc>
              <a:spcAft>
                <a:spcPts val="600"/>
              </a:spcAft>
            </a:pPr>
            <a:r>
              <a:rPr sz="1700" b="1">
                <a:solidFill>
                  <a:srgbClr val="1C1C1E"/>
                </a:solidFill>
                <a:latin typeface="Segoe UI"/>
              </a:rPr>
              <a:t>The severity label is an opinion</a:t>
            </a:r>
          </a:p>
        </p:txBody>
      </p:sp>
      <p:sp>
        <p:nvSpPr>
          <p:cNvPr id="11" name="TextBox 10"/>
          <p:cNvSpPr txBox="1"/>
          <p:nvPr/>
        </p:nvSpPr>
        <p:spPr>
          <a:xfrm>
            <a:off x="1078992" y="3429000"/>
            <a:ext cx="9966960" cy="548640"/>
          </a:xfrm>
          <a:prstGeom prst="rect">
            <a:avLst/>
          </a:prstGeom>
          <a:noFill/>
        </p:spPr>
        <p:txBody>
          <a:bodyPr wrap="square" lIns="0" rIns="0" tIns="0" bIns="0">
            <a:spAutoFit/>
          </a:bodyPr>
          <a:lstStyle/>
          <a:p>
            <a:pPr algn="l">
              <a:lnSpc>
                <a:spcPct val="125000"/>
              </a:lnSpc>
              <a:spcAft>
                <a:spcPts val="600"/>
              </a:spcAft>
            </a:pPr>
            <a:r>
              <a:rPr sz="1300" b="0">
                <a:solidFill>
                  <a:srgbClr val="4A4A52"/>
                </a:solidFill>
                <a:latin typeface="Segoe UI"/>
              </a:rPr>
              <a:t>A critical signature against a host patched two years ago is noise. A quiet one against an unpatched host that then shipped 2 MB outbound is a breach.</a:t>
            </a:r>
          </a:p>
        </p:txBody>
      </p:sp>
      <p:sp>
        <p:nvSpPr>
          <p:cNvPr id="12" name="Rounded Rectangle 11"/>
          <p:cNvSpPr/>
          <p:nvPr/>
        </p:nvSpPr>
        <p:spPr>
          <a:xfrm>
            <a:off x="777240" y="4187952"/>
            <a:ext cx="10607040" cy="1078992"/>
          </a:xfrm>
          <a:prstGeom prst="roundRect">
            <a:avLst>
              <a:gd name="adj" fmla="val 4000"/>
            </a:avLst>
          </a:prstGeom>
          <a:solidFill>
            <a:srgbClr val="FFFFFF"/>
          </a:solidFill>
          <a:ln w="12700">
            <a:solidFill>
              <a:srgbClr val="E2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78992" y="4306824"/>
            <a:ext cx="5486400" cy="292608"/>
          </a:xfrm>
          <a:prstGeom prst="rect">
            <a:avLst/>
          </a:prstGeom>
          <a:noFill/>
        </p:spPr>
        <p:txBody>
          <a:bodyPr wrap="square" lIns="0" rIns="0" tIns="0" bIns="0">
            <a:spAutoFit/>
          </a:bodyPr>
          <a:lstStyle/>
          <a:p>
            <a:pPr algn="l">
              <a:lnSpc>
                <a:spcPct val="125000"/>
              </a:lnSpc>
              <a:spcAft>
                <a:spcPts val="600"/>
              </a:spcAft>
            </a:pPr>
            <a:r>
              <a:rPr sz="1700" b="1">
                <a:solidFill>
                  <a:srgbClr val="1C1C1E"/>
                </a:solidFill>
                <a:latin typeface="Segoe UI"/>
              </a:rPr>
              <a:t>So a human checks, every single time</a:t>
            </a:r>
          </a:p>
        </p:txBody>
      </p:sp>
      <p:sp>
        <p:nvSpPr>
          <p:cNvPr id="14" name="TextBox 13"/>
          <p:cNvSpPr txBox="1"/>
          <p:nvPr/>
        </p:nvSpPr>
        <p:spPr>
          <a:xfrm>
            <a:off x="1078992" y="4645152"/>
            <a:ext cx="9966960" cy="548640"/>
          </a:xfrm>
          <a:prstGeom prst="rect">
            <a:avLst/>
          </a:prstGeom>
          <a:noFill/>
        </p:spPr>
        <p:txBody>
          <a:bodyPr wrap="square" lIns="0" rIns="0" tIns="0" bIns="0">
            <a:spAutoFit/>
          </a:bodyPr>
          <a:lstStyle/>
          <a:p>
            <a:pPr algn="l">
              <a:lnSpc>
                <a:spcPct val="125000"/>
              </a:lnSpc>
              <a:spcAft>
                <a:spcPts val="600"/>
              </a:spcAft>
            </a:pPr>
            <a:r>
              <a:rPr sz="1300" b="0">
                <a:solidFill>
                  <a:srgbClr val="4A4A52"/>
                </a:solidFill>
                <a:latin typeface="Segoe UI"/>
              </a:rPr>
              <a:t>An analyst pulls asset data, CVE ranges, host logs, configuration and packet metadata, joins them, and decides. Then does it again.</a:t>
            </a:r>
          </a:p>
        </p:txBody>
      </p:sp>
      <p:sp>
        <p:nvSpPr>
          <p:cNvPr id="15" name="Rounded Rectangle 14"/>
          <p:cNvSpPr/>
          <p:nvPr/>
        </p:nvSpPr>
        <p:spPr>
          <a:xfrm>
            <a:off x="777240" y="5358384"/>
            <a:ext cx="10607040" cy="1243584"/>
          </a:xfrm>
          <a:prstGeom prst="roundRect">
            <a:avLst>
              <a:gd name="adj" fmla="val 4000"/>
            </a:avLst>
          </a:prstGeom>
          <a:solidFill>
            <a:srgbClr val="FFF3E4"/>
          </a:solidFill>
          <a:ln w="12700">
            <a:solidFill>
              <a:srgbClr val="E2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5358384"/>
            <a:ext cx="50292" cy="1243584"/>
          </a:xfrm>
          <a:prstGeom prst="rect">
            <a:avLst/>
          </a:prstGeom>
          <a:solidFill>
            <a:srgbClr val="E25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5486400"/>
            <a:ext cx="10058400" cy="274320"/>
          </a:xfrm>
          <a:prstGeom prst="rect">
            <a:avLst/>
          </a:prstGeom>
          <a:noFill/>
        </p:spPr>
        <p:txBody>
          <a:bodyPr wrap="square" lIns="0" rIns="0" tIns="0" bIns="0">
            <a:spAutoFit/>
          </a:bodyPr>
          <a:lstStyle/>
          <a:p>
            <a:pPr algn="l">
              <a:lnSpc>
                <a:spcPct val="125000"/>
              </a:lnSpc>
              <a:spcAft>
                <a:spcPts val="600"/>
              </a:spcAft>
            </a:pPr>
            <a:r>
              <a:rPr sz="1200" b="1">
                <a:solidFill>
                  <a:srgbClr val="E2551F"/>
                </a:solidFill>
                <a:latin typeface="Segoe UI"/>
              </a:rPr>
              <a:t>WHY THIS NEEDS AN AGENT AND NOT A SCRIPT</a:t>
            </a:r>
          </a:p>
        </p:txBody>
      </p:sp>
      <p:sp>
        <p:nvSpPr>
          <p:cNvPr id="18" name="TextBox 17"/>
          <p:cNvSpPr txBox="1"/>
          <p:nvPr/>
        </p:nvSpPr>
        <p:spPr>
          <a:xfrm>
            <a:off x="1097280" y="5797296"/>
            <a:ext cx="10058400" cy="768096"/>
          </a:xfrm>
          <a:prstGeom prst="rect">
            <a:avLst/>
          </a:prstGeom>
          <a:noFill/>
        </p:spPr>
        <p:txBody>
          <a:bodyPr wrap="square" lIns="0" rIns="0" tIns="0" bIns="0">
            <a:spAutoFit/>
          </a:bodyPr>
          <a:lstStyle/>
          <a:p>
            <a:pPr algn="l">
              <a:lnSpc>
                <a:spcPct val="125000"/>
              </a:lnSpc>
              <a:spcAft>
                <a:spcPts val="600"/>
              </a:spcAft>
            </a:pPr>
            <a:r>
              <a:rPr sz="1300" b="0">
                <a:solidFill>
                  <a:srgbClr val="4A4A52"/>
                </a:solidFill>
                <a:latin typeface="Segoe UI"/>
              </a:rPr>
              <a:t>The evidence that settles one alert is not the evidence that settles the next, and what the agent finds changes what it should look at next. A script fixes that order in advance. Here the agent chooses each call, states why before making it, and re-plans when new evidence arrives mid-investigation.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8961120" cy="274320"/>
          </a:xfrm>
          <a:prstGeom prst="rect">
            <a:avLst/>
          </a:prstGeom>
          <a:noFill/>
        </p:spPr>
        <p:txBody>
          <a:bodyPr wrap="square" lIns="0" rIns="0" tIns="0" bIns="0">
            <a:spAutoFit/>
          </a:bodyPr>
          <a:lstStyle/>
          <a:p>
            <a:pPr algn="l">
              <a:lnSpc>
                <a:spcPct val="125000"/>
              </a:lnSpc>
              <a:spcAft>
                <a:spcPts val="600"/>
              </a:spcAft>
            </a:pPr>
            <a:r>
              <a:rPr sz="1200" b="1">
                <a:solidFill>
                  <a:srgbClr val="E2551F"/>
                </a:solidFill>
                <a:latin typeface="Segoe UI"/>
              </a:rPr>
              <a:t>AGENTIC ARCHITECTURE</a:t>
            </a:r>
          </a:p>
        </p:txBody>
      </p:sp>
      <p:sp>
        <p:nvSpPr>
          <p:cNvPr id="4" name="TextBox 3"/>
          <p:cNvSpPr txBox="1"/>
          <p:nvPr/>
        </p:nvSpPr>
        <p:spPr>
          <a:xfrm>
            <a:off x="777240" y="731520"/>
            <a:ext cx="9144000" cy="1024128"/>
          </a:xfrm>
          <a:prstGeom prst="rect">
            <a:avLst/>
          </a:prstGeom>
          <a:noFill/>
        </p:spPr>
        <p:txBody>
          <a:bodyPr wrap="square" lIns="0" rIns="0" tIns="0" bIns="0">
            <a:spAutoFit/>
          </a:bodyPr>
          <a:lstStyle/>
          <a:p>
            <a:pPr algn="l">
              <a:lnSpc>
                <a:spcPct val="125000"/>
              </a:lnSpc>
              <a:spcAft>
                <a:spcPts val="600"/>
              </a:spcAft>
            </a:pPr>
            <a:r>
              <a:rPr sz="2700" b="1">
                <a:solidFill>
                  <a:srgbClr val="1C1C1E"/>
                </a:solidFill>
                <a:latin typeface="Georgia"/>
              </a:rPr>
              <a:t>The agent picks its own path through the loop</a:t>
            </a:r>
          </a:p>
        </p:txBody>
      </p:sp>
      <p:sp>
        <p:nvSpPr>
          <p:cNvPr id="5" name="Rounded Rectangle 4"/>
          <p:cNvSpPr/>
          <p:nvPr/>
        </p:nvSpPr>
        <p:spPr>
          <a:xfrm>
            <a:off x="10040112" y="475488"/>
            <a:ext cx="1344168" cy="402336"/>
          </a:xfrm>
          <a:prstGeom prst="roundRect">
            <a:avLst/>
          </a:prstGeom>
          <a:solidFill>
            <a:srgbClr val="FFF3E4"/>
          </a:solidFill>
          <a:ln>
            <a:solidFill>
              <a:srgbClr val="E255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E2551F"/>
                </a:solidFill>
                <a:latin typeface="Segoe UI"/>
              </a:rPr>
              <a:t>25%</a:t>
            </a:r>
          </a:p>
        </p:txBody>
      </p:sp>
      <p:sp>
        <p:nvSpPr>
          <p:cNvPr id="6" name="Rounded Rectangle 5"/>
          <p:cNvSpPr/>
          <p:nvPr/>
        </p:nvSpPr>
        <p:spPr>
          <a:xfrm>
            <a:off x="777240" y="1783080"/>
            <a:ext cx="1591056" cy="1325880"/>
          </a:xfrm>
          <a:prstGeom prst="roundRect">
            <a:avLst>
              <a:gd name="adj" fmla="val 4000"/>
            </a:avLst>
          </a:prstGeom>
          <a:solidFill>
            <a:srgbClr val="FFFFFF"/>
          </a:solidFill>
          <a:ln w="12700">
            <a:solidFill>
              <a:srgbClr val="E2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05256" y="1938528"/>
            <a:ext cx="1335024" cy="274320"/>
          </a:xfrm>
          <a:prstGeom prst="rect">
            <a:avLst/>
          </a:prstGeom>
          <a:noFill/>
        </p:spPr>
        <p:txBody>
          <a:bodyPr wrap="square" lIns="0" rIns="0" tIns="0" bIns="0">
            <a:spAutoFit/>
          </a:bodyPr>
          <a:lstStyle/>
          <a:p>
            <a:pPr algn="ctr">
              <a:lnSpc>
                <a:spcPct val="125000"/>
              </a:lnSpc>
              <a:spcAft>
                <a:spcPts val="600"/>
              </a:spcAft>
            </a:pPr>
            <a:r>
              <a:rPr sz="1100" b="1">
                <a:solidFill>
                  <a:srgbClr val="1C1C1E"/>
                </a:solidFill>
                <a:latin typeface="Segoe UI"/>
              </a:rPr>
              <a:t>INGEST</a:t>
            </a:r>
          </a:p>
        </p:txBody>
      </p:sp>
      <p:sp>
        <p:nvSpPr>
          <p:cNvPr id="8" name="TextBox 7"/>
          <p:cNvSpPr txBox="1"/>
          <p:nvPr/>
        </p:nvSpPr>
        <p:spPr>
          <a:xfrm>
            <a:off x="905256" y="2267712"/>
            <a:ext cx="1335024" cy="685800"/>
          </a:xfrm>
          <a:prstGeom prst="rect">
            <a:avLst/>
          </a:prstGeom>
          <a:noFill/>
        </p:spPr>
        <p:txBody>
          <a:bodyPr wrap="square" lIns="0" rIns="0" tIns="0" bIns="0">
            <a:spAutoFit/>
          </a:bodyPr>
          <a:lstStyle/>
          <a:p>
            <a:pPr algn="ctr">
              <a:lnSpc>
                <a:spcPct val="125000"/>
              </a:lnSpc>
              <a:spcAft>
                <a:spcPts val="600"/>
              </a:spcAft>
            </a:pPr>
            <a:r>
              <a:rPr sz="1050" b="0">
                <a:solidFill>
                  <a:srgbClr val="4A4A52"/>
                </a:solidFill>
                <a:latin typeface="Segoe UI"/>
              </a:rPr>
              <a:t>an alert</a:t>
            </a:r>
          </a:p>
          <a:p>
            <a:pPr algn="ctr">
              <a:lnSpc>
                <a:spcPct val="125000"/>
              </a:lnSpc>
              <a:spcAft>
                <a:spcPts val="600"/>
              </a:spcAft>
            </a:pPr>
            <a:r>
              <a:rPr sz="1050" b="0">
                <a:solidFill>
                  <a:srgbClr val="4A4A52"/>
                </a:solidFill>
                <a:latin typeface="Segoe UI"/>
              </a:rPr>
              <a:t>opens a case</a:t>
            </a:r>
          </a:p>
        </p:txBody>
      </p:sp>
      <p:sp>
        <p:nvSpPr>
          <p:cNvPr id="9" name="TextBox 8"/>
          <p:cNvSpPr txBox="1"/>
          <p:nvPr/>
        </p:nvSpPr>
        <p:spPr>
          <a:xfrm>
            <a:off x="2377440" y="2286000"/>
            <a:ext cx="292608" cy="274320"/>
          </a:xfrm>
          <a:prstGeom prst="rect">
            <a:avLst/>
          </a:prstGeom>
          <a:noFill/>
        </p:spPr>
        <p:txBody>
          <a:bodyPr wrap="square" lIns="0" rIns="0" tIns="0" bIns="0">
            <a:spAutoFit/>
          </a:bodyPr>
          <a:lstStyle/>
          <a:p>
            <a:pPr algn="ctr">
              <a:lnSpc>
                <a:spcPct val="125000"/>
              </a:lnSpc>
              <a:spcAft>
                <a:spcPts val="600"/>
              </a:spcAft>
            </a:pPr>
            <a:r>
              <a:rPr sz="1700" b="1">
                <a:solidFill>
                  <a:srgbClr val="8A8A94"/>
                </a:solidFill>
                <a:latin typeface="Segoe UI"/>
              </a:rPr>
              <a:t>&gt;</a:t>
            </a:r>
          </a:p>
        </p:txBody>
      </p:sp>
      <p:sp>
        <p:nvSpPr>
          <p:cNvPr id="10" name="Rounded Rectangle 9"/>
          <p:cNvSpPr/>
          <p:nvPr/>
        </p:nvSpPr>
        <p:spPr>
          <a:xfrm>
            <a:off x="2569464" y="1783080"/>
            <a:ext cx="1591056" cy="1325880"/>
          </a:xfrm>
          <a:prstGeom prst="roundRect">
            <a:avLst>
              <a:gd name="adj" fmla="val 4000"/>
            </a:avLst>
          </a:prstGeom>
          <a:solidFill>
            <a:srgbClr val="FFFFFF"/>
          </a:solidFill>
          <a:ln w="12700">
            <a:solidFill>
              <a:srgbClr val="E2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569464" y="1783080"/>
            <a:ext cx="50292" cy="1325880"/>
          </a:xfrm>
          <a:prstGeom prst="rect">
            <a:avLst/>
          </a:prstGeom>
          <a:solidFill>
            <a:srgbClr val="E25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697480" y="1938528"/>
            <a:ext cx="1335024" cy="274320"/>
          </a:xfrm>
          <a:prstGeom prst="rect">
            <a:avLst/>
          </a:prstGeom>
          <a:noFill/>
        </p:spPr>
        <p:txBody>
          <a:bodyPr wrap="square" lIns="0" rIns="0" tIns="0" bIns="0">
            <a:spAutoFit/>
          </a:bodyPr>
          <a:lstStyle/>
          <a:p>
            <a:pPr algn="ctr">
              <a:lnSpc>
                <a:spcPct val="125000"/>
              </a:lnSpc>
              <a:spcAft>
                <a:spcPts val="600"/>
              </a:spcAft>
            </a:pPr>
            <a:r>
              <a:rPr sz="1100" b="1">
                <a:solidFill>
                  <a:srgbClr val="E2551F"/>
                </a:solidFill>
                <a:latin typeface="Segoe UI"/>
              </a:rPr>
              <a:t>HYPOTHESIZE</a:t>
            </a:r>
          </a:p>
        </p:txBody>
      </p:sp>
      <p:sp>
        <p:nvSpPr>
          <p:cNvPr id="13" name="TextBox 12"/>
          <p:cNvSpPr txBox="1"/>
          <p:nvPr/>
        </p:nvSpPr>
        <p:spPr>
          <a:xfrm>
            <a:off x="2697480" y="2267712"/>
            <a:ext cx="1335024" cy="685800"/>
          </a:xfrm>
          <a:prstGeom prst="rect">
            <a:avLst/>
          </a:prstGeom>
          <a:noFill/>
        </p:spPr>
        <p:txBody>
          <a:bodyPr wrap="square" lIns="0" rIns="0" tIns="0" bIns="0">
            <a:spAutoFit/>
          </a:bodyPr>
          <a:lstStyle/>
          <a:p>
            <a:pPr algn="ctr">
              <a:lnSpc>
                <a:spcPct val="125000"/>
              </a:lnSpc>
              <a:spcAft>
                <a:spcPts val="600"/>
              </a:spcAft>
            </a:pPr>
            <a:r>
              <a:rPr sz="1050" b="0">
                <a:solidFill>
                  <a:srgbClr val="4A4A52"/>
                </a:solidFill>
                <a:latin typeface="Segoe UI"/>
              </a:rPr>
              <a:t>what confirms?</a:t>
            </a:r>
          </a:p>
          <a:p>
            <a:pPr algn="ctr">
              <a:lnSpc>
                <a:spcPct val="125000"/>
              </a:lnSpc>
              <a:spcAft>
                <a:spcPts val="600"/>
              </a:spcAft>
            </a:pPr>
            <a:r>
              <a:rPr sz="1050" b="0">
                <a:solidFill>
                  <a:srgbClr val="4A4A52"/>
                </a:solidFill>
                <a:latin typeface="Segoe UI"/>
              </a:rPr>
              <a:t>what falsifies?</a:t>
            </a:r>
          </a:p>
        </p:txBody>
      </p:sp>
      <p:sp>
        <p:nvSpPr>
          <p:cNvPr id="14" name="TextBox 13"/>
          <p:cNvSpPr txBox="1"/>
          <p:nvPr/>
        </p:nvSpPr>
        <p:spPr>
          <a:xfrm>
            <a:off x="4169664" y="2286000"/>
            <a:ext cx="292608" cy="274320"/>
          </a:xfrm>
          <a:prstGeom prst="rect">
            <a:avLst/>
          </a:prstGeom>
          <a:noFill/>
        </p:spPr>
        <p:txBody>
          <a:bodyPr wrap="square" lIns="0" rIns="0" tIns="0" bIns="0">
            <a:spAutoFit/>
          </a:bodyPr>
          <a:lstStyle/>
          <a:p>
            <a:pPr algn="ctr">
              <a:lnSpc>
                <a:spcPct val="125000"/>
              </a:lnSpc>
              <a:spcAft>
                <a:spcPts val="600"/>
              </a:spcAft>
            </a:pPr>
            <a:r>
              <a:rPr sz="1700" b="1">
                <a:solidFill>
                  <a:srgbClr val="8A8A94"/>
                </a:solidFill>
                <a:latin typeface="Segoe UI"/>
              </a:rPr>
              <a:t>&gt;</a:t>
            </a:r>
          </a:p>
        </p:txBody>
      </p:sp>
      <p:sp>
        <p:nvSpPr>
          <p:cNvPr id="15" name="Rounded Rectangle 14"/>
          <p:cNvSpPr/>
          <p:nvPr/>
        </p:nvSpPr>
        <p:spPr>
          <a:xfrm>
            <a:off x="4361688" y="1783080"/>
            <a:ext cx="1591056" cy="1325880"/>
          </a:xfrm>
          <a:prstGeom prst="roundRect">
            <a:avLst>
              <a:gd name="adj" fmla="val 4000"/>
            </a:avLst>
          </a:prstGeom>
          <a:solidFill>
            <a:srgbClr val="FFFFFF"/>
          </a:solidFill>
          <a:ln w="12700">
            <a:solidFill>
              <a:srgbClr val="E2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9704" y="1938528"/>
            <a:ext cx="1335024" cy="274320"/>
          </a:xfrm>
          <a:prstGeom prst="rect">
            <a:avLst/>
          </a:prstGeom>
          <a:noFill/>
        </p:spPr>
        <p:txBody>
          <a:bodyPr wrap="square" lIns="0" rIns="0" tIns="0" bIns="0">
            <a:spAutoFit/>
          </a:bodyPr>
          <a:lstStyle/>
          <a:p>
            <a:pPr algn="ctr">
              <a:lnSpc>
                <a:spcPct val="125000"/>
              </a:lnSpc>
              <a:spcAft>
                <a:spcPts val="600"/>
              </a:spcAft>
            </a:pPr>
            <a:r>
              <a:rPr sz="1100" b="1">
                <a:solidFill>
                  <a:srgbClr val="1C1C1E"/>
                </a:solidFill>
                <a:latin typeface="Segoe UI"/>
              </a:rPr>
              <a:t>GATHER</a:t>
            </a:r>
          </a:p>
        </p:txBody>
      </p:sp>
      <p:sp>
        <p:nvSpPr>
          <p:cNvPr id="17" name="TextBox 16"/>
          <p:cNvSpPr txBox="1"/>
          <p:nvPr/>
        </p:nvSpPr>
        <p:spPr>
          <a:xfrm>
            <a:off x="4489704" y="2267712"/>
            <a:ext cx="1335024" cy="685800"/>
          </a:xfrm>
          <a:prstGeom prst="rect">
            <a:avLst/>
          </a:prstGeom>
          <a:noFill/>
        </p:spPr>
        <p:txBody>
          <a:bodyPr wrap="square" lIns="0" rIns="0" tIns="0" bIns="0">
            <a:spAutoFit/>
          </a:bodyPr>
          <a:lstStyle/>
          <a:p>
            <a:pPr algn="ctr">
              <a:lnSpc>
                <a:spcPct val="125000"/>
              </a:lnSpc>
              <a:spcAft>
                <a:spcPts val="600"/>
              </a:spcAft>
            </a:pPr>
            <a:r>
              <a:rPr sz="1050" b="0">
                <a:solidFill>
                  <a:srgbClr val="4A4A52"/>
                </a:solidFill>
                <a:latin typeface="Segoe UI"/>
              </a:rPr>
              <a:t>pick a tool,</a:t>
            </a:r>
          </a:p>
          <a:p>
            <a:pPr algn="ctr">
              <a:lnSpc>
                <a:spcPct val="125000"/>
              </a:lnSpc>
              <a:spcAft>
                <a:spcPts val="600"/>
              </a:spcAft>
            </a:pPr>
            <a:r>
              <a:rPr sz="1050" b="0">
                <a:solidFill>
                  <a:srgbClr val="4A4A52"/>
                </a:solidFill>
                <a:latin typeface="Segoe UI"/>
              </a:rPr>
              <a:t>say why, assess</a:t>
            </a:r>
          </a:p>
        </p:txBody>
      </p:sp>
      <p:sp>
        <p:nvSpPr>
          <p:cNvPr id="18" name="TextBox 17"/>
          <p:cNvSpPr txBox="1"/>
          <p:nvPr/>
        </p:nvSpPr>
        <p:spPr>
          <a:xfrm>
            <a:off x="5961888" y="2286000"/>
            <a:ext cx="292608" cy="274320"/>
          </a:xfrm>
          <a:prstGeom prst="rect">
            <a:avLst/>
          </a:prstGeom>
          <a:noFill/>
        </p:spPr>
        <p:txBody>
          <a:bodyPr wrap="square" lIns="0" rIns="0" tIns="0" bIns="0">
            <a:spAutoFit/>
          </a:bodyPr>
          <a:lstStyle/>
          <a:p>
            <a:pPr algn="ctr">
              <a:lnSpc>
                <a:spcPct val="125000"/>
              </a:lnSpc>
              <a:spcAft>
                <a:spcPts val="600"/>
              </a:spcAft>
            </a:pPr>
            <a:r>
              <a:rPr sz="1700" b="1">
                <a:solidFill>
                  <a:srgbClr val="8A8A94"/>
                </a:solidFill>
                <a:latin typeface="Segoe UI"/>
              </a:rPr>
              <a:t>&gt;</a:t>
            </a:r>
          </a:p>
        </p:txBody>
      </p:sp>
      <p:sp>
        <p:nvSpPr>
          <p:cNvPr id="19" name="Rounded Rectangle 18"/>
          <p:cNvSpPr/>
          <p:nvPr/>
        </p:nvSpPr>
        <p:spPr>
          <a:xfrm>
            <a:off x="6153912" y="1783080"/>
            <a:ext cx="1591056" cy="1325880"/>
          </a:xfrm>
          <a:prstGeom prst="roundRect">
            <a:avLst>
              <a:gd name="adj" fmla="val 4000"/>
            </a:avLst>
          </a:prstGeom>
          <a:solidFill>
            <a:srgbClr val="FFFFFF"/>
          </a:solidFill>
          <a:ln w="12700">
            <a:solidFill>
              <a:srgbClr val="E2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81928" y="1938528"/>
            <a:ext cx="1335024" cy="274320"/>
          </a:xfrm>
          <a:prstGeom prst="rect">
            <a:avLst/>
          </a:prstGeom>
          <a:noFill/>
        </p:spPr>
        <p:txBody>
          <a:bodyPr wrap="square" lIns="0" rIns="0" tIns="0" bIns="0">
            <a:spAutoFit/>
          </a:bodyPr>
          <a:lstStyle/>
          <a:p>
            <a:pPr algn="ctr">
              <a:lnSpc>
                <a:spcPct val="125000"/>
              </a:lnSpc>
              <a:spcAft>
                <a:spcPts val="600"/>
              </a:spcAft>
            </a:pPr>
            <a:r>
              <a:rPr sz="1100" b="1">
                <a:solidFill>
                  <a:srgbClr val="1C1C1E"/>
                </a:solidFill>
                <a:latin typeface="Segoe UI"/>
              </a:rPr>
              <a:t>DETERMINE</a:t>
            </a:r>
          </a:p>
        </p:txBody>
      </p:sp>
      <p:sp>
        <p:nvSpPr>
          <p:cNvPr id="21" name="TextBox 20"/>
          <p:cNvSpPr txBox="1"/>
          <p:nvPr/>
        </p:nvSpPr>
        <p:spPr>
          <a:xfrm>
            <a:off x="6281928" y="2267712"/>
            <a:ext cx="1335024" cy="685800"/>
          </a:xfrm>
          <a:prstGeom prst="rect">
            <a:avLst/>
          </a:prstGeom>
          <a:noFill/>
        </p:spPr>
        <p:txBody>
          <a:bodyPr wrap="square" lIns="0" rIns="0" tIns="0" bIns="0">
            <a:spAutoFit/>
          </a:bodyPr>
          <a:lstStyle/>
          <a:p>
            <a:pPr algn="ctr">
              <a:lnSpc>
                <a:spcPct val="125000"/>
              </a:lnSpc>
              <a:spcAft>
                <a:spcPts val="600"/>
              </a:spcAft>
            </a:pPr>
            <a:r>
              <a:rPr sz="1050" b="0">
                <a:solidFill>
                  <a:srgbClr val="4A4A52"/>
                </a:solidFill>
                <a:latin typeface="Segoe UI"/>
              </a:rPr>
              <a:t>declare evidence,</a:t>
            </a:r>
          </a:p>
          <a:p>
            <a:pPr algn="ctr">
              <a:lnSpc>
                <a:spcPct val="125000"/>
              </a:lnSpc>
              <a:spcAft>
                <a:spcPts val="600"/>
              </a:spcAft>
            </a:pPr>
            <a:r>
              <a:rPr sz="1050" b="0">
                <a:solidFill>
                  <a:srgbClr val="4A4A52"/>
                </a:solidFill>
                <a:latin typeface="Segoe UI"/>
              </a:rPr>
              <a:t>score it</a:t>
            </a:r>
          </a:p>
        </p:txBody>
      </p:sp>
      <p:sp>
        <p:nvSpPr>
          <p:cNvPr id="22" name="TextBox 21"/>
          <p:cNvSpPr txBox="1"/>
          <p:nvPr/>
        </p:nvSpPr>
        <p:spPr>
          <a:xfrm>
            <a:off x="7754112" y="2286000"/>
            <a:ext cx="292608" cy="274320"/>
          </a:xfrm>
          <a:prstGeom prst="rect">
            <a:avLst/>
          </a:prstGeom>
          <a:noFill/>
        </p:spPr>
        <p:txBody>
          <a:bodyPr wrap="square" lIns="0" rIns="0" tIns="0" bIns="0">
            <a:spAutoFit/>
          </a:bodyPr>
          <a:lstStyle/>
          <a:p>
            <a:pPr algn="ctr">
              <a:lnSpc>
                <a:spcPct val="125000"/>
              </a:lnSpc>
              <a:spcAft>
                <a:spcPts val="600"/>
              </a:spcAft>
            </a:pPr>
            <a:r>
              <a:rPr sz="1700" b="1">
                <a:solidFill>
                  <a:srgbClr val="8A8A94"/>
                </a:solidFill>
                <a:latin typeface="Segoe UI"/>
              </a:rPr>
              <a:t>&gt;</a:t>
            </a:r>
          </a:p>
        </p:txBody>
      </p:sp>
      <p:sp>
        <p:nvSpPr>
          <p:cNvPr id="23" name="Rounded Rectangle 22"/>
          <p:cNvSpPr/>
          <p:nvPr/>
        </p:nvSpPr>
        <p:spPr>
          <a:xfrm>
            <a:off x="7946136" y="1783080"/>
            <a:ext cx="1591056" cy="1325880"/>
          </a:xfrm>
          <a:prstGeom prst="roundRect">
            <a:avLst>
              <a:gd name="adj" fmla="val 4000"/>
            </a:avLst>
          </a:prstGeom>
          <a:solidFill>
            <a:srgbClr val="FFFFFF"/>
          </a:solidFill>
          <a:ln w="12700">
            <a:solidFill>
              <a:srgbClr val="E2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74152" y="1938528"/>
            <a:ext cx="1335024" cy="274320"/>
          </a:xfrm>
          <a:prstGeom prst="rect">
            <a:avLst/>
          </a:prstGeom>
          <a:noFill/>
        </p:spPr>
        <p:txBody>
          <a:bodyPr wrap="square" lIns="0" rIns="0" tIns="0" bIns="0">
            <a:spAutoFit/>
          </a:bodyPr>
          <a:lstStyle/>
          <a:p>
            <a:pPr algn="ctr">
              <a:lnSpc>
                <a:spcPct val="125000"/>
              </a:lnSpc>
              <a:spcAft>
                <a:spcPts val="600"/>
              </a:spcAft>
            </a:pPr>
            <a:r>
              <a:rPr sz="1100" b="1">
                <a:solidFill>
                  <a:srgbClr val="1C1C1E"/>
                </a:solidFill>
                <a:latin typeface="Segoe UI"/>
              </a:rPr>
              <a:t>ACT</a:t>
            </a:r>
          </a:p>
        </p:txBody>
      </p:sp>
      <p:sp>
        <p:nvSpPr>
          <p:cNvPr id="25" name="TextBox 24"/>
          <p:cNvSpPr txBox="1"/>
          <p:nvPr/>
        </p:nvSpPr>
        <p:spPr>
          <a:xfrm>
            <a:off x="8074152" y="2267712"/>
            <a:ext cx="1335024" cy="685800"/>
          </a:xfrm>
          <a:prstGeom prst="rect">
            <a:avLst/>
          </a:prstGeom>
          <a:noFill/>
        </p:spPr>
        <p:txBody>
          <a:bodyPr wrap="square" lIns="0" rIns="0" tIns="0" bIns="0">
            <a:spAutoFit/>
          </a:bodyPr>
          <a:lstStyle/>
          <a:p>
            <a:pPr algn="ctr">
              <a:lnSpc>
                <a:spcPct val="125000"/>
              </a:lnSpc>
              <a:spcAft>
                <a:spcPts val="600"/>
              </a:spcAft>
            </a:pPr>
            <a:r>
              <a:rPr sz="1050" b="0">
                <a:solidFill>
                  <a:srgbClr val="4A4A52"/>
                </a:solidFill>
                <a:latin typeface="Segoe UI"/>
              </a:rPr>
              <a:t>block, contain</a:t>
            </a:r>
          </a:p>
          <a:p>
            <a:pPr algn="ctr">
              <a:lnSpc>
                <a:spcPct val="125000"/>
              </a:lnSpc>
              <a:spcAft>
                <a:spcPts val="600"/>
              </a:spcAft>
            </a:pPr>
            <a:r>
              <a:rPr sz="1050" b="0">
                <a:solidFill>
                  <a:srgbClr val="4A4A52"/>
                </a:solidFill>
                <a:latin typeface="Segoe UI"/>
              </a:rPr>
              <a:t>or do nothing</a:t>
            </a:r>
          </a:p>
        </p:txBody>
      </p:sp>
      <p:sp>
        <p:nvSpPr>
          <p:cNvPr id="26" name="TextBox 25"/>
          <p:cNvSpPr txBox="1"/>
          <p:nvPr/>
        </p:nvSpPr>
        <p:spPr>
          <a:xfrm>
            <a:off x="9546336" y="2286000"/>
            <a:ext cx="292608" cy="274320"/>
          </a:xfrm>
          <a:prstGeom prst="rect">
            <a:avLst/>
          </a:prstGeom>
          <a:noFill/>
        </p:spPr>
        <p:txBody>
          <a:bodyPr wrap="square" lIns="0" rIns="0" tIns="0" bIns="0">
            <a:spAutoFit/>
          </a:bodyPr>
          <a:lstStyle/>
          <a:p>
            <a:pPr algn="ctr">
              <a:lnSpc>
                <a:spcPct val="125000"/>
              </a:lnSpc>
              <a:spcAft>
                <a:spcPts val="600"/>
              </a:spcAft>
            </a:pPr>
            <a:r>
              <a:rPr sz="1700" b="1">
                <a:solidFill>
                  <a:srgbClr val="8A8A94"/>
                </a:solidFill>
                <a:latin typeface="Segoe UI"/>
              </a:rPr>
              <a:t>&gt;</a:t>
            </a:r>
          </a:p>
        </p:txBody>
      </p:sp>
      <p:sp>
        <p:nvSpPr>
          <p:cNvPr id="27" name="Rounded Rectangle 26"/>
          <p:cNvSpPr/>
          <p:nvPr/>
        </p:nvSpPr>
        <p:spPr>
          <a:xfrm>
            <a:off x="9738360" y="1783080"/>
            <a:ext cx="1591056" cy="1325880"/>
          </a:xfrm>
          <a:prstGeom prst="roundRect">
            <a:avLst>
              <a:gd name="adj" fmla="val 4000"/>
            </a:avLst>
          </a:prstGeom>
          <a:solidFill>
            <a:srgbClr val="FFFFFF"/>
          </a:solidFill>
          <a:ln w="12700">
            <a:solidFill>
              <a:srgbClr val="E2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738360" y="1783080"/>
            <a:ext cx="50292" cy="1325880"/>
          </a:xfrm>
          <a:prstGeom prst="rect">
            <a:avLst/>
          </a:prstGeom>
          <a:solidFill>
            <a:srgbClr val="E25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866376" y="1938528"/>
            <a:ext cx="1335024" cy="274320"/>
          </a:xfrm>
          <a:prstGeom prst="rect">
            <a:avLst/>
          </a:prstGeom>
          <a:noFill/>
        </p:spPr>
        <p:txBody>
          <a:bodyPr wrap="square" lIns="0" rIns="0" tIns="0" bIns="0">
            <a:spAutoFit/>
          </a:bodyPr>
          <a:lstStyle/>
          <a:p>
            <a:pPr algn="ctr">
              <a:lnSpc>
                <a:spcPct val="125000"/>
              </a:lnSpc>
              <a:spcAft>
                <a:spcPts val="600"/>
              </a:spcAft>
            </a:pPr>
            <a:r>
              <a:rPr sz="1100" b="1">
                <a:solidFill>
                  <a:srgbClr val="E2551F"/>
                </a:solidFill>
                <a:latin typeface="Segoe UI"/>
              </a:rPr>
              <a:t>VERIFY</a:t>
            </a:r>
          </a:p>
        </p:txBody>
      </p:sp>
      <p:sp>
        <p:nvSpPr>
          <p:cNvPr id="30" name="TextBox 29"/>
          <p:cNvSpPr txBox="1"/>
          <p:nvPr/>
        </p:nvSpPr>
        <p:spPr>
          <a:xfrm>
            <a:off x="9866376" y="2267712"/>
            <a:ext cx="1335024" cy="685800"/>
          </a:xfrm>
          <a:prstGeom prst="rect">
            <a:avLst/>
          </a:prstGeom>
          <a:noFill/>
        </p:spPr>
        <p:txBody>
          <a:bodyPr wrap="square" lIns="0" rIns="0" tIns="0" bIns="0">
            <a:spAutoFit/>
          </a:bodyPr>
          <a:lstStyle/>
          <a:p>
            <a:pPr algn="ctr">
              <a:lnSpc>
                <a:spcPct val="125000"/>
              </a:lnSpc>
              <a:spcAft>
                <a:spcPts val="600"/>
              </a:spcAft>
            </a:pPr>
            <a:r>
              <a:rPr sz="1050" b="0">
                <a:solidFill>
                  <a:srgbClr val="4A4A52"/>
                </a:solidFill>
                <a:latin typeface="Segoe UI"/>
              </a:rPr>
              <a:t>re-read state</a:t>
            </a:r>
          </a:p>
          <a:p>
            <a:pPr algn="ctr">
              <a:lnSpc>
                <a:spcPct val="125000"/>
              </a:lnSpc>
              <a:spcAft>
                <a:spcPts val="600"/>
              </a:spcAft>
            </a:pPr>
            <a:r>
              <a:rPr sz="1050" b="0">
                <a:solidFill>
                  <a:srgbClr val="4A4A52"/>
                </a:solidFill>
                <a:latin typeface="Segoe UI"/>
              </a:rPr>
              <a:t>from disk</a:t>
            </a:r>
          </a:p>
        </p:txBody>
      </p:sp>
      <p:sp>
        <p:nvSpPr>
          <p:cNvPr id="31" name="TextBox 30"/>
          <p:cNvSpPr txBox="1"/>
          <p:nvPr/>
        </p:nvSpPr>
        <p:spPr>
          <a:xfrm>
            <a:off x="777240" y="3310128"/>
            <a:ext cx="10607040" cy="320040"/>
          </a:xfrm>
          <a:prstGeom prst="rect">
            <a:avLst/>
          </a:prstGeom>
          <a:noFill/>
        </p:spPr>
        <p:txBody>
          <a:bodyPr wrap="square" lIns="0" rIns="0" tIns="0" bIns="0">
            <a:spAutoFit/>
          </a:bodyPr>
          <a:lstStyle/>
          <a:p>
            <a:pPr algn="l">
              <a:lnSpc>
                <a:spcPct val="125000"/>
              </a:lnSpc>
              <a:spcAft>
                <a:spcPts val="600"/>
              </a:spcAft>
            </a:pPr>
            <a:r>
              <a:rPr sz="1600" b="1">
                <a:solidFill>
                  <a:srgbClr val="E2551F"/>
                </a:solidFill>
                <a:latin typeface="Segoe UI"/>
              </a:rPr>
              <a:t>reconsider() re-enters at HYPOTHESIZE, never at the verdict</a:t>
            </a:r>
          </a:p>
        </p:txBody>
      </p:sp>
      <p:sp>
        <p:nvSpPr>
          <p:cNvPr id="32" name="TextBox 31"/>
          <p:cNvSpPr txBox="1"/>
          <p:nvPr/>
        </p:nvSpPr>
        <p:spPr>
          <a:xfrm>
            <a:off x="777240" y="3657600"/>
            <a:ext cx="10607040" cy="548640"/>
          </a:xfrm>
          <a:prstGeom prst="rect">
            <a:avLst/>
          </a:prstGeom>
          <a:noFill/>
        </p:spPr>
        <p:txBody>
          <a:bodyPr wrap="square" lIns="0" rIns="0" tIns="0" bIns="0">
            <a:spAutoFit/>
          </a:bodyPr>
          <a:lstStyle/>
          <a:p>
            <a:pPr algn="l">
              <a:lnSpc>
                <a:spcPct val="125000"/>
              </a:lnSpc>
              <a:spcAft>
                <a:spcPts val="600"/>
              </a:spcAft>
            </a:pPr>
            <a:r>
              <a:rPr sz="1300" b="0">
                <a:solidFill>
                  <a:srgbClr val="4A4A52"/>
                </a:solidFill>
                <a:latin typeface="Segoe UI"/>
              </a:rPr>
              <a:t>New evidence, a tool failure and a human override all route through one function. It re-opens the case at the hypothesis stage so the agent gathers NEW evidence, instead of silently re-scoring what it already had.</a:t>
            </a:r>
          </a:p>
        </p:txBody>
      </p:sp>
      <p:sp>
        <p:nvSpPr>
          <p:cNvPr id="33" name="Rounded Rectangle 32"/>
          <p:cNvSpPr/>
          <p:nvPr/>
        </p:nvSpPr>
        <p:spPr>
          <a:xfrm>
            <a:off x="777240" y="4434840"/>
            <a:ext cx="5166360" cy="1783080"/>
          </a:xfrm>
          <a:prstGeom prst="roundRect">
            <a:avLst>
              <a:gd name="adj" fmla="val 4000"/>
            </a:avLst>
          </a:prstGeom>
          <a:solidFill>
            <a:srgbClr val="FFFFFF"/>
          </a:solidFill>
          <a:ln w="12700">
            <a:solidFill>
              <a:srgbClr val="E2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78992" y="4617720"/>
            <a:ext cx="4663440" cy="274320"/>
          </a:xfrm>
          <a:prstGeom prst="rect">
            <a:avLst/>
          </a:prstGeom>
          <a:noFill/>
        </p:spPr>
        <p:txBody>
          <a:bodyPr wrap="square" lIns="0" rIns="0" tIns="0" bIns="0">
            <a:spAutoFit/>
          </a:bodyPr>
          <a:lstStyle/>
          <a:p>
            <a:pPr algn="l">
              <a:lnSpc>
                <a:spcPct val="125000"/>
              </a:lnSpc>
              <a:spcAft>
                <a:spcPts val="600"/>
              </a:spcAft>
            </a:pPr>
            <a:r>
              <a:rPr sz="1100" b="1">
                <a:solidFill>
                  <a:srgbClr val="8A8A94"/>
                </a:solidFill>
                <a:latin typeface="Segoe UI"/>
              </a:rPr>
              <a:t>FRAMEWORK</a:t>
            </a:r>
          </a:p>
        </p:txBody>
      </p:sp>
      <p:sp>
        <p:nvSpPr>
          <p:cNvPr id="35" name="TextBox 34"/>
          <p:cNvSpPr txBox="1"/>
          <p:nvPr/>
        </p:nvSpPr>
        <p:spPr>
          <a:xfrm>
            <a:off x="1078992" y="4937760"/>
            <a:ext cx="4663440" cy="1188720"/>
          </a:xfrm>
          <a:prstGeom prst="rect">
            <a:avLst/>
          </a:prstGeom>
          <a:noFill/>
        </p:spPr>
        <p:txBody>
          <a:bodyPr wrap="square" lIns="0" rIns="0" tIns="0" bIns="0">
            <a:spAutoFit/>
          </a:bodyPr>
          <a:lstStyle/>
          <a:p>
            <a:pPr algn="l">
              <a:lnSpc>
                <a:spcPct val="125000"/>
              </a:lnSpc>
              <a:spcAft>
                <a:spcPts val="600"/>
              </a:spcAft>
            </a:pPr>
            <a:r>
              <a:rPr sz="1250" b="0">
                <a:solidFill>
                  <a:srgbClr val="4A4A52"/>
                </a:solidFill>
                <a:latin typeface="Segoe UI"/>
              </a:rPr>
              <a:t>No LangChain, no AutoGen. A hand-written tool-use loop on the model's native tool calling, so the reasoning trace is ours and every decision point is inspectable rather than hidden inside a framework.</a:t>
            </a:r>
          </a:p>
        </p:txBody>
      </p:sp>
      <p:sp>
        <p:nvSpPr>
          <p:cNvPr id="36" name="Rounded Rectangle 35"/>
          <p:cNvSpPr/>
          <p:nvPr/>
        </p:nvSpPr>
        <p:spPr>
          <a:xfrm>
            <a:off x="6217920" y="4434840"/>
            <a:ext cx="5166360" cy="1783080"/>
          </a:xfrm>
          <a:prstGeom prst="roundRect">
            <a:avLst>
              <a:gd name="adj" fmla="val 4000"/>
            </a:avLst>
          </a:prstGeom>
          <a:solidFill>
            <a:srgbClr val="FFFFFF"/>
          </a:solidFill>
          <a:ln w="12700">
            <a:solidFill>
              <a:srgbClr val="E2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19672" y="4617720"/>
            <a:ext cx="4663440" cy="274320"/>
          </a:xfrm>
          <a:prstGeom prst="rect">
            <a:avLst/>
          </a:prstGeom>
          <a:noFill/>
        </p:spPr>
        <p:txBody>
          <a:bodyPr wrap="square" lIns="0" rIns="0" tIns="0" bIns="0">
            <a:spAutoFit/>
          </a:bodyPr>
          <a:lstStyle/>
          <a:p>
            <a:pPr algn="l">
              <a:lnSpc>
                <a:spcPct val="125000"/>
              </a:lnSpc>
              <a:spcAft>
                <a:spcPts val="600"/>
              </a:spcAft>
            </a:pPr>
            <a:r>
              <a:rPr sz="1100" b="1">
                <a:solidFill>
                  <a:srgbClr val="8A8A94"/>
                </a:solidFill>
                <a:latin typeface="Segoe UI"/>
              </a:rPr>
              <a:t>THE MODEL CHOOSES</a:t>
            </a:r>
          </a:p>
        </p:txBody>
      </p:sp>
      <p:sp>
        <p:nvSpPr>
          <p:cNvPr id="38" name="TextBox 37"/>
          <p:cNvSpPr txBox="1"/>
          <p:nvPr/>
        </p:nvSpPr>
        <p:spPr>
          <a:xfrm>
            <a:off x="6519672" y="4937760"/>
            <a:ext cx="4663440" cy="1188720"/>
          </a:xfrm>
          <a:prstGeom prst="rect">
            <a:avLst/>
          </a:prstGeom>
          <a:noFill/>
        </p:spPr>
        <p:txBody>
          <a:bodyPr wrap="square" lIns="0" rIns="0" tIns="0" bIns="0">
            <a:spAutoFit/>
          </a:bodyPr>
          <a:lstStyle/>
          <a:p>
            <a:pPr algn="l">
              <a:lnSpc>
                <a:spcPct val="125000"/>
              </a:lnSpc>
              <a:spcAft>
                <a:spcPts val="600"/>
              </a:spcAft>
            </a:pPr>
            <a:r>
              <a:rPr sz="1250" b="0">
                <a:solidFill>
                  <a:srgbClr val="4A4A52"/>
                </a:solidFill>
                <a:latin typeface="Segoe UI"/>
              </a:rPr>
              <a:t>Which tool, in what order, and when it has enough to stop. Nothing about the sequence is scripted: measured across runs, the outcome is identical while the trajectory genuinely varies.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8961120" cy="274320"/>
          </a:xfrm>
          <a:prstGeom prst="rect">
            <a:avLst/>
          </a:prstGeom>
          <a:noFill/>
        </p:spPr>
        <p:txBody>
          <a:bodyPr wrap="square" lIns="0" rIns="0" tIns="0" bIns="0">
            <a:spAutoFit/>
          </a:bodyPr>
          <a:lstStyle/>
          <a:p>
            <a:pPr algn="l">
              <a:lnSpc>
                <a:spcPct val="125000"/>
              </a:lnSpc>
              <a:spcAft>
                <a:spcPts val="600"/>
              </a:spcAft>
            </a:pPr>
            <a:r>
              <a:rPr sz="1200" b="1">
                <a:solidFill>
                  <a:srgbClr val="E2551F"/>
                </a:solidFill>
                <a:latin typeface="Segoe UI"/>
              </a:rPr>
              <a:t>THE SANDBOX</a:t>
            </a:r>
          </a:p>
        </p:txBody>
      </p:sp>
      <p:sp>
        <p:nvSpPr>
          <p:cNvPr id="4" name="TextBox 3"/>
          <p:cNvSpPr txBox="1"/>
          <p:nvPr/>
        </p:nvSpPr>
        <p:spPr>
          <a:xfrm>
            <a:off x="777240" y="731520"/>
            <a:ext cx="9144000" cy="1024128"/>
          </a:xfrm>
          <a:prstGeom prst="rect">
            <a:avLst/>
          </a:prstGeom>
          <a:noFill/>
        </p:spPr>
        <p:txBody>
          <a:bodyPr wrap="square" lIns="0" rIns="0" tIns="0" bIns="0">
            <a:spAutoFit/>
          </a:bodyPr>
          <a:lstStyle/>
          <a:p>
            <a:pPr algn="l">
              <a:lnSpc>
                <a:spcPct val="125000"/>
              </a:lnSpc>
              <a:spcAft>
                <a:spcPts val="600"/>
              </a:spcAft>
            </a:pPr>
            <a:r>
              <a:rPr sz="2700" b="1">
                <a:solidFill>
                  <a:srgbClr val="1C1C1E"/>
                </a:solidFill>
                <a:latin typeface="Georgia"/>
              </a:rPr>
              <a:t>Eleven tools, and a boundary it cannot cross</a:t>
            </a:r>
          </a:p>
        </p:txBody>
      </p:sp>
      <p:sp>
        <p:nvSpPr>
          <p:cNvPr id="5" name="Rounded Rectangle 4"/>
          <p:cNvSpPr/>
          <p:nvPr/>
        </p:nvSpPr>
        <p:spPr>
          <a:xfrm>
            <a:off x="10040112" y="475488"/>
            <a:ext cx="1344168" cy="402336"/>
          </a:xfrm>
          <a:prstGeom prst="roundRect">
            <a:avLst/>
          </a:prstGeom>
          <a:solidFill>
            <a:srgbClr val="FFF3E4"/>
          </a:solidFill>
          <a:ln>
            <a:solidFill>
              <a:srgbClr val="E255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E2551F"/>
                </a:solidFill>
                <a:latin typeface="Segoe UI"/>
              </a:rPr>
              <a:t>15%</a:t>
            </a:r>
          </a:p>
        </p:txBody>
      </p:sp>
      <p:sp>
        <p:nvSpPr>
          <p:cNvPr id="6" name="Rounded Rectangle 5"/>
          <p:cNvSpPr/>
          <p:nvPr/>
        </p:nvSpPr>
        <p:spPr>
          <a:xfrm>
            <a:off x="777240" y="1783080"/>
            <a:ext cx="3401568" cy="3977639"/>
          </a:xfrm>
          <a:prstGeom prst="roundRect">
            <a:avLst>
              <a:gd name="adj" fmla="val 4000"/>
            </a:avLst>
          </a:prstGeom>
          <a:solidFill>
            <a:srgbClr val="FFFFFF"/>
          </a:solidFill>
          <a:ln w="12700">
            <a:solidFill>
              <a:srgbClr val="E2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33272" y="1965960"/>
            <a:ext cx="2889504" cy="274320"/>
          </a:xfrm>
          <a:prstGeom prst="rect">
            <a:avLst/>
          </a:prstGeom>
          <a:noFill/>
        </p:spPr>
        <p:txBody>
          <a:bodyPr wrap="square" lIns="0" rIns="0" tIns="0" bIns="0">
            <a:spAutoFit/>
          </a:bodyPr>
          <a:lstStyle/>
          <a:p>
            <a:pPr algn="l">
              <a:lnSpc>
                <a:spcPct val="125000"/>
              </a:lnSpc>
              <a:spcAft>
                <a:spcPts val="600"/>
              </a:spcAft>
            </a:pPr>
            <a:r>
              <a:rPr sz="1200" b="1">
                <a:solidFill>
                  <a:srgbClr val="0B6B44"/>
                </a:solidFill>
                <a:latin typeface="Segoe UI"/>
              </a:rPr>
              <a:t>CAN READ</a:t>
            </a:r>
          </a:p>
        </p:txBody>
      </p:sp>
      <p:sp>
        <p:nvSpPr>
          <p:cNvPr id="8" name="TextBox 7"/>
          <p:cNvSpPr txBox="1"/>
          <p:nvPr/>
        </p:nvSpPr>
        <p:spPr>
          <a:xfrm>
            <a:off x="1033272" y="2377440"/>
            <a:ext cx="2889504" cy="256032"/>
          </a:xfrm>
          <a:prstGeom prst="rect">
            <a:avLst/>
          </a:prstGeom>
          <a:noFill/>
        </p:spPr>
        <p:txBody>
          <a:bodyPr wrap="square" lIns="0" rIns="0" tIns="0" bIns="0">
            <a:spAutoFit/>
          </a:bodyPr>
          <a:lstStyle/>
          <a:p>
            <a:pPr algn="l">
              <a:lnSpc>
                <a:spcPct val="125000"/>
              </a:lnSpc>
              <a:spcAft>
                <a:spcPts val="600"/>
              </a:spcAft>
            </a:pPr>
            <a:r>
              <a:rPr sz="1250" b="0">
                <a:solidFill>
                  <a:srgbClr val="1C1C1E"/>
                </a:solidFill>
                <a:latin typeface="Consolas"/>
              </a:rPr>
              <a:t>get_alert</a:t>
            </a:r>
          </a:p>
        </p:txBody>
      </p:sp>
      <p:sp>
        <p:nvSpPr>
          <p:cNvPr id="9" name="TextBox 8"/>
          <p:cNvSpPr txBox="1"/>
          <p:nvPr/>
        </p:nvSpPr>
        <p:spPr>
          <a:xfrm>
            <a:off x="1033272" y="2670048"/>
            <a:ext cx="2889504" cy="256032"/>
          </a:xfrm>
          <a:prstGeom prst="rect">
            <a:avLst/>
          </a:prstGeom>
          <a:noFill/>
        </p:spPr>
        <p:txBody>
          <a:bodyPr wrap="square" lIns="0" rIns="0" tIns="0" bIns="0">
            <a:spAutoFit/>
          </a:bodyPr>
          <a:lstStyle/>
          <a:p>
            <a:pPr algn="l">
              <a:lnSpc>
                <a:spcPct val="125000"/>
              </a:lnSpc>
              <a:spcAft>
                <a:spcPts val="600"/>
              </a:spcAft>
            </a:pPr>
            <a:r>
              <a:rPr sz="1250" b="0">
                <a:solidFill>
                  <a:srgbClr val="1C1C1E"/>
                </a:solidFill>
                <a:latin typeface="Consolas"/>
              </a:rPr>
              <a:t>get_asset_info</a:t>
            </a:r>
          </a:p>
        </p:txBody>
      </p:sp>
      <p:sp>
        <p:nvSpPr>
          <p:cNvPr id="10" name="TextBox 9"/>
          <p:cNvSpPr txBox="1"/>
          <p:nvPr/>
        </p:nvSpPr>
        <p:spPr>
          <a:xfrm>
            <a:off x="1033272" y="2962656"/>
            <a:ext cx="2889504" cy="256032"/>
          </a:xfrm>
          <a:prstGeom prst="rect">
            <a:avLst/>
          </a:prstGeom>
          <a:noFill/>
        </p:spPr>
        <p:txBody>
          <a:bodyPr wrap="square" lIns="0" rIns="0" tIns="0" bIns="0">
            <a:spAutoFit/>
          </a:bodyPr>
          <a:lstStyle/>
          <a:p>
            <a:pPr algn="l">
              <a:lnSpc>
                <a:spcPct val="125000"/>
              </a:lnSpc>
              <a:spcAft>
                <a:spcPts val="600"/>
              </a:spcAft>
            </a:pPr>
            <a:r>
              <a:rPr sz="1250" b="0">
                <a:solidFill>
                  <a:srgbClr val="1C1C1E"/>
                </a:solidFill>
                <a:latin typeface="Consolas"/>
              </a:rPr>
              <a:t>get_vulnerabilities</a:t>
            </a:r>
          </a:p>
        </p:txBody>
      </p:sp>
      <p:sp>
        <p:nvSpPr>
          <p:cNvPr id="11" name="TextBox 10"/>
          <p:cNvSpPr txBox="1"/>
          <p:nvPr/>
        </p:nvSpPr>
        <p:spPr>
          <a:xfrm>
            <a:off x="1033272" y="3255264"/>
            <a:ext cx="2889504" cy="256032"/>
          </a:xfrm>
          <a:prstGeom prst="rect">
            <a:avLst/>
          </a:prstGeom>
          <a:noFill/>
        </p:spPr>
        <p:txBody>
          <a:bodyPr wrap="square" lIns="0" rIns="0" tIns="0" bIns="0">
            <a:spAutoFit/>
          </a:bodyPr>
          <a:lstStyle/>
          <a:p>
            <a:pPr algn="l">
              <a:lnSpc>
                <a:spcPct val="125000"/>
              </a:lnSpc>
              <a:spcAft>
                <a:spcPts val="600"/>
              </a:spcAft>
            </a:pPr>
            <a:r>
              <a:rPr sz="1250" b="0">
                <a:solidFill>
                  <a:srgbClr val="1C1C1E"/>
                </a:solidFill>
                <a:latin typeface="Consolas"/>
              </a:rPr>
              <a:t>get_configuration</a:t>
            </a:r>
          </a:p>
        </p:txBody>
      </p:sp>
      <p:sp>
        <p:nvSpPr>
          <p:cNvPr id="12" name="TextBox 11"/>
          <p:cNvSpPr txBox="1"/>
          <p:nvPr/>
        </p:nvSpPr>
        <p:spPr>
          <a:xfrm>
            <a:off x="1033272" y="3547872"/>
            <a:ext cx="2889504" cy="256032"/>
          </a:xfrm>
          <a:prstGeom prst="rect">
            <a:avLst/>
          </a:prstGeom>
          <a:noFill/>
        </p:spPr>
        <p:txBody>
          <a:bodyPr wrap="square" lIns="0" rIns="0" tIns="0" bIns="0">
            <a:spAutoFit/>
          </a:bodyPr>
          <a:lstStyle/>
          <a:p>
            <a:pPr algn="l">
              <a:lnSpc>
                <a:spcPct val="125000"/>
              </a:lnSpc>
              <a:spcAft>
                <a:spcPts val="600"/>
              </a:spcAft>
            </a:pPr>
            <a:r>
              <a:rPr sz="1250" b="0">
                <a:solidFill>
                  <a:srgbClr val="1C1C1E"/>
                </a:solidFill>
                <a:latin typeface="Consolas"/>
              </a:rPr>
              <a:t>get_server_logs</a:t>
            </a:r>
          </a:p>
        </p:txBody>
      </p:sp>
      <p:sp>
        <p:nvSpPr>
          <p:cNvPr id="13" name="TextBox 12"/>
          <p:cNvSpPr txBox="1"/>
          <p:nvPr/>
        </p:nvSpPr>
        <p:spPr>
          <a:xfrm>
            <a:off x="1033272" y="3840480"/>
            <a:ext cx="2889504" cy="256032"/>
          </a:xfrm>
          <a:prstGeom prst="rect">
            <a:avLst/>
          </a:prstGeom>
          <a:noFill/>
        </p:spPr>
        <p:txBody>
          <a:bodyPr wrap="square" lIns="0" rIns="0" tIns="0" bIns="0">
            <a:spAutoFit/>
          </a:bodyPr>
          <a:lstStyle/>
          <a:p>
            <a:pPr algn="l">
              <a:lnSpc>
                <a:spcPct val="125000"/>
              </a:lnSpc>
              <a:spcAft>
                <a:spcPts val="600"/>
              </a:spcAft>
            </a:pPr>
            <a:r>
              <a:rPr sz="1250" b="0">
                <a:solidFill>
                  <a:srgbClr val="1C1C1E"/>
                </a:solidFill>
                <a:latin typeface="Consolas"/>
              </a:rPr>
              <a:t>get_packet_metadata</a:t>
            </a:r>
          </a:p>
        </p:txBody>
      </p:sp>
      <p:sp>
        <p:nvSpPr>
          <p:cNvPr id="14" name="TextBox 13"/>
          <p:cNvSpPr txBox="1"/>
          <p:nvPr/>
        </p:nvSpPr>
        <p:spPr>
          <a:xfrm>
            <a:off x="1033272" y="4133088"/>
            <a:ext cx="2889504" cy="256032"/>
          </a:xfrm>
          <a:prstGeom prst="rect">
            <a:avLst/>
          </a:prstGeom>
          <a:noFill/>
        </p:spPr>
        <p:txBody>
          <a:bodyPr wrap="square" lIns="0" rIns="0" tIns="0" bIns="0">
            <a:spAutoFit/>
          </a:bodyPr>
          <a:lstStyle/>
          <a:p>
            <a:pPr algn="l">
              <a:lnSpc>
                <a:spcPct val="125000"/>
              </a:lnSpc>
              <a:spcAft>
                <a:spcPts val="600"/>
              </a:spcAft>
            </a:pPr>
            <a:r>
              <a:rPr sz="1250" b="0">
                <a:solidFill>
                  <a:srgbClr val="1C1C1E"/>
                </a:solidFill>
                <a:latin typeface="Consolas"/>
              </a:rPr>
              <a:t>get_related_alerts</a:t>
            </a:r>
          </a:p>
        </p:txBody>
      </p:sp>
      <p:sp>
        <p:nvSpPr>
          <p:cNvPr id="15" name="TextBox 14"/>
          <p:cNvSpPr txBox="1"/>
          <p:nvPr/>
        </p:nvSpPr>
        <p:spPr>
          <a:xfrm>
            <a:off x="1033272" y="4425696"/>
            <a:ext cx="2889504" cy="256032"/>
          </a:xfrm>
          <a:prstGeom prst="rect">
            <a:avLst/>
          </a:prstGeom>
          <a:noFill/>
        </p:spPr>
        <p:txBody>
          <a:bodyPr wrap="square" lIns="0" rIns="0" tIns="0" bIns="0">
            <a:spAutoFit/>
          </a:bodyPr>
          <a:lstStyle/>
          <a:p>
            <a:pPr algn="l">
              <a:lnSpc>
                <a:spcPct val="125000"/>
              </a:lnSpc>
              <a:spcAft>
                <a:spcPts val="600"/>
              </a:spcAft>
            </a:pPr>
            <a:r>
              <a:rPr sz="1250" b="0">
                <a:solidFill>
                  <a:srgbClr val="1C1C1E"/>
                </a:solidFill>
                <a:latin typeface="Consolas"/>
              </a:rPr>
              <a:t>check_firewall_state</a:t>
            </a:r>
          </a:p>
        </p:txBody>
      </p:sp>
      <p:sp>
        <p:nvSpPr>
          <p:cNvPr id="16" name="TextBox 15"/>
          <p:cNvSpPr txBox="1"/>
          <p:nvPr/>
        </p:nvSpPr>
        <p:spPr>
          <a:xfrm>
            <a:off x="1033272" y="4773168"/>
            <a:ext cx="2889504" cy="932688"/>
          </a:xfrm>
          <a:prstGeom prst="rect">
            <a:avLst/>
          </a:prstGeom>
          <a:noFill/>
        </p:spPr>
        <p:txBody>
          <a:bodyPr wrap="square" lIns="0" rIns="0" tIns="0" bIns="0">
            <a:spAutoFit/>
          </a:bodyPr>
          <a:lstStyle/>
          <a:p>
            <a:pPr algn="l">
              <a:lnSpc>
                <a:spcPct val="125000"/>
              </a:lnSpc>
              <a:spcAft>
                <a:spcPts val="600"/>
              </a:spcAft>
            </a:pPr>
            <a:r>
              <a:rPr sz="1150" b="0">
                <a:solidFill>
                  <a:srgbClr val="8A8A94"/>
                </a:solidFill>
                <a:latin typeface="Segoe UI"/>
              </a:rPr>
              <a:t>Flat JSON fixtures a judge can open and read.</a:t>
            </a:r>
          </a:p>
        </p:txBody>
      </p:sp>
      <p:sp>
        <p:nvSpPr>
          <p:cNvPr id="17" name="Rounded Rectangle 16"/>
          <p:cNvSpPr/>
          <p:nvPr/>
        </p:nvSpPr>
        <p:spPr>
          <a:xfrm>
            <a:off x="4379976" y="1783080"/>
            <a:ext cx="3401568" cy="3977639"/>
          </a:xfrm>
          <a:prstGeom prst="roundRect">
            <a:avLst>
              <a:gd name="adj" fmla="val 4000"/>
            </a:avLst>
          </a:prstGeom>
          <a:solidFill>
            <a:srgbClr val="FFFFFF"/>
          </a:solidFill>
          <a:ln w="12700">
            <a:solidFill>
              <a:srgbClr val="E2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36008" y="1965960"/>
            <a:ext cx="2889504" cy="274320"/>
          </a:xfrm>
          <a:prstGeom prst="rect">
            <a:avLst/>
          </a:prstGeom>
          <a:noFill/>
        </p:spPr>
        <p:txBody>
          <a:bodyPr wrap="square" lIns="0" rIns="0" tIns="0" bIns="0">
            <a:spAutoFit/>
          </a:bodyPr>
          <a:lstStyle/>
          <a:p>
            <a:pPr algn="l">
              <a:lnSpc>
                <a:spcPct val="125000"/>
              </a:lnSpc>
              <a:spcAft>
                <a:spcPts val="600"/>
              </a:spcAft>
            </a:pPr>
            <a:r>
              <a:rPr sz="1200" b="1">
                <a:solidFill>
                  <a:srgbClr val="A82D16"/>
                </a:solidFill>
                <a:latin typeface="Segoe UI"/>
              </a:rPr>
              <a:t>CAN ACT</a:t>
            </a:r>
          </a:p>
        </p:txBody>
      </p:sp>
      <p:sp>
        <p:nvSpPr>
          <p:cNvPr id="19" name="TextBox 18"/>
          <p:cNvSpPr txBox="1"/>
          <p:nvPr/>
        </p:nvSpPr>
        <p:spPr>
          <a:xfrm>
            <a:off x="4636008" y="2377440"/>
            <a:ext cx="2889504" cy="256032"/>
          </a:xfrm>
          <a:prstGeom prst="rect">
            <a:avLst/>
          </a:prstGeom>
          <a:noFill/>
        </p:spPr>
        <p:txBody>
          <a:bodyPr wrap="square" lIns="0" rIns="0" tIns="0" bIns="0">
            <a:spAutoFit/>
          </a:bodyPr>
          <a:lstStyle/>
          <a:p>
            <a:pPr algn="l">
              <a:lnSpc>
                <a:spcPct val="125000"/>
              </a:lnSpc>
              <a:spcAft>
                <a:spcPts val="600"/>
              </a:spcAft>
            </a:pPr>
            <a:r>
              <a:rPr sz="1250" b="0">
                <a:solidFill>
                  <a:srgbClr val="1C1C1E"/>
                </a:solidFill>
                <a:latin typeface="Consolas"/>
              </a:rPr>
              <a:t>block_ip</a:t>
            </a:r>
          </a:p>
        </p:txBody>
      </p:sp>
      <p:sp>
        <p:nvSpPr>
          <p:cNvPr id="20" name="TextBox 19"/>
          <p:cNvSpPr txBox="1"/>
          <p:nvPr/>
        </p:nvSpPr>
        <p:spPr>
          <a:xfrm>
            <a:off x="4636008" y="2670048"/>
            <a:ext cx="2889504" cy="256032"/>
          </a:xfrm>
          <a:prstGeom prst="rect">
            <a:avLst/>
          </a:prstGeom>
          <a:noFill/>
        </p:spPr>
        <p:txBody>
          <a:bodyPr wrap="square" lIns="0" rIns="0" tIns="0" bIns="0">
            <a:spAutoFit/>
          </a:bodyPr>
          <a:lstStyle/>
          <a:p>
            <a:pPr algn="l">
              <a:lnSpc>
                <a:spcPct val="125000"/>
              </a:lnSpc>
              <a:spcAft>
                <a:spcPts val="600"/>
              </a:spcAft>
            </a:pPr>
            <a:r>
              <a:rPr sz="1250" b="0">
                <a:solidFill>
                  <a:srgbClr val="1C1C1E"/>
                </a:solidFill>
                <a:latin typeface="Consolas"/>
              </a:rPr>
              <a:t>unblock_ip</a:t>
            </a:r>
          </a:p>
        </p:txBody>
      </p:sp>
      <p:sp>
        <p:nvSpPr>
          <p:cNvPr id="21" name="TextBox 20"/>
          <p:cNvSpPr txBox="1"/>
          <p:nvPr/>
        </p:nvSpPr>
        <p:spPr>
          <a:xfrm>
            <a:off x="4636008" y="4773168"/>
            <a:ext cx="2889504" cy="932688"/>
          </a:xfrm>
          <a:prstGeom prst="rect">
            <a:avLst/>
          </a:prstGeom>
          <a:noFill/>
        </p:spPr>
        <p:txBody>
          <a:bodyPr wrap="square" lIns="0" rIns="0" tIns="0" bIns="0">
            <a:spAutoFit/>
          </a:bodyPr>
          <a:lstStyle/>
          <a:p>
            <a:pPr algn="l">
              <a:lnSpc>
                <a:spcPct val="125000"/>
              </a:lnSpc>
              <a:spcAft>
                <a:spcPts val="600"/>
              </a:spcAft>
            </a:pPr>
            <a:r>
              <a:rPr sz="1150" b="0">
                <a:solidFill>
                  <a:srgbClr val="8A8A94"/>
                </a:solidFill>
                <a:latin typeface="Segoe UI"/>
              </a:rPr>
              <a:t>Both mutate firewall_state.json. check_firewall_state reads it back from disk, which is what makes verification real.</a:t>
            </a:r>
          </a:p>
        </p:txBody>
      </p:sp>
      <p:sp>
        <p:nvSpPr>
          <p:cNvPr id="22" name="Rounded Rectangle 21"/>
          <p:cNvSpPr/>
          <p:nvPr/>
        </p:nvSpPr>
        <p:spPr>
          <a:xfrm>
            <a:off x="7982712" y="1783080"/>
            <a:ext cx="3401568" cy="3977639"/>
          </a:xfrm>
          <a:prstGeom prst="roundRect">
            <a:avLst>
              <a:gd name="adj" fmla="val 4000"/>
            </a:avLst>
          </a:prstGeom>
          <a:solidFill>
            <a:srgbClr val="FBF1EC"/>
          </a:solidFill>
          <a:ln w="12700">
            <a:solidFill>
              <a:srgbClr val="E2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38744" y="1965960"/>
            <a:ext cx="2889504" cy="274320"/>
          </a:xfrm>
          <a:prstGeom prst="rect">
            <a:avLst/>
          </a:prstGeom>
          <a:noFill/>
        </p:spPr>
        <p:txBody>
          <a:bodyPr wrap="square" lIns="0" rIns="0" tIns="0" bIns="0">
            <a:spAutoFit/>
          </a:bodyPr>
          <a:lstStyle/>
          <a:p>
            <a:pPr algn="l">
              <a:lnSpc>
                <a:spcPct val="125000"/>
              </a:lnSpc>
              <a:spcAft>
                <a:spcPts val="600"/>
              </a:spcAft>
            </a:pPr>
            <a:r>
              <a:rPr sz="1200" b="1">
                <a:solidFill>
                  <a:srgbClr val="8A8A94"/>
                </a:solidFill>
                <a:latin typeface="Segoe UI"/>
              </a:rPr>
              <a:t>CANNOT REACH</a:t>
            </a:r>
          </a:p>
        </p:txBody>
      </p:sp>
      <p:sp>
        <p:nvSpPr>
          <p:cNvPr id="24" name="TextBox 23"/>
          <p:cNvSpPr txBox="1"/>
          <p:nvPr/>
        </p:nvSpPr>
        <p:spPr>
          <a:xfrm>
            <a:off x="8238744" y="2377440"/>
            <a:ext cx="2889504" cy="256032"/>
          </a:xfrm>
          <a:prstGeom prst="rect">
            <a:avLst/>
          </a:prstGeom>
          <a:noFill/>
        </p:spPr>
        <p:txBody>
          <a:bodyPr wrap="square" lIns="0" rIns="0" tIns="0" bIns="0">
            <a:spAutoFit/>
          </a:bodyPr>
          <a:lstStyle/>
          <a:p>
            <a:pPr algn="l">
              <a:lnSpc>
                <a:spcPct val="125000"/>
              </a:lnSpc>
              <a:spcAft>
                <a:spcPts val="600"/>
              </a:spcAft>
            </a:pPr>
            <a:r>
              <a:rPr sz="1250" b="0">
                <a:solidFill>
                  <a:srgbClr val="1C1C1E"/>
                </a:solidFill>
                <a:latin typeface="Segoe UI"/>
              </a:rPr>
              <a:t>real hosts</a:t>
            </a:r>
          </a:p>
        </p:txBody>
      </p:sp>
      <p:sp>
        <p:nvSpPr>
          <p:cNvPr id="25" name="TextBox 24"/>
          <p:cNvSpPr txBox="1"/>
          <p:nvPr/>
        </p:nvSpPr>
        <p:spPr>
          <a:xfrm>
            <a:off x="8238744" y="2670048"/>
            <a:ext cx="2889504" cy="256032"/>
          </a:xfrm>
          <a:prstGeom prst="rect">
            <a:avLst/>
          </a:prstGeom>
          <a:noFill/>
        </p:spPr>
        <p:txBody>
          <a:bodyPr wrap="square" lIns="0" rIns="0" tIns="0" bIns="0">
            <a:spAutoFit/>
          </a:bodyPr>
          <a:lstStyle/>
          <a:p>
            <a:pPr algn="l">
              <a:lnSpc>
                <a:spcPct val="125000"/>
              </a:lnSpc>
              <a:spcAft>
                <a:spcPts val="600"/>
              </a:spcAft>
            </a:pPr>
            <a:r>
              <a:rPr sz="1250" b="0">
                <a:solidFill>
                  <a:srgbClr val="1C1C1E"/>
                </a:solidFill>
                <a:latin typeface="Segoe UI"/>
              </a:rPr>
              <a:t>credentials</a:t>
            </a:r>
          </a:p>
        </p:txBody>
      </p:sp>
      <p:sp>
        <p:nvSpPr>
          <p:cNvPr id="26" name="TextBox 25"/>
          <p:cNvSpPr txBox="1"/>
          <p:nvPr/>
        </p:nvSpPr>
        <p:spPr>
          <a:xfrm>
            <a:off x="8238744" y="2962656"/>
            <a:ext cx="2889504" cy="256032"/>
          </a:xfrm>
          <a:prstGeom prst="rect">
            <a:avLst/>
          </a:prstGeom>
          <a:noFill/>
        </p:spPr>
        <p:txBody>
          <a:bodyPr wrap="square" lIns="0" rIns="0" tIns="0" bIns="0">
            <a:spAutoFit/>
          </a:bodyPr>
          <a:lstStyle/>
          <a:p>
            <a:pPr algn="l">
              <a:lnSpc>
                <a:spcPct val="125000"/>
              </a:lnSpc>
              <a:spcAft>
                <a:spcPts val="600"/>
              </a:spcAft>
            </a:pPr>
            <a:r>
              <a:rPr sz="1250" b="0">
                <a:solidFill>
                  <a:srgbClr val="1C1C1E"/>
                </a:solidFill>
                <a:latin typeface="Segoe UI"/>
              </a:rPr>
              <a:t>live network traffic</a:t>
            </a:r>
          </a:p>
        </p:txBody>
      </p:sp>
      <p:sp>
        <p:nvSpPr>
          <p:cNvPr id="27" name="TextBox 26"/>
          <p:cNvSpPr txBox="1"/>
          <p:nvPr/>
        </p:nvSpPr>
        <p:spPr>
          <a:xfrm>
            <a:off x="8238744" y="3255264"/>
            <a:ext cx="2889504" cy="256032"/>
          </a:xfrm>
          <a:prstGeom prst="rect">
            <a:avLst/>
          </a:prstGeom>
          <a:noFill/>
        </p:spPr>
        <p:txBody>
          <a:bodyPr wrap="square" lIns="0" rIns="0" tIns="0" bIns="0">
            <a:spAutoFit/>
          </a:bodyPr>
          <a:lstStyle/>
          <a:p>
            <a:pPr algn="l">
              <a:lnSpc>
                <a:spcPct val="125000"/>
              </a:lnSpc>
              <a:spcAft>
                <a:spcPts val="600"/>
              </a:spcAft>
            </a:pPr>
            <a:r>
              <a:rPr sz="1250" b="0">
                <a:solidFill>
                  <a:srgbClr val="1C1C1E"/>
                </a:solidFill>
                <a:latin typeface="Segoe UI"/>
              </a:rPr>
              <a:t>any outbound call</a:t>
            </a:r>
          </a:p>
        </p:txBody>
      </p:sp>
      <p:sp>
        <p:nvSpPr>
          <p:cNvPr id="28" name="TextBox 27"/>
          <p:cNvSpPr txBox="1"/>
          <p:nvPr/>
        </p:nvSpPr>
        <p:spPr>
          <a:xfrm>
            <a:off x="8238744" y="3547872"/>
            <a:ext cx="2889504" cy="256032"/>
          </a:xfrm>
          <a:prstGeom prst="rect">
            <a:avLst/>
          </a:prstGeom>
          <a:noFill/>
        </p:spPr>
        <p:txBody>
          <a:bodyPr wrap="square" lIns="0" rIns="0" tIns="0" bIns="0">
            <a:spAutoFit/>
          </a:bodyPr>
          <a:lstStyle/>
          <a:p>
            <a:pPr algn="l">
              <a:lnSpc>
                <a:spcPct val="125000"/>
              </a:lnSpc>
              <a:spcAft>
                <a:spcPts val="600"/>
              </a:spcAft>
            </a:pPr>
            <a:r>
              <a:rPr sz="1250" b="0">
                <a:solidFill>
                  <a:srgbClr val="1C1C1E"/>
                </a:solidFill>
                <a:latin typeface="Segoe UI"/>
              </a:rPr>
              <a:t>the pristine seed fixtures</a:t>
            </a:r>
          </a:p>
        </p:txBody>
      </p:sp>
      <p:sp>
        <p:nvSpPr>
          <p:cNvPr id="29" name="TextBox 28"/>
          <p:cNvSpPr txBox="1"/>
          <p:nvPr/>
        </p:nvSpPr>
        <p:spPr>
          <a:xfrm>
            <a:off x="8238744" y="4773168"/>
            <a:ext cx="2889504" cy="932688"/>
          </a:xfrm>
          <a:prstGeom prst="rect">
            <a:avLst/>
          </a:prstGeom>
          <a:noFill/>
        </p:spPr>
        <p:txBody>
          <a:bodyPr wrap="square" lIns="0" rIns="0" tIns="0" bIns="0">
            <a:spAutoFit/>
          </a:bodyPr>
          <a:lstStyle/>
          <a:p>
            <a:pPr algn="l">
              <a:lnSpc>
                <a:spcPct val="125000"/>
              </a:lnSpc>
              <a:spcAft>
                <a:spcPts val="600"/>
              </a:spcAft>
            </a:pPr>
            <a:r>
              <a:rPr sz="1150" b="0">
                <a:solidFill>
                  <a:srgbClr val="8A8A94"/>
                </a:solidFill>
                <a:latin typeface="Segoe UI"/>
              </a:rPr>
              <a:t>Every hostname, IP, account and log line is synthetic.</a:t>
            </a:r>
          </a:p>
        </p:txBody>
      </p:sp>
      <p:sp>
        <p:nvSpPr>
          <p:cNvPr id="30" name="TextBox 29"/>
          <p:cNvSpPr txBox="1"/>
          <p:nvPr/>
        </p:nvSpPr>
        <p:spPr>
          <a:xfrm>
            <a:off x="777240" y="5943600"/>
            <a:ext cx="10607040" cy="502920"/>
          </a:xfrm>
          <a:prstGeom prst="rect">
            <a:avLst/>
          </a:prstGeom>
          <a:noFill/>
        </p:spPr>
        <p:txBody>
          <a:bodyPr wrap="square" lIns="0" rIns="0" tIns="0" bIns="0">
            <a:spAutoFit/>
          </a:bodyPr>
          <a:lstStyle/>
          <a:p>
            <a:pPr algn="l">
              <a:lnSpc>
                <a:spcPct val="125000"/>
              </a:lnSpc>
              <a:spcAft>
                <a:spcPts val="600"/>
              </a:spcAft>
            </a:pPr>
            <a:r>
              <a:rPr sz="1300" b="0">
                <a:solidFill>
                  <a:srgbClr val="4A4A52"/>
                </a:solidFill>
                <a:latin typeface="Segoe UI"/>
              </a:rPr>
              <a:t>The eleventh is submit_assessment: not a read and not an action, but how the agent declares what it found. It is the one tool that can refuse.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8961120" cy="274320"/>
          </a:xfrm>
          <a:prstGeom prst="rect">
            <a:avLst/>
          </a:prstGeom>
          <a:noFill/>
        </p:spPr>
        <p:txBody>
          <a:bodyPr wrap="square" lIns="0" rIns="0" tIns="0" bIns="0">
            <a:spAutoFit/>
          </a:bodyPr>
          <a:lstStyle/>
          <a:p>
            <a:pPr algn="l">
              <a:lnSpc>
                <a:spcPct val="125000"/>
              </a:lnSpc>
              <a:spcAft>
                <a:spcPts val="600"/>
              </a:spcAft>
            </a:pPr>
            <a:r>
              <a:rPr sz="1200" b="1">
                <a:solidFill>
                  <a:srgbClr val="E2551F"/>
                </a:solidFill>
                <a:latin typeface="Segoe UI"/>
              </a:rPr>
              <a:t>SELF-CORRECTION</a:t>
            </a:r>
          </a:p>
        </p:txBody>
      </p:sp>
      <p:sp>
        <p:nvSpPr>
          <p:cNvPr id="4" name="TextBox 3"/>
          <p:cNvSpPr txBox="1"/>
          <p:nvPr/>
        </p:nvSpPr>
        <p:spPr>
          <a:xfrm>
            <a:off x="777240" y="731520"/>
            <a:ext cx="9144000" cy="1024128"/>
          </a:xfrm>
          <a:prstGeom prst="rect">
            <a:avLst/>
          </a:prstGeom>
          <a:noFill/>
        </p:spPr>
        <p:txBody>
          <a:bodyPr wrap="square" lIns="0" rIns="0" tIns="0" bIns="0">
            <a:spAutoFit/>
          </a:bodyPr>
          <a:lstStyle/>
          <a:p>
            <a:pPr algn="l">
              <a:lnSpc>
                <a:spcPct val="125000"/>
              </a:lnSpc>
              <a:spcAft>
                <a:spcPts val="600"/>
              </a:spcAft>
            </a:pPr>
            <a:r>
              <a:rPr sz="2700" b="1">
                <a:solidFill>
                  <a:srgbClr val="1C1C1E"/>
                </a:solidFill>
                <a:latin typeface="Georgia"/>
              </a:rPr>
              <a:t>A real refusal, and what the agent did next</a:t>
            </a:r>
          </a:p>
        </p:txBody>
      </p:sp>
      <p:sp>
        <p:nvSpPr>
          <p:cNvPr id="5" name="Rounded Rectangle 4"/>
          <p:cNvSpPr/>
          <p:nvPr/>
        </p:nvSpPr>
        <p:spPr>
          <a:xfrm>
            <a:off x="10040112" y="475488"/>
            <a:ext cx="1344168" cy="402336"/>
          </a:xfrm>
          <a:prstGeom prst="roundRect">
            <a:avLst/>
          </a:prstGeom>
          <a:solidFill>
            <a:srgbClr val="FFF3E4"/>
          </a:solidFill>
          <a:ln>
            <a:solidFill>
              <a:srgbClr val="E255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E2551F"/>
                </a:solidFill>
                <a:latin typeface="Segoe UI"/>
              </a:rPr>
              <a:t>15%</a:t>
            </a:r>
          </a:p>
        </p:txBody>
      </p:sp>
      <p:sp>
        <p:nvSpPr>
          <p:cNvPr id="6" name="Rounded Rectangle 5"/>
          <p:cNvSpPr/>
          <p:nvPr/>
        </p:nvSpPr>
        <p:spPr>
          <a:xfrm>
            <a:off x="777240" y="1737360"/>
            <a:ext cx="10607040" cy="841248"/>
          </a:xfrm>
          <a:prstGeom prst="roundRect">
            <a:avLst>
              <a:gd name="adj" fmla="val 4000"/>
            </a:avLst>
          </a:prstGeom>
          <a:solidFill>
            <a:srgbClr val="FFFFFF"/>
          </a:solidFill>
          <a:ln w="12700">
            <a:solidFill>
              <a:srgbClr val="E2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1865376"/>
            <a:ext cx="2194560" cy="274320"/>
          </a:xfrm>
          <a:prstGeom prst="rect">
            <a:avLst/>
          </a:prstGeom>
          <a:noFill/>
        </p:spPr>
        <p:txBody>
          <a:bodyPr wrap="square" lIns="0" rIns="0" tIns="0" bIns="0">
            <a:spAutoFit/>
          </a:bodyPr>
          <a:lstStyle/>
          <a:p>
            <a:pPr algn="l">
              <a:lnSpc>
                <a:spcPct val="125000"/>
              </a:lnSpc>
              <a:spcAft>
                <a:spcPts val="600"/>
              </a:spcAft>
            </a:pPr>
            <a:r>
              <a:rPr sz="1250" b="1">
                <a:solidFill>
                  <a:srgbClr val="1C1C1E"/>
                </a:solidFill>
                <a:latin typeface="Segoe UI"/>
              </a:rPr>
              <a:t>1  SUBMITS</a:t>
            </a:r>
          </a:p>
        </p:txBody>
      </p:sp>
      <p:sp>
        <p:nvSpPr>
          <p:cNvPr id="8" name="TextBox 7"/>
          <p:cNvSpPr txBox="1"/>
          <p:nvPr/>
        </p:nvSpPr>
        <p:spPr>
          <a:xfrm>
            <a:off x="3200400" y="1865376"/>
            <a:ext cx="7863840" cy="594360"/>
          </a:xfrm>
          <a:prstGeom prst="rect">
            <a:avLst/>
          </a:prstGeom>
          <a:noFill/>
        </p:spPr>
        <p:txBody>
          <a:bodyPr wrap="square" lIns="0" rIns="0" tIns="0" bIns="0">
            <a:spAutoFit/>
          </a:bodyPr>
          <a:lstStyle/>
          <a:p>
            <a:pPr algn="l">
              <a:lnSpc>
                <a:spcPct val="125000"/>
              </a:lnSpc>
              <a:spcAft>
                <a:spcPts val="600"/>
              </a:spcAft>
            </a:pPr>
            <a:r>
              <a:rPr sz="1300" b="0">
                <a:solidFill>
                  <a:srgbClr val="4A4A52"/>
                </a:solidFill>
                <a:latin typeface="Segoe UI"/>
              </a:rPr>
              <a:t>Declares the host patched, and cites a related alert as corroboration.</a:t>
            </a:r>
          </a:p>
        </p:txBody>
      </p:sp>
      <p:sp>
        <p:nvSpPr>
          <p:cNvPr id="9" name="Rounded Rectangle 8"/>
          <p:cNvSpPr/>
          <p:nvPr/>
        </p:nvSpPr>
        <p:spPr>
          <a:xfrm>
            <a:off x="777240" y="2670048"/>
            <a:ext cx="10607040" cy="841248"/>
          </a:xfrm>
          <a:prstGeom prst="roundRect">
            <a:avLst>
              <a:gd name="adj" fmla="val 4000"/>
            </a:avLst>
          </a:prstGeom>
          <a:solidFill>
            <a:srgbClr val="FCEDE9"/>
          </a:solidFill>
          <a:ln w="12700">
            <a:solidFill>
              <a:srgbClr val="E2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670048"/>
            <a:ext cx="50292" cy="841248"/>
          </a:xfrm>
          <a:prstGeom prst="rect">
            <a:avLst/>
          </a:prstGeom>
          <a:solidFill>
            <a:srgbClr val="A82D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798064"/>
            <a:ext cx="2194560" cy="274320"/>
          </a:xfrm>
          <a:prstGeom prst="rect">
            <a:avLst/>
          </a:prstGeom>
          <a:noFill/>
        </p:spPr>
        <p:txBody>
          <a:bodyPr wrap="square" lIns="0" rIns="0" tIns="0" bIns="0">
            <a:spAutoFit/>
          </a:bodyPr>
          <a:lstStyle/>
          <a:p>
            <a:pPr algn="l">
              <a:lnSpc>
                <a:spcPct val="125000"/>
              </a:lnSpc>
              <a:spcAft>
                <a:spcPts val="600"/>
              </a:spcAft>
            </a:pPr>
            <a:r>
              <a:rPr sz="1250" b="1">
                <a:solidFill>
                  <a:srgbClr val="A82D16"/>
                </a:solidFill>
                <a:latin typeface="Segoe UI"/>
              </a:rPr>
              <a:t>2  REFUSED</a:t>
            </a:r>
          </a:p>
        </p:txBody>
      </p:sp>
      <p:sp>
        <p:nvSpPr>
          <p:cNvPr id="12" name="TextBox 11"/>
          <p:cNvSpPr txBox="1"/>
          <p:nvPr/>
        </p:nvSpPr>
        <p:spPr>
          <a:xfrm>
            <a:off x="3200400" y="2798064"/>
            <a:ext cx="7863840" cy="594360"/>
          </a:xfrm>
          <a:prstGeom prst="rect">
            <a:avLst/>
          </a:prstGeom>
          <a:noFill/>
        </p:spPr>
        <p:txBody>
          <a:bodyPr wrap="square" lIns="0" rIns="0" tIns="0" bIns="0">
            <a:spAutoFit/>
          </a:bodyPr>
          <a:lstStyle/>
          <a:p>
            <a:pPr algn="l">
              <a:lnSpc>
                <a:spcPct val="125000"/>
              </a:lnSpc>
              <a:spcAft>
                <a:spcPts val="600"/>
              </a:spcAft>
            </a:pPr>
            <a:r>
              <a:rPr sz="1300" b="0">
                <a:solidFill>
                  <a:srgbClr val="4A4A52"/>
                </a:solidFill>
                <a:latin typeface="Segoe UI"/>
              </a:rPr>
              <a:t>Two problems at once: it checked 2 of the host's 3 services, and the corroboration came from a lookup that returned no data.</a:t>
            </a:r>
          </a:p>
        </p:txBody>
      </p:sp>
      <p:sp>
        <p:nvSpPr>
          <p:cNvPr id="13" name="Rounded Rectangle 12"/>
          <p:cNvSpPr/>
          <p:nvPr/>
        </p:nvSpPr>
        <p:spPr>
          <a:xfrm>
            <a:off x="777240" y="3602736"/>
            <a:ext cx="10607040" cy="841248"/>
          </a:xfrm>
          <a:prstGeom prst="roundRect">
            <a:avLst>
              <a:gd name="adj" fmla="val 4000"/>
            </a:avLst>
          </a:prstGeom>
          <a:solidFill>
            <a:srgbClr val="FFF3E4"/>
          </a:solidFill>
          <a:ln w="12700">
            <a:solidFill>
              <a:srgbClr val="E2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3602736"/>
            <a:ext cx="50292" cy="841248"/>
          </a:xfrm>
          <a:prstGeom prst="rect">
            <a:avLst/>
          </a:prstGeom>
          <a:solidFill>
            <a:srgbClr val="E25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3730752"/>
            <a:ext cx="2194560" cy="274320"/>
          </a:xfrm>
          <a:prstGeom prst="rect">
            <a:avLst/>
          </a:prstGeom>
          <a:noFill/>
        </p:spPr>
        <p:txBody>
          <a:bodyPr wrap="square" lIns="0" rIns="0" tIns="0" bIns="0">
            <a:spAutoFit/>
          </a:bodyPr>
          <a:lstStyle/>
          <a:p>
            <a:pPr algn="l">
              <a:lnSpc>
                <a:spcPct val="125000"/>
              </a:lnSpc>
              <a:spcAft>
                <a:spcPts val="600"/>
              </a:spcAft>
            </a:pPr>
            <a:r>
              <a:rPr sz="1250" b="1">
                <a:solidFill>
                  <a:srgbClr val="E2551F"/>
                </a:solidFill>
                <a:latin typeface="Segoe UI"/>
              </a:rPr>
              <a:t>3  ITS OWN WORDS</a:t>
            </a:r>
          </a:p>
        </p:txBody>
      </p:sp>
      <p:sp>
        <p:nvSpPr>
          <p:cNvPr id="16" name="TextBox 15"/>
          <p:cNvSpPr txBox="1"/>
          <p:nvPr/>
        </p:nvSpPr>
        <p:spPr>
          <a:xfrm>
            <a:off x="3200400" y="3730752"/>
            <a:ext cx="7863840" cy="594360"/>
          </a:xfrm>
          <a:prstGeom prst="rect">
            <a:avLst/>
          </a:prstGeom>
          <a:noFill/>
        </p:spPr>
        <p:txBody>
          <a:bodyPr wrap="square" lIns="0" rIns="0" tIns="0" bIns="0">
            <a:spAutoFit/>
          </a:bodyPr>
          <a:lstStyle/>
          <a:p>
            <a:pPr algn="l">
              <a:lnSpc>
                <a:spcPct val="125000"/>
              </a:lnSpc>
              <a:spcAft>
                <a:spcPts val="600"/>
              </a:spcAft>
            </a:pPr>
            <a:r>
              <a:rPr sz="1300" b="0">
                <a:solidFill>
                  <a:srgbClr val="4A4A52"/>
                </a:solidFill>
                <a:latin typeface="Segoe UI"/>
              </a:rPr>
              <a:t>"I need to fix two issues. Let me check openssh CVEs and remove the related_alert_corroborates factor since no_data is not a finding."</a:t>
            </a:r>
          </a:p>
        </p:txBody>
      </p:sp>
      <p:sp>
        <p:nvSpPr>
          <p:cNvPr id="17" name="Rounded Rectangle 16"/>
          <p:cNvSpPr/>
          <p:nvPr/>
        </p:nvSpPr>
        <p:spPr>
          <a:xfrm>
            <a:off x="777240" y="4535424"/>
            <a:ext cx="10607040" cy="841248"/>
          </a:xfrm>
          <a:prstGeom prst="roundRect">
            <a:avLst>
              <a:gd name="adj" fmla="val 4000"/>
            </a:avLst>
          </a:prstGeom>
          <a:solidFill>
            <a:srgbClr val="FFFFFF"/>
          </a:solidFill>
          <a:ln w="12700">
            <a:solidFill>
              <a:srgbClr val="E2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535424"/>
            <a:ext cx="50292" cy="841248"/>
          </a:xfrm>
          <a:prstGeom prst="rect">
            <a:avLst/>
          </a:prstGeom>
          <a:solidFill>
            <a:srgbClr val="0B6B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4663440"/>
            <a:ext cx="2194560" cy="274320"/>
          </a:xfrm>
          <a:prstGeom prst="rect">
            <a:avLst/>
          </a:prstGeom>
          <a:noFill/>
        </p:spPr>
        <p:txBody>
          <a:bodyPr wrap="square" lIns="0" rIns="0" tIns="0" bIns="0">
            <a:spAutoFit/>
          </a:bodyPr>
          <a:lstStyle/>
          <a:p>
            <a:pPr algn="l">
              <a:lnSpc>
                <a:spcPct val="125000"/>
              </a:lnSpc>
              <a:spcAft>
                <a:spcPts val="600"/>
              </a:spcAft>
            </a:pPr>
            <a:r>
              <a:rPr sz="1250" b="1">
                <a:solidFill>
                  <a:srgbClr val="0B6B44"/>
                </a:solidFill>
                <a:latin typeface="Segoe UI"/>
              </a:rPr>
              <a:t>4  RESOLVES BOTH</a:t>
            </a:r>
          </a:p>
        </p:txBody>
      </p:sp>
      <p:sp>
        <p:nvSpPr>
          <p:cNvPr id="20" name="TextBox 19"/>
          <p:cNvSpPr txBox="1"/>
          <p:nvPr/>
        </p:nvSpPr>
        <p:spPr>
          <a:xfrm>
            <a:off x="3200400" y="4663440"/>
            <a:ext cx="7863840" cy="594360"/>
          </a:xfrm>
          <a:prstGeom prst="rect">
            <a:avLst/>
          </a:prstGeom>
          <a:noFill/>
        </p:spPr>
        <p:txBody>
          <a:bodyPr wrap="square" lIns="0" rIns="0" tIns="0" bIns="0">
            <a:spAutoFit/>
          </a:bodyPr>
          <a:lstStyle/>
          <a:p>
            <a:pPr algn="l">
              <a:lnSpc>
                <a:spcPct val="125000"/>
              </a:lnSpc>
              <a:spcAft>
                <a:spcPts val="600"/>
              </a:spcAft>
            </a:pPr>
            <a:r>
              <a:rPr sz="1300" b="0">
                <a:solidFill>
                  <a:srgbClr val="4A4A52"/>
                </a:solidFill>
                <a:latin typeface="Segoe UI"/>
              </a:rPr>
              <a:t>Fetches the missing CVE data, and drops the claim it could not support. Resubmits. Accepted.</a:t>
            </a:r>
          </a:p>
        </p:txBody>
      </p:sp>
      <p:sp>
        <p:nvSpPr>
          <p:cNvPr id="21" name="Rounded Rectangle 20"/>
          <p:cNvSpPr/>
          <p:nvPr/>
        </p:nvSpPr>
        <p:spPr>
          <a:xfrm>
            <a:off x="777240" y="5486400"/>
            <a:ext cx="10607040" cy="868680"/>
          </a:xfrm>
          <a:prstGeom prst="roundRect">
            <a:avLst>
              <a:gd name="adj" fmla="val 4000"/>
            </a:avLst>
          </a:prstGeom>
          <a:solidFill>
            <a:srgbClr val="FFF3E4"/>
          </a:solidFill>
          <a:ln w="12700">
            <a:solidFill>
              <a:srgbClr val="E2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5486400"/>
            <a:ext cx="50292" cy="868680"/>
          </a:xfrm>
          <a:prstGeom prst="rect">
            <a:avLst/>
          </a:prstGeom>
          <a:solidFill>
            <a:srgbClr val="E25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97280" y="5632704"/>
            <a:ext cx="10058400" cy="640080"/>
          </a:xfrm>
          <a:prstGeom prst="rect">
            <a:avLst/>
          </a:prstGeom>
          <a:noFill/>
        </p:spPr>
        <p:txBody>
          <a:bodyPr wrap="square" lIns="0" rIns="0" tIns="0" bIns="0">
            <a:spAutoFit/>
          </a:bodyPr>
          <a:lstStyle/>
          <a:p>
            <a:pPr algn="l">
              <a:lnSpc>
                <a:spcPct val="125000"/>
              </a:lnSpc>
              <a:spcAft>
                <a:spcPts val="600"/>
              </a:spcAft>
            </a:pPr>
            <a:r>
              <a:rPr sz="1350" b="1">
                <a:solidFill>
                  <a:srgbClr val="1C1C1E"/>
                </a:solidFill>
                <a:latin typeface="Segoe UI"/>
              </a:rPr>
              <a:t>Measured across every run: the agent has NEVER resolved a refusal by rewording the same claim. It either fetches what it was missing, or it withdraws the claim. It does not negotiate.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8961120" cy="274320"/>
          </a:xfrm>
          <a:prstGeom prst="rect">
            <a:avLst/>
          </a:prstGeom>
          <a:noFill/>
        </p:spPr>
        <p:txBody>
          <a:bodyPr wrap="square" lIns="0" rIns="0" tIns="0" bIns="0">
            <a:spAutoFit/>
          </a:bodyPr>
          <a:lstStyle/>
          <a:p>
            <a:pPr algn="l">
              <a:lnSpc>
                <a:spcPct val="125000"/>
              </a:lnSpc>
              <a:spcAft>
                <a:spcPts val="600"/>
              </a:spcAft>
            </a:pPr>
            <a:r>
              <a:rPr sz="1200" b="1">
                <a:solidFill>
                  <a:srgbClr val="E2551F"/>
                </a:solidFill>
                <a:latin typeface="Segoe UI"/>
              </a:rPr>
              <a:t>TECHNICAL IMPLEMENTATION</a:t>
            </a:r>
          </a:p>
        </p:txBody>
      </p:sp>
      <p:sp>
        <p:nvSpPr>
          <p:cNvPr id="4" name="TextBox 3"/>
          <p:cNvSpPr txBox="1"/>
          <p:nvPr/>
        </p:nvSpPr>
        <p:spPr>
          <a:xfrm>
            <a:off x="777240" y="731520"/>
            <a:ext cx="9144000" cy="1024128"/>
          </a:xfrm>
          <a:prstGeom prst="rect">
            <a:avLst/>
          </a:prstGeom>
          <a:noFill/>
        </p:spPr>
        <p:txBody>
          <a:bodyPr wrap="square" lIns="0" rIns="0" tIns="0" bIns="0">
            <a:spAutoFit/>
          </a:bodyPr>
          <a:lstStyle/>
          <a:p>
            <a:pPr algn="l">
              <a:lnSpc>
                <a:spcPct val="125000"/>
              </a:lnSpc>
              <a:spcAft>
                <a:spcPts val="600"/>
              </a:spcAft>
            </a:pPr>
            <a:r>
              <a:rPr sz="2700" b="1">
                <a:solidFill>
                  <a:srgbClr val="1C1C1E"/>
                </a:solidFill>
                <a:latin typeface="Georgia"/>
              </a:rPr>
              <a:t>Deterministic where it must be, free where it should be</a:t>
            </a:r>
          </a:p>
        </p:txBody>
      </p:sp>
      <p:sp>
        <p:nvSpPr>
          <p:cNvPr id="5" name="Rounded Rectangle 4"/>
          <p:cNvSpPr/>
          <p:nvPr/>
        </p:nvSpPr>
        <p:spPr>
          <a:xfrm>
            <a:off x="10040112" y="475488"/>
            <a:ext cx="1344168" cy="402336"/>
          </a:xfrm>
          <a:prstGeom prst="roundRect">
            <a:avLst/>
          </a:prstGeom>
          <a:solidFill>
            <a:srgbClr val="FFF3E4"/>
          </a:solidFill>
          <a:ln>
            <a:solidFill>
              <a:srgbClr val="E255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E2551F"/>
                </a:solidFill>
                <a:latin typeface="Segoe UI"/>
              </a:rPr>
              <a:t>15%</a:t>
            </a:r>
          </a:p>
        </p:txBody>
      </p:sp>
      <p:sp>
        <p:nvSpPr>
          <p:cNvPr id="6" name="Rounded Rectangle 5"/>
          <p:cNvSpPr/>
          <p:nvPr/>
        </p:nvSpPr>
        <p:spPr>
          <a:xfrm>
            <a:off x="777240" y="1783080"/>
            <a:ext cx="5166360" cy="2057400"/>
          </a:xfrm>
          <a:prstGeom prst="roundRect">
            <a:avLst>
              <a:gd name="adj" fmla="val 4000"/>
            </a:avLst>
          </a:prstGeom>
          <a:solidFill>
            <a:srgbClr val="FFFFFF"/>
          </a:solidFill>
          <a:ln w="12700">
            <a:solidFill>
              <a:srgbClr val="E2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78992" y="1965960"/>
            <a:ext cx="4572000" cy="274320"/>
          </a:xfrm>
          <a:prstGeom prst="rect">
            <a:avLst/>
          </a:prstGeom>
          <a:noFill/>
        </p:spPr>
        <p:txBody>
          <a:bodyPr wrap="square" lIns="0" rIns="0" tIns="0" bIns="0">
            <a:spAutoFit/>
          </a:bodyPr>
          <a:lstStyle/>
          <a:p>
            <a:pPr algn="l">
              <a:lnSpc>
                <a:spcPct val="125000"/>
              </a:lnSpc>
              <a:spcAft>
                <a:spcPts val="600"/>
              </a:spcAft>
            </a:pPr>
            <a:r>
              <a:rPr sz="1150" b="1">
                <a:solidFill>
                  <a:srgbClr val="E2551F"/>
                </a:solidFill>
                <a:latin typeface="Segoe UI"/>
              </a:rPr>
              <a:t>MODEL AND PROVIDER</a:t>
            </a:r>
          </a:p>
        </p:txBody>
      </p:sp>
      <p:sp>
        <p:nvSpPr>
          <p:cNvPr id="8" name="TextBox 7"/>
          <p:cNvSpPr txBox="1"/>
          <p:nvPr/>
        </p:nvSpPr>
        <p:spPr>
          <a:xfrm>
            <a:off x="1078992" y="2313432"/>
            <a:ext cx="4572000" cy="1371600"/>
          </a:xfrm>
          <a:prstGeom prst="rect">
            <a:avLst/>
          </a:prstGeom>
          <a:noFill/>
        </p:spPr>
        <p:txBody>
          <a:bodyPr wrap="square" lIns="0" rIns="0" tIns="0" bIns="0">
            <a:spAutoFit/>
          </a:bodyPr>
          <a:lstStyle/>
          <a:p>
            <a:pPr algn="l">
              <a:lnSpc>
                <a:spcPct val="125000"/>
              </a:lnSpc>
              <a:spcAft>
                <a:spcPts val="600"/>
              </a:spcAft>
            </a:pPr>
            <a:r>
              <a:rPr sz="1250" b="0">
                <a:solidFill>
                  <a:srgbClr val="4A4A52"/>
                </a:solidFill>
                <a:latin typeface="Segoe UI"/>
              </a:rPr>
              <a:t>Provider-agnostic by design. SOC_BASE_URL, SOC_MODEL and SOC_API_STYLE are environment-driven, and the client speaks both wire formats: x-api-key for the Anthropic surface, Bearer for OpenAI-compatible. Swapping provider is one line.</a:t>
            </a:r>
          </a:p>
        </p:txBody>
      </p:sp>
      <p:sp>
        <p:nvSpPr>
          <p:cNvPr id="9" name="Rounded Rectangle 8"/>
          <p:cNvSpPr/>
          <p:nvPr/>
        </p:nvSpPr>
        <p:spPr>
          <a:xfrm>
            <a:off x="777240" y="3977640"/>
            <a:ext cx="5166360" cy="2057400"/>
          </a:xfrm>
          <a:prstGeom prst="roundRect">
            <a:avLst>
              <a:gd name="adj" fmla="val 4000"/>
            </a:avLst>
          </a:prstGeom>
          <a:solidFill>
            <a:srgbClr val="FFFFFF"/>
          </a:solidFill>
          <a:ln w="12700">
            <a:solidFill>
              <a:srgbClr val="E2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8992" y="4160520"/>
            <a:ext cx="4572000" cy="274320"/>
          </a:xfrm>
          <a:prstGeom prst="rect">
            <a:avLst/>
          </a:prstGeom>
          <a:noFill/>
        </p:spPr>
        <p:txBody>
          <a:bodyPr wrap="square" lIns="0" rIns="0" tIns="0" bIns="0">
            <a:spAutoFit/>
          </a:bodyPr>
          <a:lstStyle/>
          <a:p>
            <a:pPr algn="l">
              <a:lnSpc>
                <a:spcPct val="125000"/>
              </a:lnSpc>
              <a:spcAft>
                <a:spcPts val="600"/>
              </a:spcAft>
            </a:pPr>
            <a:r>
              <a:rPr sz="1150" b="1">
                <a:solidFill>
                  <a:srgbClr val="E2551F"/>
                </a:solidFill>
                <a:latin typeface="Segoe UI"/>
              </a:rPr>
              <a:t>PROMPTING STRATEGY</a:t>
            </a:r>
          </a:p>
        </p:txBody>
      </p:sp>
      <p:sp>
        <p:nvSpPr>
          <p:cNvPr id="11" name="TextBox 10"/>
          <p:cNvSpPr txBox="1"/>
          <p:nvPr/>
        </p:nvSpPr>
        <p:spPr>
          <a:xfrm>
            <a:off x="1078992" y="4507992"/>
            <a:ext cx="4572000" cy="1371600"/>
          </a:xfrm>
          <a:prstGeom prst="rect">
            <a:avLst/>
          </a:prstGeom>
          <a:noFill/>
        </p:spPr>
        <p:txBody>
          <a:bodyPr wrap="square" lIns="0" rIns="0" tIns="0" bIns="0">
            <a:spAutoFit/>
          </a:bodyPr>
          <a:lstStyle/>
          <a:p>
            <a:pPr algn="l">
              <a:lnSpc>
                <a:spcPct val="125000"/>
              </a:lnSpc>
              <a:spcAft>
                <a:spcPts val="600"/>
              </a:spcAft>
            </a:pPr>
            <a:r>
              <a:rPr sz="1250" b="0">
                <a:solidFill>
                  <a:srgbClr val="4A4A52"/>
                </a:solidFill>
                <a:latin typeface="Segoe UI"/>
              </a:rPr>
              <a:t>Not ReAct off the shelf. Reason-before-act is enforced structurally: every evidence tool takes a required `reason` parameter, so the trace cannot contain an unexplained call. After each result the agent must state whether it has enough.</a:t>
            </a:r>
          </a:p>
        </p:txBody>
      </p:sp>
      <p:sp>
        <p:nvSpPr>
          <p:cNvPr id="12" name="Rounded Rectangle 11"/>
          <p:cNvSpPr/>
          <p:nvPr/>
        </p:nvSpPr>
        <p:spPr>
          <a:xfrm>
            <a:off x="6217920" y="1783080"/>
            <a:ext cx="5166360" cy="2057400"/>
          </a:xfrm>
          <a:prstGeom prst="roundRect">
            <a:avLst>
              <a:gd name="adj" fmla="val 4000"/>
            </a:avLst>
          </a:prstGeom>
          <a:solidFill>
            <a:srgbClr val="FFFFFF"/>
          </a:solidFill>
          <a:ln w="12700">
            <a:solidFill>
              <a:srgbClr val="E2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19672" y="1965960"/>
            <a:ext cx="4572000" cy="274320"/>
          </a:xfrm>
          <a:prstGeom prst="rect">
            <a:avLst/>
          </a:prstGeom>
          <a:noFill/>
        </p:spPr>
        <p:txBody>
          <a:bodyPr wrap="square" lIns="0" rIns="0" tIns="0" bIns="0">
            <a:spAutoFit/>
          </a:bodyPr>
          <a:lstStyle/>
          <a:p>
            <a:pPr algn="l">
              <a:lnSpc>
                <a:spcPct val="125000"/>
              </a:lnSpc>
              <a:spcAft>
                <a:spcPts val="600"/>
              </a:spcAft>
            </a:pPr>
            <a:r>
              <a:rPr sz="1150" b="1">
                <a:solidFill>
                  <a:srgbClr val="E2551F"/>
                </a:solidFill>
                <a:latin typeface="Segoe UI"/>
              </a:rPr>
              <a:t>SCORING IS NOT THE MODEL'S JOB</a:t>
            </a:r>
          </a:p>
        </p:txBody>
      </p:sp>
      <p:sp>
        <p:nvSpPr>
          <p:cNvPr id="14" name="TextBox 13"/>
          <p:cNvSpPr txBox="1"/>
          <p:nvPr/>
        </p:nvSpPr>
        <p:spPr>
          <a:xfrm>
            <a:off x="6519672" y="2313432"/>
            <a:ext cx="4572000" cy="1371600"/>
          </a:xfrm>
          <a:prstGeom prst="rect">
            <a:avLst/>
          </a:prstGeom>
          <a:noFill/>
        </p:spPr>
        <p:txBody>
          <a:bodyPr wrap="square" lIns="0" rIns="0" tIns="0" bIns="0">
            <a:spAutoFit/>
          </a:bodyPr>
          <a:lstStyle/>
          <a:p>
            <a:pPr algn="l">
              <a:lnSpc>
                <a:spcPct val="125000"/>
              </a:lnSpc>
              <a:spcAft>
                <a:spcPts val="600"/>
              </a:spcAft>
            </a:pPr>
            <a:r>
              <a:rPr sz="1250" b="0">
                <a:solidFill>
                  <a:srgbClr val="4A4A52"/>
                </a:solidFill>
                <a:latin typeface="Segoe UI"/>
              </a:rPr>
              <a:t>The agent never emits a confidence number. It declares which evidence CLASSES it established and cites each one; a fixed table in Python turns those into a score. Same evidence, same score, every run.</a:t>
            </a:r>
          </a:p>
        </p:txBody>
      </p:sp>
      <p:sp>
        <p:nvSpPr>
          <p:cNvPr id="15" name="Rounded Rectangle 14"/>
          <p:cNvSpPr/>
          <p:nvPr/>
        </p:nvSpPr>
        <p:spPr>
          <a:xfrm>
            <a:off x="6217920" y="3977640"/>
            <a:ext cx="5166360" cy="2057400"/>
          </a:xfrm>
          <a:prstGeom prst="roundRect">
            <a:avLst>
              <a:gd name="adj" fmla="val 4000"/>
            </a:avLst>
          </a:prstGeom>
          <a:solidFill>
            <a:srgbClr val="FFFFFF"/>
          </a:solidFill>
          <a:ln w="12700">
            <a:solidFill>
              <a:srgbClr val="E2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19672" y="4160520"/>
            <a:ext cx="4572000" cy="274320"/>
          </a:xfrm>
          <a:prstGeom prst="rect">
            <a:avLst/>
          </a:prstGeom>
          <a:noFill/>
        </p:spPr>
        <p:txBody>
          <a:bodyPr wrap="square" lIns="0" rIns="0" tIns="0" bIns="0">
            <a:spAutoFit/>
          </a:bodyPr>
          <a:lstStyle/>
          <a:p>
            <a:pPr algn="l">
              <a:lnSpc>
                <a:spcPct val="125000"/>
              </a:lnSpc>
              <a:spcAft>
                <a:spcPts val="600"/>
              </a:spcAft>
            </a:pPr>
            <a:r>
              <a:rPr sz="1150" b="1">
                <a:solidFill>
                  <a:srgbClr val="E2551F"/>
                </a:solidFill>
                <a:latin typeface="Segoe UI"/>
              </a:rPr>
              <a:t>THE TRACE IS THE SOURCE OF TRUTH</a:t>
            </a:r>
          </a:p>
        </p:txBody>
      </p:sp>
      <p:sp>
        <p:nvSpPr>
          <p:cNvPr id="17" name="TextBox 16"/>
          <p:cNvSpPr txBox="1"/>
          <p:nvPr/>
        </p:nvSpPr>
        <p:spPr>
          <a:xfrm>
            <a:off x="6519672" y="4507992"/>
            <a:ext cx="4572000" cy="1371600"/>
          </a:xfrm>
          <a:prstGeom prst="rect">
            <a:avLst/>
          </a:prstGeom>
          <a:noFill/>
        </p:spPr>
        <p:txBody>
          <a:bodyPr wrap="square" lIns="0" rIns="0" tIns="0" bIns="0">
            <a:spAutoFit/>
          </a:bodyPr>
          <a:lstStyle/>
          <a:p>
            <a:pPr algn="l">
              <a:lnSpc>
                <a:spcPct val="125000"/>
              </a:lnSpc>
              <a:spcAft>
                <a:spcPts val="600"/>
              </a:spcAft>
            </a:pPr>
            <a:r>
              <a:rPr sz="1250" b="0">
                <a:solidFill>
                  <a:srgbClr val="4A4A52"/>
                </a:solidFill>
                <a:latin typeface="Segoe UI"/>
              </a:rPr>
              <a:t>Every call, reason, result, refusal and score lands in one structured trace. The viewer and the written case reports are both rendered from it, so neither can drift from what actually happened.</a:t>
            </a:r>
          </a:p>
        </p:txBody>
      </p:sp>
      <p:sp>
        <p:nvSpPr>
          <p:cNvPr id="18" name="TextBox 17"/>
          <p:cNvSpPr txBox="1"/>
          <p:nvPr/>
        </p:nvSpPr>
        <p:spPr>
          <a:xfrm>
            <a:off x="777240" y="6144768"/>
            <a:ext cx="10607040" cy="365760"/>
          </a:xfrm>
          <a:prstGeom prst="rect">
            <a:avLst/>
          </a:prstGeom>
          <a:noFill/>
        </p:spPr>
        <p:txBody>
          <a:bodyPr wrap="square" lIns="0" rIns="0" tIns="0" bIns="0">
            <a:spAutoFit/>
          </a:bodyPr>
          <a:lstStyle/>
          <a:p>
            <a:pPr algn="l">
              <a:lnSpc>
                <a:spcPct val="125000"/>
              </a:lnSpc>
              <a:spcAft>
                <a:spcPts val="600"/>
              </a:spcAft>
            </a:pPr>
            <a:r>
              <a:rPr sz="1300" b="0">
                <a:solidFill>
                  <a:srgbClr val="8A8A94"/>
                </a:solidFill>
                <a:latin typeface="Segoe UI"/>
              </a:rPr>
              <a:t>Python standard library only. No framework, no dependencies, no lockfile.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8961120" cy="274320"/>
          </a:xfrm>
          <a:prstGeom prst="rect">
            <a:avLst/>
          </a:prstGeom>
          <a:noFill/>
        </p:spPr>
        <p:txBody>
          <a:bodyPr wrap="square" lIns="0" rIns="0" tIns="0" bIns="0">
            <a:spAutoFit/>
          </a:bodyPr>
          <a:lstStyle/>
          <a:p>
            <a:pPr algn="l">
              <a:lnSpc>
                <a:spcPct val="125000"/>
              </a:lnSpc>
              <a:spcAft>
                <a:spcPts val="600"/>
              </a:spcAft>
            </a:pPr>
            <a:r>
              <a:rPr sz="1200" b="1">
                <a:solidFill>
                  <a:srgbClr val="E2551F"/>
                </a:solidFill>
                <a:latin typeface="Segoe UI"/>
              </a:rPr>
              <a:t>PROTOTYPE AND UX</a:t>
            </a:r>
          </a:p>
        </p:txBody>
      </p:sp>
      <p:sp>
        <p:nvSpPr>
          <p:cNvPr id="4" name="TextBox 3"/>
          <p:cNvSpPr txBox="1"/>
          <p:nvPr/>
        </p:nvSpPr>
        <p:spPr>
          <a:xfrm>
            <a:off x="777240" y="731520"/>
            <a:ext cx="9144000" cy="1024128"/>
          </a:xfrm>
          <a:prstGeom prst="rect">
            <a:avLst/>
          </a:prstGeom>
          <a:noFill/>
        </p:spPr>
        <p:txBody>
          <a:bodyPr wrap="square" lIns="0" rIns="0" tIns="0" bIns="0">
            <a:spAutoFit/>
          </a:bodyPr>
          <a:lstStyle/>
          <a:p>
            <a:pPr algn="l">
              <a:lnSpc>
                <a:spcPct val="125000"/>
              </a:lnSpc>
              <a:spcAft>
                <a:spcPts val="600"/>
              </a:spcAft>
            </a:pPr>
            <a:r>
              <a:rPr sz="2700" b="1">
                <a:solidFill>
                  <a:srgbClr val="1C1C1E"/>
                </a:solidFill>
                <a:latin typeface="Georgia"/>
              </a:rPr>
              <a:t>Watch the investigation, step by step</a:t>
            </a:r>
          </a:p>
        </p:txBody>
      </p:sp>
      <p:sp>
        <p:nvSpPr>
          <p:cNvPr id="5" name="Rounded Rectangle 4"/>
          <p:cNvSpPr/>
          <p:nvPr/>
        </p:nvSpPr>
        <p:spPr>
          <a:xfrm>
            <a:off x="10040112" y="475488"/>
            <a:ext cx="1344168" cy="402336"/>
          </a:xfrm>
          <a:prstGeom prst="roundRect">
            <a:avLst/>
          </a:prstGeom>
          <a:solidFill>
            <a:srgbClr val="FFF3E4"/>
          </a:solidFill>
          <a:ln>
            <a:solidFill>
              <a:srgbClr val="E255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E2551F"/>
                </a:solidFill>
                <a:latin typeface="Segoe UI"/>
              </a:rPr>
              <a:t>10%</a:t>
            </a:r>
          </a:p>
        </p:txBody>
      </p:sp>
      <p:sp>
        <p:nvSpPr>
          <p:cNvPr id="6" name="Rounded Rectangle 5"/>
          <p:cNvSpPr/>
          <p:nvPr/>
        </p:nvSpPr>
        <p:spPr>
          <a:xfrm>
            <a:off x="777240" y="1737360"/>
            <a:ext cx="6858000" cy="4023360"/>
          </a:xfrm>
          <a:prstGeom prst="roundRect">
            <a:avLst/>
          </a:prstGeom>
          <a:solidFill>
            <a:srgbClr val="0D0D0D"/>
          </a:solidFill>
          <a:ln>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572768" cy="4023360"/>
          </a:xfrm>
          <a:prstGeom prst="rect">
            <a:avLst/>
          </a:prstGeom>
          <a:solidFill>
            <a:srgbClr val="080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856232"/>
            <a:ext cx="1371600" cy="182880"/>
          </a:xfrm>
          <a:prstGeom prst="rect">
            <a:avLst/>
          </a:prstGeom>
          <a:noFill/>
        </p:spPr>
        <p:txBody>
          <a:bodyPr wrap="square" lIns="0" rIns="0" tIns="0" bIns="0">
            <a:spAutoFit/>
          </a:bodyPr>
          <a:lstStyle/>
          <a:p>
            <a:pPr algn="l">
              <a:lnSpc>
                <a:spcPct val="125000"/>
              </a:lnSpc>
              <a:spcAft>
                <a:spcPts val="600"/>
              </a:spcAft>
            </a:pPr>
            <a:r>
              <a:rPr sz="850" b="1">
                <a:solidFill>
                  <a:srgbClr val="E4E4E7"/>
                </a:solidFill>
                <a:latin typeface="Segoe UI"/>
              </a:rPr>
              <a:t>SOC AGENT</a:t>
            </a:r>
          </a:p>
        </p:txBody>
      </p:sp>
      <p:sp>
        <p:nvSpPr>
          <p:cNvPr id="9" name="TextBox 8"/>
          <p:cNvSpPr txBox="1"/>
          <p:nvPr/>
        </p:nvSpPr>
        <p:spPr>
          <a:xfrm>
            <a:off x="905256" y="2121408"/>
            <a:ext cx="1371600" cy="164592"/>
          </a:xfrm>
          <a:prstGeom prst="rect">
            <a:avLst/>
          </a:prstGeom>
          <a:noFill/>
        </p:spPr>
        <p:txBody>
          <a:bodyPr wrap="square" lIns="0" rIns="0" tIns="0" bIns="0">
            <a:spAutoFit/>
          </a:bodyPr>
          <a:lstStyle/>
          <a:p>
            <a:pPr algn="l">
              <a:lnSpc>
                <a:spcPct val="125000"/>
              </a:lnSpc>
              <a:spcAft>
                <a:spcPts val="600"/>
              </a:spcAft>
            </a:pPr>
            <a:r>
              <a:rPr sz="650" b="1">
                <a:solidFill>
                  <a:srgbClr val="8A8A94"/>
                </a:solidFill>
                <a:latin typeface="Segoe UI"/>
              </a:rPr>
              <a:t>SCENARIOS</a:t>
            </a:r>
          </a:p>
        </p:txBody>
      </p:sp>
      <p:sp>
        <p:nvSpPr>
          <p:cNvPr id="10" name="TextBox 9"/>
          <p:cNvSpPr txBox="1"/>
          <p:nvPr/>
        </p:nvSpPr>
        <p:spPr>
          <a:xfrm>
            <a:off x="923544" y="2340864"/>
            <a:ext cx="960120" cy="182880"/>
          </a:xfrm>
          <a:prstGeom prst="rect">
            <a:avLst/>
          </a:prstGeom>
          <a:noFill/>
        </p:spPr>
        <p:txBody>
          <a:bodyPr wrap="square" lIns="0" rIns="0" tIns="0" bIns="0">
            <a:spAutoFit/>
          </a:bodyPr>
          <a:lstStyle/>
          <a:p>
            <a:pPr algn="l">
              <a:lnSpc>
                <a:spcPct val="125000"/>
              </a:lnSpc>
              <a:spcAft>
                <a:spcPts val="600"/>
              </a:spcAft>
            </a:pPr>
            <a:r>
              <a:rPr sz="700" b="0">
                <a:solidFill>
                  <a:srgbClr val="8A8A94"/>
                </a:solidFill>
                <a:latin typeface="Segoe UI"/>
              </a:rPr>
              <a:t>1 False alarm</a:t>
            </a:r>
          </a:p>
        </p:txBody>
      </p:sp>
      <p:sp>
        <p:nvSpPr>
          <p:cNvPr id="11" name="TextBox 10"/>
          <p:cNvSpPr txBox="1"/>
          <p:nvPr/>
        </p:nvSpPr>
        <p:spPr>
          <a:xfrm>
            <a:off x="1911096" y="2340864"/>
            <a:ext cx="329184" cy="182880"/>
          </a:xfrm>
          <a:prstGeom prst="rect">
            <a:avLst/>
          </a:prstGeom>
          <a:noFill/>
        </p:spPr>
        <p:txBody>
          <a:bodyPr wrap="square" lIns="0" rIns="0" tIns="0" bIns="0">
            <a:spAutoFit/>
          </a:bodyPr>
          <a:lstStyle/>
          <a:p>
            <a:pPr algn="l">
              <a:lnSpc>
                <a:spcPct val="125000"/>
              </a:lnSpc>
              <a:spcAft>
                <a:spcPts val="600"/>
              </a:spcAft>
            </a:pPr>
            <a:r>
              <a:rPr sz="600" b="1">
                <a:solidFill>
                  <a:srgbClr val="0B6B44"/>
                </a:solidFill>
                <a:latin typeface="Segoe UI"/>
              </a:rPr>
              <a:t>FAIL</a:t>
            </a:r>
          </a:p>
        </p:txBody>
      </p:sp>
      <p:sp>
        <p:nvSpPr>
          <p:cNvPr id="12" name="Rounded Rectangle 11"/>
          <p:cNvSpPr/>
          <p:nvPr/>
        </p:nvSpPr>
        <p:spPr>
          <a:xfrm>
            <a:off x="850392" y="2596896"/>
            <a:ext cx="1426464" cy="237744"/>
          </a:xfrm>
          <a:prstGeom prst="roundRect">
            <a:avLst/>
          </a:prstGeom>
          <a:solidFill>
            <a:srgbClr val="161616"/>
          </a:solidFill>
          <a:ln>
            <a:solidFill>
              <a:srgbClr val="3333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 y="2615184"/>
            <a:ext cx="960120" cy="182880"/>
          </a:xfrm>
          <a:prstGeom prst="rect">
            <a:avLst/>
          </a:prstGeom>
          <a:noFill/>
        </p:spPr>
        <p:txBody>
          <a:bodyPr wrap="square" lIns="0" rIns="0" tIns="0" bIns="0">
            <a:spAutoFit/>
          </a:bodyPr>
          <a:lstStyle/>
          <a:p>
            <a:pPr algn="l">
              <a:lnSpc>
                <a:spcPct val="125000"/>
              </a:lnSpc>
              <a:spcAft>
                <a:spcPts val="600"/>
              </a:spcAft>
            </a:pPr>
            <a:r>
              <a:rPr sz="700" b="0">
                <a:solidFill>
                  <a:srgbClr val="E4E4E7"/>
                </a:solidFill>
                <a:latin typeface="Segoe UI"/>
              </a:rPr>
              <a:t>2 True positive</a:t>
            </a:r>
          </a:p>
        </p:txBody>
      </p:sp>
      <p:sp>
        <p:nvSpPr>
          <p:cNvPr id="14" name="TextBox 13"/>
          <p:cNvSpPr txBox="1"/>
          <p:nvPr/>
        </p:nvSpPr>
        <p:spPr>
          <a:xfrm>
            <a:off x="1911096" y="2615184"/>
            <a:ext cx="329184" cy="182880"/>
          </a:xfrm>
          <a:prstGeom prst="rect">
            <a:avLst/>
          </a:prstGeom>
          <a:noFill/>
        </p:spPr>
        <p:txBody>
          <a:bodyPr wrap="square" lIns="0" rIns="0" tIns="0" bIns="0">
            <a:spAutoFit/>
          </a:bodyPr>
          <a:lstStyle/>
          <a:p>
            <a:pPr algn="l">
              <a:lnSpc>
                <a:spcPct val="125000"/>
              </a:lnSpc>
              <a:spcAft>
                <a:spcPts val="600"/>
              </a:spcAft>
            </a:pPr>
            <a:r>
              <a:rPr sz="600" b="1">
                <a:solidFill>
                  <a:srgbClr val="A82D16"/>
                </a:solidFill>
                <a:latin typeface="Segoe UI"/>
              </a:rPr>
              <a:t>SUCC</a:t>
            </a:r>
          </a:p>
        </p:txBody>
      </p:sp>
      <p:sp>
        <p:nvSpPr>
          <p:cNvPr id="15" name="TextBox 14"/>
          <p:cNvSpPr txBox="1"/>
          <p:nvPr/>
        </p:nvSpPr>
        <p:spPr>
          <a:xfrm>
            <a:off x="923544" y="2889504"/>
            <a:ext cx="960120" cy="182880"/>
          </a:xfrm>
          <a:prstGeom prst="rect">
            <a:avLst/>
          </a:prstGeom>
          <a:noFill/>
        </p:spPr>
        <p:txBody>
          <a:bodyPr wrap="square" lIns="0" rIns="0" tIns="0" bIns="0">
            <a:spAutoFit/>
          </a:bodyPr>
          <a:lstStyle/>
          <a:p>
            <a:pPr algn="l">
              <a:lnSpc>
                <a:spcPct val="125000"/>
              </a:lnSpc>
              <a:spcAft>
                <a:spcPts val="600"/>
              </a:spcAft>
            </a:pPr>
            <a:r>
              <a:rPr sz="700" b="0">
                <a:solidFill>
                  <a:srgbClr val="8A8A94"/>
                </a:solidFill>
                <a:latin typeface="Segoe UI"/>
              </a:rPr>
              <a:t>3 Delayed evidence</a:t>
            </a:r>
          </a:p>
        </p:txBody>
      </p:sp>
      <p:sp>
        <p:nvSpPr>
          <p:cNvPr id="16" name="TextBox 15"/>
          <p:cNvSpPr txBox="1"/>
          <p:nvPr/>
        </p:nvSpPr>
        <p:spPr>
          <a:xfrm>
            <a:off x="1911096" y="2889504"/>
            <a:ext cx="329184" cy="182880"/>
          </a:xfrm>
          <a:prstGeom prst="rect">
            <a:avLst/>
          </a:prstGeom>
          <a:noFill/>
        </p:spPr>
        <p:txBody>
          <a:bodyPr wrap="square" lIns="0" rIns="0" tIns="0" bIns="0">
            <a:spAutoFit/>
          </a:bodyPr>
          <a:lstStyle/>
          <a:p>
            <a:pPr algn="l">
              <a:lnSpc>
                <a:spcPct val="125000"/>
              </a:lnSpc>
              <a:spcAft>
                <a:spcPts val="600"/>
              </a:spcAft>
            </a:pPr>
            <a:r>
              <a:rPr sz="600" b="1">
                <a:solidFill>
                  <a:srgbClr val="A82D16"/>
                </a:solidFill>
                <a:latin typeface="Segoe UI"/>
              </a:rPr>
              <a:t>SUCC</a:t>
            </a:r>
          </a:p>
        </p:txBody>
      </p:sp>
      <p:sp>
        <p:nvSpPr>
          <p:cNvPr id="17" name="TextBox 16"/>
          <p:cNvSpPr txBox="1"/>
          <p:nvPr/>
        </p:nvSpPr>
        <p:spPr>
          <a:xfrm>
            <a:off x="923544" y="3163824"/>
            <a:ext cx="960120" cy="182880"/>
          </a:xfrm>
          <a:prstGeom prst="rect">
            <a:avLst/>
          </a:prstGeom>
          <a:noFill/>
        </p:spPr>
        <p:txBody>
          <a:bodyPr wrap="square" lIns="0" rIns="0" tIns="0" bIns="0">
            <a:spAutoFit/>
          </a:bodyPr>
          <a:lstStyle/>
          <a:p>
            <a:pPr algn="l">
              <a:lnSpc>
                <a:spcPct val="125000"/>
              </a:lnSpc>
              <a:spcAft>
                <a:spcPts val="600"/>
              </a:spcAft>
            </a:pPr>
            <a:r>
              <a:rPr sz="700" b="0">
                <a:solidFill>
                  <a:srgbClr val="8A8A94"/>
                </a:solidFill>
                <a:latin typeface="Segoe UI"/>
              </a:rPr>
              <a:t>4 Human override</a:t>
            </a:r>
          </a:p>
        </p:txBody>
      </p:sp>
      <p:sp>
        <p:nvSpPr>
          <p:cNvPr id="18" name="TextBox 17"/>
          <p:cNvSpPr txBox="1"/>
          <p:nvPr/>
        </p:nvSpPr>
        <p:spPr>
          <a:xfrm>
            <a:off x="1911096" y="3163824"/>
            <a:ext cx="329184" cy="182880"/>
          </a:xfrm>
          <a:prstGeom prst="rect">
            <a:avLst/>
          </a:prstGeom>
          <a:noFill/>
        </p:spPr>
        <p:txBody>
          <a:bodyPr wrap="square" lIns="0" rIns="0" tIns="0" bIns="0">
            <a:spAutoFit/>
          </a:bodyPr>
          <a:lstStyle/>
          <a:p>
            <a:pPr algn="l">
              <a:lnSpc>
                <a:spcPct val="125000"/>
              </a:lnSpc>
              <a:spcAft>
                <a:spcPts val="600"/>
              </a:spcAft>
            </a:pPr>
            <a:r>
              <a:rPr sz="600" b="1">
                <a:solidFill>
                  <a:srgbClr val="A82D16"/>
                </a:solidFill>
                <a:latin typeface="Segoe UI"/>
              </a:rPr>
              <a:t>SUCC</a:t>
            </a:r>
          </a:p>
        </p:txBody>
      </p:sp>
      <p:sp>
        <p:nvSpPr>
          <p:cNvPr id="19" name="TextBox 18"/>
          <p:cNvSpPr txBox="1"/>
          <p:nvPr/>
        </p:nvSpPr>
        <p:spPr>
          <a:xfrm>
            <a:off x="923544" y="3438144"/>
            <a:ext cx="960120" cy="182880"/>
          </a:xfrm>
          <a:prstGeom prst="rect">
            <a:avLst/>
          </a:prstGeom>
          <a:noFill/>
        </p:spPr>
        <p:txBody>
          <a:bodyPr wrap="square" lIns="0" rIns="0" tIns="0" bIns="0">
            <a:spAutoFit/>
          </a:bodyPr>
          <a:lstStyle/>
          <a:p>
            <a:pPr algn="l">
              <a:lnSpc>
                <a:spcPct val="125000"/>
              </a:lnSpc>
              <a:spcAft>
                <a:spcPts val="600"/>
              </a:spcAft>
            </a:pPr>
            <a:r>
              <a:rPr sz="700" b="0">
                <a:solidFill>
                  <a:srgbClr val="8A8A94"/>
                </a:solidFill>
                <a:latin typeface="Segoe UI"/>
              </a:rPr>
              <a:t>5 Correlation</a:t>
            </a:r>
          </a:p>
        </p:txBody>
      </p:sp>
      <p:sp>
        <p:nvSpPr>
          <p:cNvPr id="20" name="TextBox 19"/>
          <p:cNvSpPr txBox="1"/>
          <p:nvPr/>
        </p:nvSpPr>
        <p:spPr>
          <a:xfrm>
            <a:off x="1911096" y="3438144"/>
            <a:ext cx="329184" cy="182880"/>
          </a:xfrm>
          <a:prstGeom prst="rect">
            <a:avLst/>
          </a:prstGeom>
          <a:noFill/>
        </p:spPr>
        <p:txBody>
          <a:bodyPr wrap="square" lIns="0" rIns="0" tIns="0" bIns="0">
            <a:spAutoFit/>
          </a:bodyPr>
          <a:lstStyle/>
          <a:p>
            <a:pPr algn="l">
              <a:lnSpc>
                <a:spcPct val="125000"/>
              </a:lnSpc>
              <a:spcAft>
                <a:spcPts val="600"/>
              </a:spcAft>
            </a:pPr>
            <a:r>
              <a:rPr sz="600" b="1">
                <a:solidFill>
                  <a:srgbClr val="A82D16"/>
                </a:solidFill>
                <a:latin typeface="Segoe UI"/>
              </a:rPr>
              <a:t>SUCC</a:t>
            </a:r>
          </a:p>
        </p:txBody>
      </p:sp>
      <p:sp>
        <p:nvSpPr>
          <p:cNvPr id="21" name="TextBox 20"/>
          <p:cNvSpPr txBox="1"/>
          <p:nvPr/>
        </p:nvSpPr>
        <p:spPr>
          <a:xfrm>
            <a:off x="923544" y="3712464"/>
            <a:ext cx="960120" cy="182880"/>
          </a:xfrm>
          <a:prstGeom prst="rect">
            <a:avLst/>
          </a:prstGeom>
          <a:noFill/>
        </p:spPr>
        <p:txBody>
          <a:bodyPr wrap="square" lIns="0" rIns="0" tIns="0" bIns="0">
            <a:spAutoFit/>
          </a:bodyPr>
          <a:lstStyle/>
          <a:p>
            <a:pPr algn="l">
              <a:lnSpc>
                <a:spcPct val="125000"/>
              </a:lnSpc>
              <a:spcAft>
                <a:spcPts val="600"/>
              </a:spcAft>
            </a:pPr>
            <a:r>
              <a:rPr sz="700" b="0">
                <a:solidFill>
                  <a:srgbClr val="8A8A94"/>
                </a:solidFill>
                <a:latin typeface="Segoe UI"/>
              </a:rPr>
              <a:t>6 Tool failure</a:t>
            </a:r>
          </a:p>
        </p:txBody>
      </p:sp>
      <p:sp>
        <p:nvSpPr>
          <p:cNvPr id="22" name="TextBox 21"/>
          <p:cNvSpPr txBox="1"/>
          <p:nvPr/>
        </p:nvSpPr>
        <p:spPr>
          <a:xfrm>
            <a:off x="1911096" y="3712464"/>
            <a:ext cx="329184" cy="182880"/>
          </a:xfrm>
          <a:prstGeom prst="rect">
            <a:avLst/>
          </a:prstGeom>
          <a:noFill/>
        </p:spPr>
        <p:txBody>
          <a:bodyPr wrap="square" lIns="0" rIns="0" tIns="0" bIns="0">
            <a:spAutoFit/>
          </a:bodyPr>
          <a:lstStyle/>
          <a:p>
            <a:pPr algn="l">
              <a:lnSpc>
                <a:spcPct val="125000"/>
              </a:lnSpc>
              <a:spcAft>
                <a:spcPts val="600"/>
              </a:spcAft>
            </a:pPr>
            <a:r>
              <a:rPr sz="600" b="1">
                <a:solidFill>
                  <a:srgbClr val="8A5E00"/>
                </a:solidFill>
                <a:latin typeface="Segoe UI"/>
              </a:rPr>
              <a:t>INC</a:t>
            </a:r>
          </a:p>
        </p:txBody>
      </p:sp>
      <p:sp>
        <p:nvSpPr>
          <p:cNvPr id="23" name="TextBox 22"/>
          <p:cNvSpPr txBox="1"/>
          <p:nvPr/>
        </p:nvSpPr>
        <p:spPr>
          <a:xfrm>
            <a:off x="923544" y="3986784"/>
            <a:ext cx="960120" cy="182880"/>
          </a:xfrm>
          <a:prstGeom prst="rect">
            <a:avLst/>
          </a:prstGeom>
          <a:noFill/>
        </p:spPr>
        <p:txBody>
          <a:bodyPr wrap="square" lIns="0" rIns="0" tIns="0" bIns="0">
            <a:spAutoFit/>
          </a:bodyPr>
          <a:lstStyle/>
          <a:p>
            <a:pPr algn="l">
              <a:lnSpc>
                <a:spcPct val="125000"/>
              </a:lnSpc>
              <a:spcAft>
                <a:spcPts val="600"/>
              </a:spcAft>
            </a:pPr>
            <a:r>
              <a:rPr sz="700" b="0">
                <a:solidFill>
                  <a:srgbClr val="8A8A94"/>
                </a:solidFill>
                <a:latin typeface="Segoe UI"/>
              </a:rPr>
              <a:t>7 Configuration</a:t>
            </a:r>
          </a:p>
        </p:txBody>
      </p:sp>
      <p:sp>
        <p:nvSpPr>
          <p:cNvPr id="24" name="TextBox 23"/>
          <p:cNvSpPr txBox="1"/>
          <p:nvPr/>
        </p:nvSpPr>
        <p:spPr>
          <a:xfrm>
            <a:off x="1911096" y="3986784"/>
            <a:ext cx="329184" cy="182880"/>
          </a:xfrm>
          <a:prstGeom prst="rect">
            <a:avLst/>
          </a:prstGeom>
          <a:noFill/>
        </p:spPr>
        <p:txBody>
          <a:bodyPr wrap="square" lIns="0" rIns="0" tIns="0" bIns="0">
            <a:spAutoFit/>
          </a:bodyPr>
          <a:lstStyle/>
          <a:p>
            <a:pPr algn="l">
              <a:lnSpc>
                <a:spcPct val="125000"/>
              </a:lnSpc>
              <a:spcAft>
                <a:spcPts val="600"/>
              </a:spcAft>
            </a:pPr>
            <a:r>
              <a:rPr sz="600" b="1">
                <a:solidFill>
                  <a:srgbClr val="8A5E00"/>
                </a:solidFill>
                <a:latin typeface="Segoe UI"/>
              </a:rPr>
              <a:t>INC</a:t>
            </a:r>
          </a:p>
        </p:txBody>
      </p:sp>
      <p:sp>
        <p:nvSpPr>
          <p:cNvPr id="25" name="Rounded Rectangle 24"/>
          <p:cNvSpPr/>
          <p:nvPr/>
        </p:nvSpPr>
        <p:spPr>
          <a:xfrm>
            <a:off x="2478024" y="1901952"/>
            <a:ext cx="1188720" cy="566928"/>
          </a:xfrm>
          <a:prstGeom prst="roundRect">
            <a:avLst/>
          </a:prstGeom>
          <a:solidFill>
            <a:srgbClr val="161616"/>
          </a:solidFill>
          <a:ln>
            <a:solidFill>
              <a:srgbClr val="2A2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60320" y="1965960"/>
            <a:ext cx="1051560" cy="146304"/>
          </a:xfrm>
          <a:prstGeom prst="rect">
            <a:avLst/>
          </a:prstGeom>
          <a:noFill/>
        </p:spPr>
        <p:txBody>
          <a:bodyPr wrap="square" lIns="0" rIns="0" tIns="0" bIns="0">
            <a:spAutoFit/>
          </a:bodyPr>
          <a:lstStyle/>
          <a:p>
            <a:pPr algn="l">
              <a:lnSpc>
                <a:spcPct val="125000"/>
              </a:lnSpc>
              <a:spcAft>
                <a:spcPts val="600"/>
              </a:spcAft>
            </a:pPr>
            <a:r>
              <a:rPr sz="600" b="1">
                <a:solidFill>
                  <a:srgbClr val="8A8A94"/>
                </a:solidFill>
                <a:latin typeface="Segoe UI"/>
              </a:rPr>
              <a:t>OUTCOME</a:t>
            </a:r>
          </a:p>
        </p:txBody>
      </p:sp>
      <p:sp>
        <p:nvSpPr>
          <p:cNvPr id="27" name="TextBox 26"/>
          <p:cNvSpPr txBox="1"/>
          <p:nvPr/>
        </p:nvSpPr>
        <p:spPr>
          <a:xfrm>
            <a:off x="2560320" y="2139696"/>
            <a:ext cx="1051560" cy="201168"/>
          </a:xfrm>
          <a:prstGeom prst="rect">
            <a:avLst/>
          </a:prstGeom>
          <a:noFill/>
        </p:spPr>
        <p:txBody>
          <a:bodyPr wrap="square" lIns="0" rIns="0" tIns="0" bIns="0">
            <a:spAutoFit/>
          </a:bodyPr>
          <a:lstStyle/>
          <a:p>
            <a:pPr algn="l">
              <a:lnSpc>
                <a:spcPct val="125000"/>
              </a:lnSpc>
              <a:spcAft>
                <a:spcPts val="600"/>
              </a:spcAft>
            </a:pPr>
            <a:r>
              <a:rPr sz="900" b="1">
                <a:solidFill>
                  <a:srgbClr val="A82D16"/>
                </a:solidFill>
                <a:latin typeface="Segoe UI"/>
              </a:rPr>
              <a:t>SUCCEEDED</a:t>
            </a:r>
          </a:p>
        </p:txBody>
      </p:sp>
      <p:sp>
        <p:nvSpPr>
          <p:cNvPr id="28" name="Rounded Rectangle 27"/>
          <p:cNvSpPr/>
          <p:nvPr/>
        </p:nvSpPr>
        <p:spPr>
          <a:xfrm>
            <a:off x="3721608" y="1901952"/>
            <a:ext cx="1188720" cy="566928"/>
          </a:xfrm>
          <a:prstGeom prst="roundRect">
            <a:avLst/>
          </a:prstGeom>
          <a:solidFill>
            <a:srgbClr val="161616"/>
          </a:solidFill>
          <a:ln>
            <a:solidFill>
              <a:srgbClr val="2A2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803904" y="1965960"/>
            <a:ext cx="1051560" cy="146304"/>
          </a:xfrm>
          <a:prstGeom prst="rect">
            <a:avLst/>
          </a:prstGeom>
          <a:noFill/>
        </p:spPr>
        <p:txBody>
          <a:bodyPr wrap="square" lIns="0" rIns="0" tIns="0" bIns="0">
            <a:spAutoFit/>
          </a:bodyPr>
          <a:lstStyle/>
          <a:p>
            <a:pPr algn="l">
              <a:lnSpc>
                <a:spcPct val="125000"/>
              </a:lnSpc>
              <a:spcAft>
                <a:spcPts val="600"/>
              </a:spcAft>
            </a:pPr>
            <a:r>
              <a:rPr sz="600" b="1">
                <a:solidFill>
                  <a:srgbClr val="8A8A94"/>
                </a:solidFill>
                <a:latin typeface="Segoe UI"/>
              </a:rPr>
              <a:t>CONFIDENCE</a:t>
            </a:r>
          </a:p>
        </p:txBody>
      </p:sp>
      <p:sp>
        <p:nvSpPr>
          <p:cNvPr id="30" name="TextBox 29"/>
          <p:cNvSpPr txBox="1"/>
          <p:nvPr/>
        </p:nvSpPr>
        <p:spPr>
          <a:xfrm>
            <a:off x="3803904" y="2139696"/>
            <a:ext cx="1051560" cy="201168"/>
          </a:xfrm>
          <a:prstGeom prst="rect">
            <a:avLst/>
          </a:prstGeom>
          <a:noFill/>
        </p:spPr>
        <p:txBody>
          <a:bodyPr wrap="square" lIns="0" rIns="0" tIns="0" bIns="0">
            <a:spAutoFit/>
          </a:bodyPr>
          <a:lstStyle/>
          <a:p>
            <a:pPr algn="l">
              <a:lnSpc>
                <a:spcPct val="125000"/>
              </a:lnSpc>
              <a:spcAft>
                <a:spcPts val="600"/>
              </a:spcAft>
            </a:pPr>
            <a:r>
              <a:rPr sz="900" b="1">
                <a:solidFill>
                  <a:srgbClr val="E4E4E7"/>
                </a:solidFill>
                <a:latin typeface="Segoe UI"/>
              </a:rPr>
              <a:t>0.95</a:t>
            </a:r>
          </a:p>
        </p:txBody>
      </p:sp>
      <p:sp>
        <p:nvSpPr>
          <p:cNvPr id="31" name="Rounded Rectangle 30"/>
          <p:cNvSpPr/>
          <p:nvPr/>
        </p:nvSpPr>
        <p:spPr>
          <a:xfrm>
            <a:off x="4965192" y="1901952"/>
            <a:ext cx="1188720" cy="566928"/>
          </a:xfrm>
          <a:prstGeom prst="roundRect">
            <a:avLst/>
          </a:prstGeom>
          <a:solidFill>
            <a:srgbClr val="161616"/>
          </a:solidFill>
          <a:ln>
            <a:solidFill>
              <a:srgbClr val="2A2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47488" y="1965960"/>
            <a:ext cx="1051560" cy="146304"/>
          </a:xfrm>
          <a:prstGeom prst="rect">
            <a:avLst/>
          </a:prstGeom>
          <a:noFill/>
        </p:spPr>
        <p:txBody>
          <a:bodyPr wrap="square" lIns="0" rIns="0" tIns="0" bIns="0">
            <a:spAutoFit/>
          </a:bodyPr>
          <a:lstStyle/>
          <a:p>
            <a:pPr algn="l">
              <a:lnSpc>
                <a:spcPct val="125000"/>
              </a:lnSpc>
              <a:spcAft>
                <a:spcPts val="600"/>
              </a:spcAft>
            </a:pPr>
            <a:r>
              <a:rPr sz="600" b="1">
                <a:solidFill>
                  <a:srgbClr val="8A8A94"/>
                </a:solidFill>
                <a:latin typeface="Segoe UI"/>
              </a:rPr>
              <a:t>EVIDENCE</a:t>
            </a:r>
          </a:p>
        </p:txBody>
      </p:sp>
      <p:sp>
        <p:nvSpPr>
          <p:cNvPr id="33" name="TextBox 32"/>
          <p:cNvSpPr txBox="1"/>
          <p:nvPr/>
        </p:nvSpPr>
        <p:spPr>
          <a:xfrm>
            <a:off x="5047488" y="2139696"/>
            <a:ext cx="1051560" cy="201168"/>
          </a:xfrm>
          <a:prstGeom prst="rect">
            <a:avLst/>
          </a:prstGeom>
          <a:noFill/>
        </p:spPr>
        <p:txBody>
          <a:bodyPr wrap="square" lIns="0" rIns="0" tIns="0" bIns="0">
            <a:spAutoFit/>
          </a:bodyPr>
          <a:lstStyle/>
          <a:p>
            <a:pPr algn="l">
              <a:lnSpc>
                <a:spcPct val="125000"/>
              </a:lnSpc>
              <a:spcAft>
                <a:spcPts val="600"/>
              </a:spcAft>
            </a:pPr>
            <a:r>
              <a:rPr sz="900" b="1">
                <a:solidFill>
                  <a:srgbClr val="E4E4E7"/>
                </a:solidFill>
                <a:latin typeface="Segoe UI"/>
              </a:rPr>
              <a:t>9</a:t>
            </a:r>
          </a:p>
        </p:txBody>
      </p:sp>
      <p:sp>
        <p:nvSpPr>
          <p:cNvPr id="34" name="Rounded Rectangle 33"/>
          <p:cNvSpPr/>
          <p:nvPr/>
        </p:nvSpPr>
        <p:spPr>
          <a:xfrm>
            <a:off x="6208776" y="1901952"/>
            <a:ext cx="1188720" cy="566928"/>
          </a:xfrm>
          <a:prstGeom prst="roundRect">
            <a:avLst/>
          </a:prstGeom>
          <a:solidFill>
            <a:srgbClr val="161616"/>
          </a:solidFill>
          <a:ln>
            <a:solidFill>
              <a:srgbClr val="2A2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91072" y="1965960"/>
            <a:ext cx="1051560" cy="146304"/>
          </a:xfrm>
          <a:prstGeom prst="rect">
            <a:avLst/>
          </a:prstGeom>
          <a:noFill/>
        </p:spPr>
        <p:txBody>
          <a:bodyPr wrap="square" lIns="0" rIns="0" tIns="0" bIns="0">
            <a:spAutoFit/>
          </a:bodyPr>
          <a:lstStyle/>
          <a:p>
            <a:pPr algn="l">
              <a:lnSpc>
                <a:spcPct val="125000"/>
              </a:lnSpc>
              <a:spcAft>
                <a:spcPts val="600"/>
              </a:spcAft>
            </a:pPr>
            <a:r>
              <a:rPr sz="600" b="1">
                <a:solidFill>
                  <a:srgbClr val="8A8A94"/>
                </a:solidFill>
                <a:latin typeface="Segoe UI"/>
              </a:rPr>
              <a:t>REFUSALS</a:t>
            </a:r>
          </a:p>
        </p:txBody>
      </p:sp>
      <p:sp>
        <p:nvSpPr>
          <p:cNvPr id="36" name="TextBox 35"/>
          <p:cNvSpPr txBox="1"/>
          <p:nvPr/>
        </p:nvSpPr>
        <p:spPr>
          <a:xfrm>
            <a:off x="6291072" y="2139696"/>
            <a:ext cx="1051560" cy="201168"/>
          </a:xfrm>
          <a:prstGeom prst="rect">
            <a:avLst/>
          </a:prstGeom>
          <a:noFill/>
        </p:spPr>
        <p:txBody>
          <a:bodyPr wrap="square" lIns="0" rIns="0" tIns="0" bIns="0">
            <a:spAutoFit/>
          </a:bodyPr>
          <a:lstStyle/>
          <a:p>
            <a:pPr algn="l">
              <a:lnSpc>
                <a:spcPct val="125000"/>
              </a:lnSpc>
              <a:spcAft>
                <a:spcPts val="600"/>
              </a:spcAft>
            </a:pPr>
            <a:r>
              <a:rPr sz="900" b="1">
                <a:solidFill>
                  <a:srgbClr val="E4E4E7"/>
                </a:solidFill>
                <a:latin typeface="Segoe UI"/>
              </a:rPr>
              <a:t>1</a:t>
            </a:r>
          </a:p>
        </p:txBody>
      </p:sp>
      <p:sp>
        <p:nvSpPr>
          <p:cNvPr id="37" name="Rounded Rectangle 36"/>
          <p:cNvSpPr/>
          <p:nvPr/>
        </p:nvSpPr>
        <p:spPr>
          <a:xfrm>
            <a:off x="2478024" y="2606040"/>
            <a:ext cx="4983480" cy="457200"/>
          </a:xfrm>
          <a:prstGeom prst="roundRect">
            <a:avLst/>
          </a:prstGeom>
          <a:solidFill>
            <a:srgbClr val="161616"/>
          </a:solidFill>
          <a:ln>
            <a:solidFill>
              <a:srgbClr val="2A2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587752" y="2660904"/>
            <a:ext cx="4754880" cy="146304"/>
          </a:xfrm>
          <a:prstGeom prst="rect">
            <a:avLst/>
          </a:prstGeom>
          <a:noFill/>
        </p:spPr>
        <p:txBody>
          <a:bodyPr wrap="square" lIns="0" rIns="0" tIns="0" bIns="0">
            <a:spAutoFit/>
          </a:bodyPr>
          <a:lstStyle/>
          <a:p>
            <a:pPr algn="l">
              <a:lnSpc>
                <a:spcPct val="125000"/>
              </a:lnSpc>
              <a:spcAft>
                <a:spcPts val="600"/>
              </a:spcAft>
            </a:pPr>
            <a:r>
              <a:rPr sz="600" b="1">
                <a:solidFill>
                  <a:srgbClr val="39FF14"/>
                </a:solidFill>
                <a:latin typeface="Segoe UI"/>
              </a:rPr>
              <a:t>TOOL CALL</a:t>
            </a:r>
          </a:p>
        </p:txBody>
      </p:sp>
      <p:sp>
        <p:nvSpPr>
          <p:cNvPr id="39" name="TextBox 38"/>
          <p:cNvSpPr txBox="1"/>
          <p:nvPr/>
        </p:nvSpPr>
        <p:spPr>
          <a:xfrm>
            <a:off x="2587752" y="2816352"/>
            <a:ext cx="4754880" cy="219456"/>
          </a:xfrm>
          <a:prstGeom prst="rect">
            <a:avLst/>
          </a:prstGeom>
          <a:noFill/>
        </p:spPr>
        <p:txBody>
          <a:bodyPr wrap="square" lIns="0" rIns="0" tIns="0" bIns="0">
            <a:spAutoFit/>
          </a:bodyPr>
          <a:lstStyle/>
          <a:p>
            <a:pPr algn="l">
              <a:lnSpc>
                <a:spcPct val="125000"/>
              </a:lnSpc>
              <a:spcAft>
                <a:spcPts val="600"/>
              </a:spcAft>
            </a:pPr>
            <a:r>
              <a:rPr sz="700" b="0">
                <a:solidFill>
                  <a:srgbClr val="E4E4E7"/>
                </a:solidFill>
                <a:latin typeface="Consolas"/>
              </a:rPr>
              <a:t>get_asset_info(asset_id='SRV-DB-02')</a:t>
            </a:r>
          </a:p>
        </p:txBody>
      </p:sp>
      <p:sp>
        <p:nvSpPr>
          <p:cNvPr id="40" name="Rounded Rectangle 39"/>
          <p:cNvSpPr/>
          <p:nvPr/>
        </p:nvSpPr>
        <p:spPr>
          <a:xfrm>
            <a:off x="2478024" y="3118104"/>
            <a:ext cx="4983480" cy="457200"/>
          </a:xfrm>
          <a:prstGeom prst="roundRect">
            <a:avLst/>
          </a:prstGeom>
          <a:solidFill>
            <a:srgbClr val="161616"/>
          </a:solidFill>
          <a:ln>
            <a:solidFill>
              <a:srgbClr val="2A2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587752" y="3172968"/>
            <a:ext cx="4754880" cy="146304"/>
          </a:xfrm>
          <a:prstGeom prst="rect">
            <a:avLst/>
          </a:prstGeom>
          <a:noFill/>
        </p:spPr>
        <p:txBody>
          <a:bodyPr wrap="square" lIns="0" rIns="0" tIns="0" bIns="0">
            <a:spAutoFit/>
          </a:bodyPr>
          <a:lstStyle/>
          <a:p>
            <a:pPr algn="l">
              <a:lnSpc>
                <a:spcPct val="125000"/>
              </a:lnSpc>
              <a:spcAft>
                <a:spcPts val="600"/>
              </a:spcAft>
            </a:pPr>
            <a:r>
              <a:rPr sz="600" b="1">
                <a:solidFill>
                  <a:srgbClr val="8A8A94"/>
                </a:solidFill>
                <a:latin typeface="Segoe UI"/>
              </a:rPr>
              <a:t>RESULT  OK</a:t>
            </a:r>
          </a:p>
        </p:txBody>
      </p:sp>
      <p:sp>
        <p:nvSpPr>
          <p:cNvPr id="42" name="TextBox 41"/>
          <p:cNvSpPr txBox="1"/>
          <p:nvPr/>
        </p:nvSpPr>
        <p:spPr>
          <a:xfrm>
            <a:off x="2587752" y="3328416"/>
            <a:ext cx="4754880" cy="219456"/>
          </a:xfrm>
          <a:prstGeom prst="rect">
            <a:avLst/>
          </a:prstGeom>
          <a:noFill/>
        </p:spPr>
        <p:txBody>
          <a:bodyPr wrap="square" lIns="0" rIns="0" tIns="0" bIns="0">
            <a:spAutoFit/>
          </a:bodyPr>
          <a:lstStyle/>
          <a:p>
            <a:pPr algn="l">
              <a:lnSpc>
                <a:spcPct val="125000"/>
              </a:lnSpc>
              <a:spcAft>
                <a:spcPts val="600"/>
              </a:spcAft>
            </a:pPr>
            <a:r>
              <a:rPr sz="700" b="0">
                <a:solidFill>
                  <a:srgbClr val="E4E4E7"/>
                </a:solidFill>
                <a:latin typeface="Segoe UI"/>
              </a:rPr>
              <a:t>mysql 5.7.21 running</a:t>
            </a:r>
          </a:p>
        </p:txBody>
      </p:sp>
      <p:sp>
        <p:nvSpPr>
          <p:cNvPr id="43" name="Rounded Rectangle 42"/>
          <p:cNvSpPr/>
          <p:nvPr/>
        </p:nvSpPr>
        <p:spPr>
          <a:xfrm>
            <a:off x="2478024" y="3630168"/>
            <a:ext cx="4983480" cy="457200"/>
          </a:xfrm>
          <a:prstGeom prst="roundRect">
            <a:avLst/>
          </a:prstGeom>
          <a:solidFill>
            <a:srgbClr val="161616"/>
          </a:solidFill>
          <a:ln>
            <a:solidFill>
              <a:srgbClr val="2A2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587752" y="3685032"/>
            <a:ext cx="4754880" cy="146304"/>
          </a:xfrm>
          <a:prstGeom prst="rect">
            <a:avLst/>
          </a:prstGeom>
          <a:noFill/>
        </p:spPr>
        <p:txBody>
          <a:bodyPr wrap="square" lIns="0" rIns="0" tIns="0" bIns="0">
            <a:spAutoFit/>
          </a:bodyPr>
          <a:lstStyle/>
          <a:p>
            <a:pPr algn="l">
              <a:lnSpc>
                <a:spcPct val="125000"/>
              </a:lnSpc>
              <a:spcAft>
                <a:spcPts val="600"/>
              </a:spcAft>
            </a:pPr>
            <a:r>
              <a:rPr sz="600" b="1">
                <a:solidFill>
                  <a:srgbClr val="39FF14"/>
                </a:solidFill>
                <a:latin typeface="Segoe UI"/>
              </a:rPr>
              <a:t>TOOL CALL</a:t>
            </a:r>
          </a:p>
        </p:txBody>
      </p:sp>
      <p:sp>
        <p:nvSpPr>
          <p:cNvPr id="45" name="TextBox 44"/>
          <p:cNvSpPr txBox="1"/>
          <p:nvPr/>
        </p:nvSpPr>
        <p:spPr>
          <a:xfrm>
            <a:off x="2587752" y="3840480"/>
            <a:ext cx="4754880" cy="219456"/>
          </a:xfrm>
          <a:prstGeom prst="rect">
            <a:avLst/>
          </a:prstGeom>
          <a:noFill/>
        </p:spPr>
        <p:txBody>
          <a:bodyPr wrap="square" lIns="0" rIns="0" tIns="0" bIns="0">
            <a:spAutoFit/>
          </a:bodyPr>
          <a:lstStyle/>
          <a:p>
            <a:pPr algn="l">
              <a:lnSpc>
                <a:spcPct val="125000"/>
              </a:lnSpc>
              <a:spcAft>
                <a:spcPts val="600"/>
              </a:spcAft>
            </a:pPr>
            <a:r>
              <a:rPr sz="700" b="0">
                <a:solidFill>
                  <a:srgbClr val="E4E4E7"/>
                </a:solidFill>
                <a:latin typeface="Consolas"/>
              </a:rPr>
              <a:t>get_vulnerabilities(service_name='mysql')</a:t>
            </a:r>
          </a:p>
        </p:txBody>
      </p:sp>
      <p:sp>
        <p:nvSpPr>
          <p:cNvPr id="46" name="Rounded Rectangle 45"/>
          <p:cNvSpPr/>
          <p:nvPr/>
        </p:nvSpPr>
        <p:spPr>
          <a:xfrm>
            <a:off x="2478024" y="4142232"/>
            <a:ext cx="4983480" cy="457200"/>
          </a:xfrm>
          <a:prstGeom prst="roundRect">
            <a:avLst/>
          </a:prstGeom>
          <a:solidFill>
            <a:srgbClr val="24100F"/>
          </a:solidFill>
          <a:ln>
            <a:solidFill>
              <a:srgbClr val="2A2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587752" y="4197096"/>
            <a:ext cx="4754880" cy="146304"/>
          </a:xfrm>
          <a:prstGeom prst="rect">
            <a:avLst/>
          </a:prstGeom>
          <a:noFill/>
        </p:spPr>
        <p:txBody>
          <a:bodyPr wrap="square" lIns="0" rIns="0" tIns="0" bIns="0">
            <a:spAutoFit/>
          </a:bodyPr>
          <a:lstStyle/>
          <a:p>
            <a:pPr algn="l">
              <a:lnSpc>
                <a:spcPct val="125000"/>
              </a:lnSpc>
              <a:spcAft>
                <a:spcPts val="600"/>
              </a:spcAft>
            </a:pPr>
            <a:r>
              <a:rPr sz="600" b="1">
                <a:solidFill>
                  <a:srgbClr val="A82D16"/>
                </a:solidFill>
                <a:latin typeface="Segoe UI"/>
              </a:rPr>
              <a:t>RESULT  REJECTED</a:t>
            </a:r>
          </a:p>
        </p:txBody>
      </p:sp>
      <p:sp>
        <p:nvSpPr>
          <p:cNvPr id="48" name="TextBox 47"/>
          <p:cNvSpPr txBox="1"/>
          <p:nvPr/>
        </p:nvSpPr>
        <p:spPr>
          <a:xfrm>
            <a:off x="2587752" y="4352544"/>
            <a:ext cx="4754880" cy="219456"/>
          </a:xfrm>
          <a:prstGeom prst="rect">
            <a:avLst/>
          </a:prstGeom>
          <a:noFill/>
        </p:spPr>
        <p:txBody>
          <a:bodyPr wrap="square" lIns="0" rIns="0" tIns="0" bIns="0">
            <a:spAutoFit/>
          </a:bodyPr>
          <a:lstStyle/>
          <a:p>
            <a:pPr algn="l">
              <a:lnSpc>
                <a:spcPct val="125000"/>
              </a:lnSpc>
              <a:spcAft>
                <a:spcPts val="600"/>
              </a:spcAft>
            </a:pPr>
            <a:r>
              <a:rPr sz="700" b="0">
                <a:solidFill>
                  <a:srgbClr val="E4E4E7"/>
                </a:solidFill>
                <a:latin typeface="Segoe UI"/>
              </a:rPr>
              <a:t>factor 'version_patched' claims the host is outside ALL ranges, but openssh was never looked up</a:t>
            </a:r>
          </a:p>
        </p:txBody>
      </p:sp>
      <p:sp>
        <p:nvSpPr>
          <p:cNvPr id="49" name="Rounded Rectangle 48"/>
          <p:cNvSpPr/>
          <p:nvPr/>
        </p:nvSpPr>
        <p:spPr>
          <a:xfrm>
            <a:off x="2478024" y="4654296"/>
            <a:ext cx="4983480" cy="457200"/>
          </a:xfrm>
          <a:prstGeom prst="roundRect">
            <a:avLst/>
          </a:prstGeom>
          <a:solidFill>
            <a:srgbClr val="161616"/>
          </a:solidFill>
          <a:ln>
            <a:solidFill>
              <a:srgbClr val="2A2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587752" y="4709160"/>
            <a:ext cx="4754880" cy="146304"/>
          </a:xfrm>
          <a:prstGeom prst="rect">
            <a:avLst/>
          </a:prstGeom>
          <a:noFill/>
        </p:spPr>
        <p:txBody>
          <a:bodyPr wrap="square" lIns="0" rIns="0" tIns="0" bIns="0">
            <a:spAutoFit/>
          </a:bodyPr>
          <a:lstStyle/>
          <a:p>
            <a:pPr algn="l">
              <a:lnSpc>
                <a:spcPct val="125000"/>
              </a:lnSpc>
              <a:spcAft>
                <a:spcPts val="600"/>
              </a:spcAft>
            </a:pPr>
            <a:r>
              <a:rPr sz="600" b="1">
                <a:solidFill>
                  <a:srgbClr val="E4E4E7"/>
                </a:solidFill>
                <a:latin typeface="Segoe UI"/>
              </a:rPr>
              <a:t>REASONING</a:t>
            </a:r>
          </a:p>
        </p:txBody>
      </p:sp>
      <p:sp>
        <p:nvSpPr>
          <p:cNvPr id="51" name="TextBox 50"/>
          <p:cNvSpPr txBox="1"/>
          <p:nvPr/>
        </p:nvSpPr>
        <p:spPr>
          <a:xfrm>
            <a:off x="2587752" y="4864608"/>
            <a:ext cx="4754880" cy="219456"/>
          </a:xfrm>
          <a:prstGeom prst="rect">
            <a:avLst/>
          </a:prstGeom>
          <a:noFill/>
        </p:spPr>
        <p:txBody>
          <a:bodyPr wrap="square" lIns="0" rIns="0" tIns="0" bIns="0">
            <a:spAutoFit/>
          </a:bodyPr>
          <a:lstStyle/>
          <a:p>
            <a:pPr algn="l">
              <a:lnSpc>
                <a:spcPct val="125000"/>
              </a:lnSpc>
              <a:spcAft>
                <a:spcPts val="600"/>
              </a:spcAft>
            </a:pPr>
            <a:r>
              <a:rPr sz="700" b="0">
                <a:solidFill>
                  <a:srgbClr val="E4E4E7"/>
                </a:solidFill>
                <a:latin typeface="Segoe UI"/>
              </a:rPr>
              <a:t>I need to fix two issues. Let me check openssh CVEs.</a:t>
            </a:r>
          </a:p>
        </p:txBody>
      </p:sp>
      <p:sp>
        <p:nvSpPr>
          <p:cNvPr id="52" name="Rounded Rectangle 51"/>
          <p:cNvSpPr/>
          <p:nvPr/>
        </p:nvSpPr>
        <p:spPr>
          <a:xfrm>
            <a:off x="2478024" y="5166360"/>
            <a:ext cx="4983480" cy="457200"/>
          </a:xfrm>
          <a:prstGeom prst="roundRect">
            <a:avLst/>
          </a:prstGeom>
          <a:solidFill>
            <a:srgbClr val="161616"/>
          </a:solidFill>
          <a:ln>
            <a:solidFill>
              <a:srgbClr val="2A2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587752" y="5221224"/>
            <a:ext cx="4754880" cy="146304"/>
          </a:xfrm>
          <a:prstGeom prst="rect">
            <a:avLst/>
          </a:prstGeom>
          <a:noFill/>
        </p:spPr>
        <p:txBody>
          <a:bodyPr wrap="square" lIns="0" rIns="0" tIns="0" bIns="0">
            <a:spAutoFit/>
          </a:bodyPr>
          <a:lstStyle/>
          <a:p>
            <a:pPr algn="l">
              <a:lnSpc>
                <a:spcPct val="125000"/>
              </a:lnSpc>
              <a:spcAft>
                <a:spcPts val="600"/>
              </a:spcAft>
            </a:pPr>
            <a:r>
              <a:rPr sz="600" b="1">
                <a:solidFill>
                  <a:srgbClr val="8A5E00"/>
                </a:solidFill>
                <a:latin typeface="Segoe UI"/>
              </a:rPr>
              <a:t>SCORING</a:t>
            </a:r>
          </a:p>
        </p:txBody>
      </p:sp>
      <p:sp>
        <p:nvSpPr>
          <p:cNvPr id="54" name="TextBox 53"/>
          <p:cNvSpPr txBox="1"/>
          <p:nvPr/>
        </p:nvSpPr>
        <p:spPr>
          <a:xfrm>
            <a:off x="2587752" y="5376672"/>
            <a:ext cx="4754880" cy="219456"/>
          </a:xfrm>
          <a:prstGeom prst="rect">
            <a:avLst/>
          </a:prstGeom>
          <a:noFill/>
        </p:spPr>
        <p:txBody>
          <a:bodyPr wrap="square" lIns="0" rIns="0" tIns="0" bIns="0">
            <a:spAutoFit/>
          </a:bodyPr>
          <a:lstStyle/>
          <a:p>
            <a:pPr algn="l">
              <a:lnSpc>
                <a:spcPct val="125000"/>
              </a:lnSpc>
              <a:spcAft>
                <a:spcPts val="600"/>
              </a:spcAft>
            </a:pPr>
            <a:r>
              <a:rPr sz="700" b="0">
                <a:solidFill>
                  <a:srgbClr val="E4E4E7"/>
                </a:solidFill>
                <a:latin typeface="Consolas"/>
              </a:rPr>
              <a:t>base 0.50 -&gt; raw 1.15 -&gt; score 0.95  SUCCEEDED</a:t>
            </a:r>
          </a:p>
        </p:txBody>
      </p:sp>
      <p:sp>
        <p:nvSpPr>
          <p:cNvPr id="55" name="Rounded Rectangle 54"/>
          <p:cNvSpPr/>
          <p:nvPr/>
        </p:nvSpPr>
        <p:spPr>
          <a:xfrm>
            <a:off x="7863840" y="1737360"/>
            <a:ext cx="3520440" cy="932688"/>
          </a:xfrm>
          <a:prstGeom prst="roundRect">
            <a:avLst>
              <a:gd name="adj" fmla="val 4000"/>
            </a:avLst>
          </a:prstGeom>
          <a:solidFill>
            <a:srgbClr val="FFFFFF"/>
          </a:solidFill>
          <a:ln w="12700">
            <a:solidFill>
              <a:srgbClr val="E2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7863840" y="1737360"/>
            <a:ext cx="50292" cy="932688"/>
          </a:xfrm>
          <a:prstGeom prst="rect">
            <a:avLst/>
          </a:prstGeom>
          <a:solidFill>
            <a:srgbClr val="E25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156448" y="1865376"/>
            <a:ext cx="3108960" cy="274320"/>
          </a:xfrm>
          <a:prstGeom prst="rect">
            <a:avLst/>
          </a:prstGeom>
          <a:noFill/>
        </p:spPr>
        <p:txBody>
          <a:bodyPr wrap="square" lIns="0" rIns="0" tIns="0" bIns="0">
            <a:spAutoFit/>
          </a:bodyPr>
          <a:lstStyle/>
          <a:p>
            <a:pPr algn="l">
              <a:lnSpc>
                <a:spcPct val="125000"/>
              </a:lnSpc>
              <a:spcAft>
                <a:spcPts val="600"/>
              </a:spcAft>
            </a:pPr>
            <a:r>
              <a:rPr sz="1300" b="1">
                <a:solidFill>
                  <a:srgbClr val="1C1C1E"/>
                </a:solidFill>
                <a:latin typeface="Segoe UI"/>
              </a:rPr>
              <a:t>Every step, in order</a:t>
            </a:r>
          </a:p>
        </p:txBody>
      </p:sp>
      <p:sp>
        <p:nvSpPr>
          <p:cNvPr id="58" name="TextBox 57"/>
          <p:cNvSpPr txBox="1"/>
          <p:nvPr/>
        </p:nvSpPr>
        <p:spPr>
          <a:xfrm>
            <a:off x="8156448" y="2157984"/>
            <a:ext cx="3108960" cy="457200"/>
          </a:xfrm>
          <a:prstGeom prst="rect">
            <a:avLst/>
          </a:prstGeom>
          <a:noFill/>
        </p:spPr>
        <p:txBody>
          <a:bodyPr wrap="square" lIns="0" rIns="0" tIns="0" bIns="0">
            <a:spAutoFit/>
          </a:bodyPr>
          <a:lstStyle/>
          <a:p>
            <a:pPr algn="l">
              <a:lnSpc>
                <a:spcPct val="125000"/>
              </a:lnSpc>
              <a:spcAft>
                <a:spcPts val="600"/>
              </a:spcAft>
            </a:pPr>
            <a:r>
              <a:rPr sz="1100" b="0">
                <a:solidFill>
                  <a:srgbClr val="4A4A52"/>
                </a:solidFill>
                <a:latin typeface="Segoe UI"/>
              </a:rPr>
              <a:t>Each tool call with the reason the agent gave BEFORE making it.</a:t>
            </a:r>
          </a:p>
        </p:txBody>
      </p:sp>
      <p:sp>
        <p:nvSpPr>
          <p:cNvPr id="59" name="Rounded Rectangle 58"/>
          <p:cNvSpPr/>
          <p:nvPr/>
        </p:nvSpPr>
        <p:spPr>
          <a:xfrm>
            <a:off x="7863840" y="2761488"/>
            <a:ext cx="3520440" cy="932688"/>
          </a:xfrm>
          <a:prstGeom prst="roundRect">
            <a:avLst>
              <a:gd name="adj" fmla="val 4000"/>
            </a:avLst>
          </a:prstGeom>
          <a:solidFill>
            <a:srgbClr val="FFFFFF"/>
          </a:solidFill>
          <a:ln w="12700">
            <a:solidFill>
              <a:srgbClr val="E2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7863840" y="2761488"/>
            <a:ext cx="50292" cy="932688"/>
          </a:xfrm>
          <a:prstGeom prst="rect">
            <a:avLst/>
          </a:prstGeom>
          <a:solidFill>
            <a:srgbClr val="E25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156448" y="2889504"/>
            <a:ext cx="3108960" cy="274320"/>
          </a:xfrm>
          <a:prstGeom prst="rect">
            <a:avLst/>
          </a:prstGeom>
          <a:noFill/>
        </p:spPr>
        <p:txBody>
          <a:bodyPr wrap="square" lIns="0" rIns="0" tIns="0" bIns="0">
            <a:spAutoFit/>
          </a:bodyPr>
          <a:lstStyle/>
          <a:p>
            <a:pPr algn="l">
              <a:lnSpc>
                <a:spcPct val="125000"/>
              </a:lnSpc>
              <a:spcAft>
                <a:spcPts val="600"/>
              </a:spcAft>
            </a:pPr>
            <a:r>
              <a:rPr sz="1300" b="1">
                <a:solidFill>
                  <a:srgbClr val="1C1C1E"/>
                </a:solidFill>
                <a:latin typeface="Segoe UI"/>
              </a:rPr>
              <a:t>Refusals shown inline</a:t>
            </a:r>
          </a:p>
        </p:txBody>
      </p:sp>
      <p:sp>
        <p:nvSpPr>
          <p:cNvPr id="62" name="TextBox 61"/>
          <p:cNvSpPr txBox="1"/>
          <p:nvPr/>
        </p:nvSpPr>
        <p:spPr>
          <a:xfrm>
            <a:off x="8156448" y="3182112"/>
            <a:ext cx="3108960" cy="457200"/>
          </a:xfrm>
          <a:prstGeom prst="rect">
            <a:avLst/>
          </a:prstGeom>
          <a:noFill/>
        </p:spPr>
        <p:txBody>
          <a:bodyPr wrap="square" lIns="0" rIns="0" tIns="0" bIns="0">
            <a:spAutoFit/>
          </a:bodyPr>
          <a:lstStyle/>
          <a:p>
            <a:pPr algn="l">
              <a:lnSpc>
                <a:spcPct val="125000"/>
              </a:lnSpc>
              <a:spcAft>
                <a:spcPts val="600"/>
              </a:spcAft>
            </a:pPr>
            <a:r>
              <a:rPr sz="1100" b="0">
                <a:solidFill>
                  <a:srgbClr val="4A4A52"/>
                </a:solidFill>
                <a:latin typeface="Segoe UI"/>
              </a:rPr>
              <a:t>The guard rejection and the correction are both steps in the chain.</a:t>
            </a:r>
          </a:p>
        </p:txBody>
      </p:sp>
      <p:sp>
        <p:nvSpPr>
          <p:cNvPr id="63" name="Rounded Rectangle 62"/>
          <p:cNvSpPr/>
          <p:nvPr/>
        </p:nvSpPr>
        <p:spPr>
          <a:xfrm>
            <a:off x="7863840" y="3785616"/>
            <a:ext cx="3520440" cy="932688"/>
          </a:xfrm>
          <a:prstGeom prst="roundRect">
            <a:avLst>
              <a:gd name="adj" fmla="val 4000"/>
            </a:avLst>
          </a:prstGeom>
          <a:solidFill>
            <a:srgbClr val="FFFFFF"/>
          </a:solidFill>
          <a:ln w="12700">
            <a:solidFill>
              <a:srgbClr val="E2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7863840" y="3785616"/>
            <a:ext cx="50292" cy="932688"/>
          </a:xfrm>
          <a:prstGeom prst="rect">
            <a:avLst/>
          </a:prstGeom>
          <a:solidFill>
            <a:srgbClr val="E25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156448" y="3913632"/>
            <a:ext cx="3108960" cy="274320"/>
          </a:xfrm>
          <a:prstGeom prst="rect">
            <a:avLst/>
          </a:prstGeom>
          <a:noFill/>
        </p:spPr>
        <p:txBody>
          <a:bodyPr wrap="square" lIns="0" rIns="0" tIns="0" bIns="0">
            <a:spAutoFit/>
          </a:bodyPr>
          <a:lstStyle/>
          <a:p>
            <a:pPr algn="l">
              <a:lnSpc>
                <a:spcPct val="125000"/>
              </a:lnSpc>
              <a:spcAft>
                <a:spcPts val="600"/>
              </a:spcAft>
            </a:pPr>
            <a:r>
              <a:rPr sz="1300" b="1">
                <a:solidFill>
                  <a:srgbClr val="1C1C1E"/>
                </a:solidFill>
                <a:latin typeface="Segoe UI"/>
              </a:rPr>
              <a:t>Reconsiderations forked</a:t>
            </a:r>
          </a:p>
        </p:txBody>
      </p:sp>
      <p:sp>
        <p:nvSpPr>
          <p:cNvPr id="66" name="TextBox 65"/>
          <p:cNvSpPr txBox="1"/>
          <p:nvPr/>
        </p:nvSpPr>
        <p:spPr>
          <a:xfrm>
            <a:off x="8156448" y="4206240"/>
            <a:ext cx="3108960" cy="457200"/>
          </a:xfrm>
          <a:prstGeom prst="rect">
            <a:avLst/>
          </a:prstGeom>
          <a:noFill/>
        </p:spPr>
        <p:txBody>
          <a:bodyPr wrap="square" lIns="0" rIns="0" tIns="0" bIns="0">
            <a:spAutoFit/>
          </a:bodyPr>
          <a:lstStyle/>
          <a:p>
            <a:pPr algn="l">
              <a:lnSpc>
                <a:spcPct val="125000"/>
              </a:lnSpc>
              <a:spcAft>
                <a:spcPts val="600"/>
              </a:spcAft>
            </a:pPr>
            <a:r>
              <a:rPr sz="1100" b="0">
                <a:solidFill>
                  <a:srgbClr val="4A4A52"/>
                </a:solidFill>
                <a:latin typeface="Segoe UI"/>
              </a:rPr>
              <a:t>Prior conclusion sits beside the new one. Never overwritten.</a:t>
            </a:r>
          </a:p>
        </p:txBody>
      </p:sp>
      <p:sp>
        <p:nvSpPr>
          <p:cNvPr id="67" name="Rounded Rectangle 66"/>
          <p:cNvSpPr/>
          <p:nvPr/>
        </p:nvSpPr>
        <p:spPr>
          <a:xfrm>
            <a:off x="7863840" y="4809744"/>
            <a:ext cx="3520440" cy="932688"/>
          </a:xfrm>
          <a:prstGeom prst="roundRect">
            <a:avLst>
              <a:gd name="adj" fmla="val 4000"/>
            </a:avLst>
          </a:prstGeom>
          <a:solidFill>
            <a:srgbClr val="FFFFFF"/>
          </a:solidFill>
          <a:ln w="12700">
            <a:solidFill>
              <a:srgbClr val="E2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7863840" y="4809744"/>
            <a:ext cx="50292" cy="932688"/>
          </a:xfrm>
          <a:prstGeom prst="rect">
            <a:avLst/>
          </a:prstGeom>
          <a:solidFill>
            <a:srgbClr val="E25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156448" y="4937760"/>
            <a:ext cx="3108960" cy="274320"/>
          </a:xfrm>
          <a:prstGeom prst="rect">
            <a:avLst/>
          </a:prstGeom>
          <a:noFill/>
        </p:spPr>
        <p:txBody>
          <a:bodyPr wrap="square" lIns="0" rIns="0" tIns="0" bIns="0">
            <a:spAutoFit/>
          </a:bodyPr>
          <a:lstStyle/>
          <a:p>
            <a:pPr algn="l">
              <a:lnSpc>
                <a:spcPct val="125000"/>
              </a:lnSpc>
              <a:spcAft>
                <a:spcPts val="600"/>
              </a:spcAft>
            </a:pPr>
            <a:r>
              <a:rPr sz="1300" b="1">
                <a:solidFill>
                  <a:srgbClr val="1C1C1E"/>
                </a:solidFill>
                <a:latin typeface="Segoe UI"/>
              </a:rPr>
              <a:t>Replay, not live</a:t>
            </a:r>
          </a:p>
        </p:txBody>
      </p:sp>
      <p:sp>
        <p:nvSpPr>
          <p:cNvPr id="70" name="TextBox 69"/>
          <p:cNvSpPr txBox="1"/>
          <p:nvPr/>
        </p:nvSpPr>
        <p:spPr>
          <a:xfrm>
            <a:off x="8156448" y="5230368"/>
            <a:ext cx="3108960" cy="457200"/>
          </a:xfrm>
          <a:prstGeom prst="rect">
            <a:avLst/>
          </a:prstGeom>
          <a:noFill/>
        </p:spPr>
        <p:txBody>
          <a:bodyPr wrap="square" lIns="0" rIns="0" tIns="0" bIns="0">
            <a:spAutoFit/>
          </a:bodyPr>
          <a:lstStyle/>
          <a:p>
            <a:pPr algn="l">
              <a:lnSpc>
                <a:spcPct val="125000"/>
              </a:lnSpc>
              <a:spcAft>
                <a:spcPts val="600"/>
              </a:spcAft>
            </a:pPr>
            <a:r>
              <a:rPr sz="1100" b="0">
                <a:solidFill>
                  <a:srgbClr val="4A4A52"/>
                </a:solidFill>
                <a:latin typeface="Segoe UI"/>
              </a:rPr>
              <a:t>A live loop on stage can hang or rate-limit. Determinism over spectacle.</a:t>
            </a:r>
          </a:p>
        </p:txBody>
      </p:sp>
      <p:sp>
        <p:nvSpPr>
          <p:cNvPr id="71" name="TextBox 70"/>
          <p:cNvSpPr txBox="1"/>
          <p:nvPr/>
        </p:nvSpPr>
        <p:spPr>
          <a:xfrm>
            <a:off x="777240" y="5897880"/>
            <a:ext cx="10607040" cy="457200"/>
          </a:xfrm>
          <a:prstGeom prst="rect">
            <a:avLst/>
          </a:prstGeom>
          <a:noFill/>
        </p:spPr>
        <p:txBody>
          <a:bodyPr wrap="square" lIns="0" rIns="0" tIns="0" bIns="0">
            <a:spAutoFit/>
          </a:bodyPr>
          <a:lstStyle/>
          <a:p>
            <a:pPr algn="l">
              <a:lnSpc>
                <a:spcPct val="125000"/>
              </a:lnSpc>
              <a:spcAft>
                <a:spcPts val="600"/>
              </a:spcAft>
            </a:pPr>
            <a:r>
              <a:rPr sz="1250" b="0">
                <a:solidFill>
                  <a:srgbClr val="8A8A94"/>
                </a:solidFill>
                <a:latin typeface="Segoe UI"/>
              </a:rPr>
              <a:t>A separate plain-language site explains the product for a non-technical reader; the viewer is the technical artefact.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8961120" cy="274320"/>
          </a:xfrm>
          <a:prstGeom prst="rect">
            <a:avLst/>
          </a:prstGeom>
          <a:noFill/>
        </p:spPr>
        <p:txBody>
          <a:bodyPr wrap="square" lIns="0" rIns="0" tIns="0" bIns="0">
            <a:spAutoFit/>
          </a:bodyPr>
          <a:lstStyle/>
          <a:p>
            <a:pPr algn="l">
              <a:lnSpc>
                <a:spcPct val="125000"/>
              </a:lnSpc>
              <a:spcAft>
                <a:spcPts val="600"/>
              </a:spcAft>
            </a:pPr>
            <a:r>
              <a:rPr sz="1200" b="1">
                <a:solidFill>
                  <a:srgbClr val="E2551F"/>
                </a:solidFill>
                <a:latin typeface="Segoe UI"/>
              </a:rPr>
              <a:t>ROBUSTNESS AND GUARDRAILS</a:t>
            </a:r>
          </a:p>
        </p:txBody>
      </p:sp>
      <p:sp>
        <p:nvSpPr>
          <p:cNvPr id="4" name="TextBox 3"/>
          <p:cNvSpPr txBox="1"/>
          <p:nvPr/>
        </p:nvSpPr>
        <p:spPr>
          <a:xfrm>
            <a:off x="777240" y="731520"/>
            <a:ext cx="9144000" cy="1024128"/>
          </a:xfrm>
          <a:prstGeom prst="rect">
            <a:avLst/>
          </a:prstGeom>
          <a:noFill/>
        </p:spPr>
        <p:txBody>
          <a:bodyPr wrap="square" lIns="0" rIns="0" tIns="0" bIns="0">
            <a:spAutoFit/>
          </a:bodyPr>
          <a:lstStyle/>
          <a:p>
            <a:pPr algn="l">
              <a:lnSpc>
                <a:spcPct val="125000"/>
              </a:lnSpc>
              <a:spcAft>
                <a:spcPts val="600"/>
              </a:spcAft>
            </a:pPr>
            <a:r>
              <a:rPr sz="2700" b="1">
                <a:solidFill>
                  <a:srgbClr val="1C1C1E"/>
                </a:solidFill>
                <a:latin typeface="Georgia"/>
              </a:rPr>
              <a:t>What stops it doing something stupid</a:t>
            </a:r>
          </a:p>
        </p:txBody>
      </p:sp>
      <p:sp>
        <p:nvSpPr>
          <p:cNvPr id="5" name="Rounded Rectangle 4"/>
          <p:cNvSpPr/>
          <p:nvPr/>
        </p:nvSpPr>
        <p:spPr>
          <a:xfrm>
            <a:off x="10040112" y="475488"/>
            <a:ext cx="1344168" cy="402336"/>
          </a:xfrm>
          <a:prstGeom prst="roundRect">
            <a:avLst/>
          </a:prstGeom>
          <a:solidFill>
            <a:srgbClr val="FFF3E4"/>
          </a:solidFill>
          <a:ln>
            <a:solidFill>
              <a:srgbClr val="E255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E2551F"/>
                </a:solidFill>
                <a:latin typeface="Segoe UI"/>
              </a:rPr>
              <a:t>10%</a:t>
            </a:r>
          </a:p>
        </p:txBody>
      </p:sp>
      <p:sp>
        <p:nvSpPr>
          <p:cNvPr id="6" name="Rounded Rectangle 5"/>
          <p:cNvSpPr/>
          <p:nvPr/>
        </p:nvSpPr>
        <p:spPr>
          <a:xfrm>
            <a:off x="777240" y="1737360"/>
            <a:ext cx="6766560" cy="868680"/>
          </a:xfrm>
          <a:prstGeom prst="roundRect">
            <a:avLst>
              <a:gd name="adj" fmla="val 4000"/>
            </a:avLst>
          </a:prstGeom>
          <a:solidFill>
            <a:srgbClr val="FFFFFF"/>
          </a:solidFill>
          <a:ln w="12700">
            <a:solidFill>
              <a:srgbClr val="E2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50292" cy="868680"/>
          </a:xfrm>
          <a:prstGeom prst="rect">
            <a:avLst/>
          </a:prstGeom>
          <a:solidFill>
            <a:srgbClr val="E25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1856232"/>
            <a:ext cx="6217920" cy="274320"/>
          </a:xfrm>
          <a:prstGeom prst="rect">
            <a:avLst/>
          </a:prstGeom>
          <a:noFill/>
        </p:spPr>
        <p:txBody>
          <a:bodyPr wrap="square" lIns="0" rIns="0" tIns="0" bIns="0">
            <a:spAutoFit/>
          </a:bodyPr>
          <a:lstStyle/>
          <a:p>
            <a:pPr algn="l">
              <a:lnSpc>
                <a:spcPct val="125000"/>
              </a:lnSpc>
              <a:spcAft>
                <a:spcPts val="600"/>
              </a:spcAft>
            </a:pPr>
            <a:r>
              <a:rPr sz="1350" b="1">
                <a:solidFill>
                  <a:srgbClr val="1C1C1E"/>
                </a:solidFill>
                <a:latin typeface="Segoe UI"/>
              </a:rPr>
              <a:t>It cannot cite what it did not read</a:t>
            </a:r>
          </a:p>
        </p:txBody>
      </p:sp>
      <p:sp>
        <p:nvSpPr>
          <p:cNvPr id="9" name="TextBox 8"/>
          <p:cNvSpPr txBox="1"/>
          <p:nvPr/>
        </p:nvSpPr>
        <p:spPr>
          <a:xfrm>
            <a:off x="1078992" y="2157984"/>
            <a:ext cx="6217920" cy="384048"/>
          </a:xfrm>
          <a:prstGeom prst="rect">
            <a:avLst/>
          </a:prstGeom>
          <a:noFill/>
        </p:spPr>
        <p:txBody>
          <a:bodyPr wrap="square" lIns="0" rIns="0" tIns="0" bIns="0">
            <a:spAutoFit/>
          </a:bodyPr>
          <a:lstStyle/>
          <a:p>
            <a:pPr algn="l">
              <a:lnSpc>
                <a:spcPct val="125000"/>
              </a:lnSpc>
              <a:spcAft>
                <a:spcPts val="600"/>
              </a:spcAft>
            </a:pPr>
            <a:r>
              <a:rPr sz="1150" b="0">
                <a:solidFill>
                  <a:srgbClr val="4A4A52"/>
                </a:solidFill>
                <a:latin typeface="Segoe UI"/>
              </a:rPr>
              <a:t>A factor drawn from a lookup that returned no data is refused before it can ever reach the score.</a:t>
            </a:r>
          </a:p>
        </p:txBody>
      </p:sp>
      <p:sp>
        <p:nvSpPr>
          <p:cNvPr id="10" name="Rounded Rectangle 9"/>
          <p:cNvSpPr/>
          <p:nvPr/>
        </p:nvSpPr>
        <p:spPr>
          <a:xfrm>
            <a:off x="777240" y="2697480"/>
            <a:ext cx="6766560" cy="868680"/>
          </a:xfrm>
          <a:prstGeom prst="roundRect">
            <a:avLst>
              <a:gd name="adj" fmla="val 4000"/>
            </a:avLst>
          </a:prstGeom>
          <a:solidFill>
            <a:srgbClr val="FFFFFF"/>
          </a:solidFill>
          <a:ln w="12700">
            <a:solidFill>
              <a:srgbClr val="E2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697480"/>
            <a:ext cx="50292" cy="868680"/>
          </a:xfrm>
          <a:prstGeom prst="rect">
            <a:avLst/>
          </a:prstGeom>
          <a:solidFill>
            <a:srgbClr val="E25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78992" y="2816352"/>
            <a:ext cx="6217920" cy="274320"/>
          </a:xfrm>
          <a:prstGeom prst="rect">
            <a:avLst/>
          </a:prstGeom>
          <a:noFill/>
        </p:spPr>
        <p:txBody>
          <a:bodyPr wrap="square" lIns="0" rIns="0" tIns="0" bIns="0">
            <a:spAutoFit/>
          </a:bodyPr>
          <a:lstStyle/>
          <a:p>
            <a:pPr algn="l">
              <a:lnSpc>
                <a:spcPct val="125000"/>
              </a:lnSpc>
              <a:spcAft>
                <a:spcPts val="600"/>
              </a:spcAft>
            </a:pPr>
            <a:r>
              <a:rPr sz="1350" b="1">
                <a:solidFill>
                  <a:srgbClr val="1C1C1E"/>
                </a:solidFill>
                <a:latin typeface="Segoe UI"/>
              </a:rPr>
              <a:t>It cannot claim ALL from SOME</a:t>
            </a:r>
          </a:p>
        </p:txBody>
      </p:sp>
      <p:sp>
        <p:nvSpPr>
          <p:cNvPr id="13" name="TextBox 12"/>
          <p:cNvSpPr txBox="1"/>
          <p:nvPr/>
        </p:nvSpPr>
        <p:spPr>
          <a:xfrm>
            <a:off x="1078992" y="3118104"/>
            <a:ext cx="6217920" cy="384048"/>
          </a:xfrm>
          <a:prstGeom prst="rect">
            <a:avLst/>
          </a:prstGeom>
          <a:noFill/>
        </p:spPr>
        <p:txBody>
          <a:bodyPr wrap="square" lIns="0" rIns="0" tIns="0" bIns="0">
            <a:spAutoFit/>
          </a:bodyPr>
          <a:lstStyle/>
          <a:p>
            <a:pPr algn="l">
              <a:lnSpc>
                <a:spcPct val="125000"/>
              </a:lnSpc>
              <a:spcAft>
                <a:spcPts val="600"/>
              </a:spcAft>
            </a:pPr>
            <a:r>
              <a:rPr sz="1150" b="0">
                <a:solidFill>
                  <a:srgbClr val="4A4A52"/>
                </a:solidFill>
                <a:latin typeface="Segoe UI"/>
              </a:rPr>
              <a:t>Saying a host is outside every affected range, having checked two of its three services, is refused.</a:t>
            </a:r>
          </a:p>
        </p:txBody>
      </p:sp>
      <p:sp>
        <p:nvSpPr>
          <p:cNvPr id="14" name="Rounded Rectangle 13"/>
          <p:cNvSpPr/>
          <p:nvPr/>
        </p:nvSpPr>
        <p:spPr>
          <a:xfrm>
            <a:off x="777240" y="3657600"/>
            <a:ext cx="6766560" cy="868680"/>
          </a:xfrm>
          <a:prstGeom prst="roundRect">
            <a:avLst>
              <a:gd name="adj" fmla="val 4000"/>
            </a:avLst>
          </a:prstGeom>
          <a:solidFill>
            <a:srgbClr val="FFFFFF"/>
          </a:solidFill>
          <a:ln w="12700">
            <a:solidFill>
              <a:srgbClr val="E2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657600"/>
            <a:ext cx="50292" cy="868680"/>
          </a:xfrm>
          <a:prstGeom prst="rect">
            <a:avLst/>
          </a:prstGeom>
          <a:solidFill>
            <a:srgbClr val="E25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78992" y="3776472"/>
            <a:ext cx="6217920" cy="274320"/>
          </a:xfrm>
          <a:prstGeom prst="rect">
            <a:avLst/>
          </a:prstGeom>
          <a:noFill/>
        </p:spPr>
        <p:txBody>
          <a:bodyPr wrap="square" lIns="0" rIns="0" tIns="0" bIns="0">
            <a:spAutoFit/>
          </a:bodyPr>
          <a:lstStyle/>
          <a:p>
            <a:pPr algn="l">
              <a:lnSpc>
                <a:spcPct val="125000"/>
              </a:lnSpc>
              <a:spcAft>
                <a:spcPts val="600"/>
              </a:spcAft>
            </a:pPr>
            <a:r>
              <a:rPr sz="1350" b="1">
                <a:solidFill>
                  <a:srgbClr val="1C1C1E"/>
                </a:solidFill>
                <a:latin typeface="Segoe UI"/>
              </a:rPr>
              <a:t>It cannot hold both sides</a:t>
            </a:r>
          </a:p>
        </p:txBody>
      </p:sp>
      <p:sp>
        <p:nvSpPr>
          <p:cNvPr id="17" name="TextBox 16"/>
          <p:cNvSpPr txBox="1"/>
          <p:nvPr/>
        </p:nvSpPr>
        <p:spPr>
          <a:xfrm>
            <a:off x="1078992" y="4078224"/>
            <a:ext cx="6217920" cy="384048"/>
          </a:xfrm>
          <a:prstGeom prst="rect">
            <a:avLst/>
          </a:prstGeom>
          <a:noFill/>
        </p:spPr>
        <p:txBody>
          <a:bodyPr wrap="square" lIns="0" rIns="0" tIns="0" bIns="0">
            <a:spAutoFit/>
          </a:bodyPr>
          <a:lstStyle/>
          <a:p>
            <a:pPr algn="l">
              <a:lnSpc>
                <a:spcPct val="125000"/>
              </a:lnSpc>
              <a:spcAft>
                <a:spcPts val="600"/>
              </a:spcAft>
            </a:pPr>
            <a:r>
              <a:rPr sz="1150" b="0">
                <a:solidFill>
                  <a:srgbClr val="4A4A52"/>
                </a:solidFill>
                <a:latin typeface="Segoe UI"/>
              </a:rPr>
              <a:t>Declaring a finding and its negation together is refused.</a:t>
            </a:r>
          </a:p>
        </p:txBody>
      </p:sp>
      <p:sp>
        <p:nvSpPr>
          <p:cNvPr id="18" name="Rounded Rectangle 17"/>
          <p:cNvSpPr/>
          <p:nvPr/>
        </p:nvSpPr>
        <p:spPr>
          <a:xfrm>
            <a:off x="777240" y="4617720"/>
            <a:ext cx="6766560" cy="868680"/>
          </a:xfrm>
          <a:prstGeom prst="roundRect">
            <a:avLst>
              <a:gd name="adj" fmla="val 4000"/>
            </a:avLst>
          </a:prstGeom>
          <a:solidFill>
            <a:srgbClr val="FFFFFF"/>
          </a:solidFill>
          <a:ln w="12700">
            <a:solidFill>
              <a:srgbClr val="E2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4617720"/>
            <a:ext cx="50292" cy="868680"/>
          </a:xfrm>
          <a:prstGeom prst="rect">
            <a:avLst/>
          </a:prstGeom>
          <a:solidFill>
            <a:srgbClr val="E25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78992" y="4736592"/>
            <a:ext cx="6217920" cy="274320"/>
          </a:xfrm>
          <a:prstGeom prst="rect">
            <a:avLst/>
          </a:prstGeom>
          <a:noFill/>
        </p:spPr>
        <p:txBody>
          <a:bodyPr wrap="square" lIns="0" rIns="0" tIns="0" bIns="0">
            <a:spAutoFit/>
          </a:bodyPr>
          <a:lstStyle/>
          <a:p>
            <a:pPr algn="l">
              <a:lnSpc>
                <a:spcPct val="125000"/>
              </a:lnSpc>
              <a:spcAft>
                <a:spcPts val="600"/>
              </a:spcAft>
            </a:pPr>
            <a:r>
              <a:rPr sz="1350" b="1">
                <a:solidFill>
                  <a:srgbClr val="1C1C1E"/>
                </a:solidFill>
                <a:latin typeface="Segoe UI"/>
              </a:rPr>
              <a:t>It cannot contradict a sibling case</a:t>
            </a:r>
          </a:p>
        </p:txBody>
      </p:sp>
      <p:sp>
        <p:nvSpPr>
          <p:cNvPr id="21" name="TextBox 20"/>
          <p:cNvSpPr txBox="1"/>
          <p:nvPr/>
        </p:nvSpPr>
        <p:spPr>
          <a:xfrm>
            <a:off x="1078992" y="5038344"/>
            <a:ext cx="6217920" cy="384048"/>
          </a:xfrm>
          <a:prstGeom prst="rect">
            <a:avLst/>
          </a:prstGeom>
          <a:noFill/>
        </p:spPr>
        <p:txBody>
          <a:bodyPr wrap="square" lIns="0" rIns="0" tIns="0" bIns="0">
            <a:spAutoFit/>
          </a:bodyPr>
          <a:lstStyle/>
          <a:p>
            <a:pPr algn="l">
              <a:lnSpc>
                <a:spcPct val="125000"/>
              </a:lnSpc>
              <a:spcAft>
                <a:spcPts val="600"/>
              </a:spcAft>
            </a:pPr>
            <a:r>
              <a:rPr sz="1150" b="0">
                <a:solidFill>
                  <a:srgbClr val="4A4A52"/>
                </a:solidFill>
                <a:latin typeface="Segoe UI"/>
              </a:rPr>
              <a:t>Calling an asset clean over a window another case already concluded was breached is refused.</a:t>
            </a:r>
          </a:p>
        </p:txBody>
      </p:sp>
      <p:sp>
        <p:nvSpPr>
          <p:cNvPr id="22" name="TextBox 21"/>
          <p:cNvSpPr txBox="1"/>
          <p:nvPr/>
        </p:nvSpPr>
        <p:spPr>
          <a:xfrm>
            <a:off x="777240" y="5623560"/>
            <a:ext cx="6766560" cy="777240"/>
          </a:xfrm>
          <a:prstGeom prst="rect">
            <a:avLst/>
          </a:prstGeom>
          <a:noFill/>
        </p:spPr>
        <p:txBody>
          <a:bodyPr wrap="square" lIns="0" rIns="0" tIns="0" bIns="0">
            <a:spAutoFit/>
          </a:bodyPr>
          <a:lstStyle/>
          <a:p>
            <a:pPr algn="l">
              <a:lnSpc>
                <a:spcPct val="125000"/>
              </a:lnSpc>
              <a:spcAft>
                <a:spcPts val="600"/>
              </a:spcAft>
            </a:pPr>
            <a:r>
              <a:rPr sz="1200" b="0">
                <a:solidFill>
                  <a:srgbClr val="8A8A94"/>
                </a:solidFill>
                <a:latin typeface="Segoe UI"/>
              </a:rPr>
              <a:t>The guards judge the FORM of a claim, never the evidence. They never decide whether a version is in range; that comparison stays the agent's, and it is visible in the trace.</a:t>
            </a:r>
          </a:p>
        </p:txBody>
      </p:sp>
      <p:sp>
        <p:nvSpPr>
          <p:cNvPr id="23" name="Rounded Rectangle 22"/>
          <p:cNvSpPr/>
          <p:nvPr/>
        </p:nvSpPr>
        <p:spPr>
          <a:xfrm>
            <a:off x="7863840" y="1737360"/>
            <a:ext cx="3520440" cy="4663440"/>
          </a:xfrm>
          <a:prstGeom prst="roundRect">
            <a:avLst>
              <a:gd name="adj" fmla="val 4000"/>
            </a:avLst>
          </a:prstGeom>
          <a:solidFill>
            <a:srgbClr val="FFF3E4"/>
          </a:solidFill>
          <a:ln w="12700">
            <a:solidFill>
              <a:srgbClr val="E2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863840" y="1737360"/>
            <a:ext cx="50292" cy="4663440"/>
          </a:xfrm>
          <a:prstGeom prst="rect">
            <a:avLst/>
          </a:prstGeom>
          <a:solidFill>
            <a:srgbClr val="E25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83879" y="1938528"/>
            <a:ext cx="3017520" cy="274320"/>
          </a:xfrm>
          <a:prstGeom prst="rect">
            <a:avLst/>
          </a:prstGeom>
          <a:noFill/>
        </p:spPr>
        <p:txBody>
          <a:bodyPr wrap="square" lIns="0" rIns="0" tIns="0" bIns="0">
            <a:spAutoFit/>
          </a:bodyPr>
          <a:lstStyle/>
          <a:p>
            <a:pPr algn="l">
              <a:lnSpc>
                <a:spcPct val="125000"/>
              </a:lnSpc>
              <a:spcAft>
                <a:spcPts val="600"/>
              </a:spcAft>
            </a:pPr>
            <a:r>
              <a:rPr sz="1100" b="1">
                <a:solidFill>
                  <a:srgbClr val="E2551F"/>
                </a:solidFill>
                <a:latin typeface="Segoe UI"/>
              </a:rPr>
              <a:t>VERIFIED, NOT ASSERTED</a:t>
            </a:r>
          </a:p>
        </p:txBody>
      </p:sp>
      <p:sp>
        <p:nvSpPr>
          <p:cNvPr id="26" name="TextBox 25"/>
          <p:cNvSpPr txBox="1"/>
          <p:nvPr/>
        </p:nvSpPr>
        <p:spPr>
          <a:xfrm>
            <a:off x="8183879" y="2331720"/>
            <a:ext cx="3017520" cy="365760"/>
          </a:xfrm>
          <a:prstGeom prst="rect">
            <a:avLst/>
          </a:prstGeom>
          <a:noFill/>
        </p:spPr>
        <p:txBody>
          <a:bodyPr wrap="square" lIns="0" rIns="0" tIns="0" bIns="0">
            <a:spAutoFit/>
          </a:bodyPr>
          <a:lstStyle/>
          <a:p>
            <a:pPr algn="l">
              <a:lnSpc>
                <a:spcPct val="125000"/>
              </a:lnSpc>
              <a:spcAft>
                <a:spcPts val="600"/>
              </a:spcAft>
            </a:pPr>
            <a:r>
              <a:rPr sz="2300" b="1">
                <a:solidFill>
                  <a:srgbClr val="1C1C1E"/>
                </a:solidFill>
                <a:latin typeface="Georgia"/>
              </a:rPr>
              <a:t>105 / 105</a:t>
            </a:r>
          </a:p>
        </p:txBody>
      </p:sp>
      <p:sp>
        <p:nvSpPr>
          <p:cNvPr id="27" name="TextBox 26"/>
          <p:cNvSpPr txBox="1"/>
          <p:nvPr/>
        </p:nvSpPr>
        <p:spPr>
          <a:xfrm>
            <a:off x="8183879" y="2697480"/>
            <a:ext cx="3017520" cy="320040"/>
          </a:xfrm>
          <a:prstGeom prst="rect">
            <a:avLst/>
          </a:prstGeom>
          <a:noFill/>
        </p:spPr>
        <p:txBody>
          <a:bodyPr wrap="square" lIns="0" rIns="0" tIns="0" bIns="0">
            <a:spAutoFit/>
          </a:bodyPr>
          <a:lstStyle/>
          <a:p>
            <a:pPr algn="l">
              <a:lnSpc>
                <a:spcPct val="125000"/>
              </a:lnSpc>
              <a:spcAft>
                <a:spcPts val="600"/>
              </a:spcAft>
            </a:pPr>
            <a:r>
              <a:rPr sz="1050" b="0">
                <a:solidFill>
                  <a:srgbClr val="8A8A94"/>
                </a:solidFill>
                <a:latin typeface="Segoe UI"/>
              </a:rPr>
              <a:t>offline behavioural checks</a:t>
            </a:r>
          </a:p>
        </p:txBody>
      </p:sp>
      <p:sp>
        <p:nvSpPr>
          <p:cNvPr id="28" name="TextBox 27"/>
          <p:cNvSpPr txBox="1"/>
          <p:nvPr/>
        </p:nvSpPr>
        <p:spPr>
          <a:xfrm>
            <a:off x="8183879" y="3154680"/>
            <a:ext cx="3017520" cy="365760"/>
          </a:xfrm>
          <a:prstGeom prst="rect">
            <a:avLst/>
          </a:prstGeom>
          <a:noFill/>
        </p:spPr>
        <p:txBody>
          <a:bodyPr wrap="square" lIns="0" rIns="0" tIns="0" bIns="0">
            <a:spAutoFit/>
          </a:bodyPr>
          <a:lstStyle/>
          <a:p>
            <a:pPr algn="l">
              <a:lnSpc>
                <a:spcPct val="125000"/>
              </a:lnSpc>
              <a:spcAft>
                <a:spcPts val="600"/>
              </a:spcAft>
            </a:pPr>
            <a:r>
              <a:rPr sz="2300" b="1">
                <a:solidFill>
                  <a:srgbClr val="1C1C1E"/>
                </a:solidFill>
                <a:latin typeface="Georgia"/>
              </a:rPr>
              <a:t>22 / 22</a:t>
            </a:r>
          </a:p>
        </p:txBody>
      </p:sp>
      <p:sp>
        <p:nvSpPr>
          <p:cNvPr id="29" name="TextBox 28"/>
          <p:cNvSpPr txBox="1"/>
          <p:nvPr/>
        </p:nvSpPr>
        <p:spPr>
          <a:xfrm>
            <a:off x="8183879" y="3520440"/>
            <a:ext cx="3017520" cy="320040"/>
          </a:xfrm>
          <a:prstGeom prst="rect">
            <a:avLst/>
          </a:prstGeom>
          <a:noFill/>
        </p:spPr>
        <p:txBody>
          <a:bodyPr wrap="square" lIns="0" rIns="0" tIns="0" bIns="0">
            <a:spAutoFit/>
          </a:bodyPr>
          <a:lstStyle/>
          <a:p>
            <a:pPr algn="l">
              <a:lnSpc>
                <a:spcPct val="125000"/>
              </a:lnSpc>
              <a:spcAft>
                <a:spcPts val="600"/>
              </a:spcAft>
            </a:pPr>
            <a:r>
              <a:rPr sz="1050" b="0">
                <a:solidFill>
                  <a:srgbClr val="8A8A94"/>
                </a:solidFill>
                <a:latin typeface="Segoe UI"/>
              </a:rPr>
              <a:t>guardrail checks</a:t>
            </a:r>
          </a:p>
        </p:txBody>
      </p:sp>
      <p:sp>
        <p:nvSpPr>
          <p:cNvPr id="30" name="TextBox 29"/>
          <p:cNvSpPr txBox="1"/>
          <p:nvPr/>
        </p:nvSpPr>
        <p:spPr>
          <a:xfrm>
            <a:off x="8183879" y="3977640"/>
            <a:ext cx="3017520" cy="365760"/>
          </a:xfrm>
          <a:prstGeom prst="rect">
            <a:avLst/>
          </a:prstGeom>
          <a:noFill/>
        </p:spPr>
        <p:txBody>
          <a:bodyPr wrap="square" lIns="0" rIns="0" tIns="0" bIns="0">
            <a:spAutoFit/>
          </a:bodyPr>
          <a:lstStyle/>
          <a:p>
            <a:pPr algn="l">
              <a:lnSpc>
                <a:spcPct val="125000"/>
              </a:lnSpc>
              <a:spcAft>
                <a:spcPts val="600"/>
              </a:spcAft>
            </a:pPr>
            <a:r>
              <a:rPr sz="2300" b="1">
                <a:solidFill>
                  <a:srgbClr val="1C1C1E"/>
                </a:solidFill>
                <a:latin typeface="Georgia"/>
              </a:rPr>
              <a:t>51 / 51</a:t>
            </a:r>
          </a:p>
        </p:txBody>
      </p:sp>
      <p:sp>
        <p:nvSpPr>
          <p:cNvPr id="31" name="TextBox 30"/>
          <p:cNvSpPr txBox="1"/>
          <p:nvPr/>
        </p:nvSpPr>
        <p:spPr>
          <a:xfrm>
            <a:off x="8183879" y="4343400"/>
            <a:ext cx="3017520" cy="320040"/>
          </a:xfrm>
          <a:prstGeom prst="rect">
            <a:avLst/>
          </a:prstGeom>
          <a:noFill/>
        </p:spPr>
        <p:txBody>
          <a:bodyPr wrap="square" lIns="0" rIns="0" tIns="0" bIns="0">
            <a:spAutoFit/>
          </a:bodyPr>
          <a:lstStyle/>
          <a:p>
            <a:pPr algn="l">
              <a:lnSpc>
                <a:spcPct val="125000"/>
              </a:lnSpc>
              <a:spcAft>
                <a:spcPts val="600"/>
              </a:spcAft>
            </a:pPr>
            <a:r>
              <a:rPr sz="1050" b="0">
                <a:solidFill>
                  <a:srgbClr val="8A8A94"/>
                </a:solidFill>
                <a:latin typeface="Segoe UI"/>
              </a:rPr>
              <a:t>live checks across six scenarios</a:t>
            </a:r>
          </a:p>
        </p:txBody>
      </p:sp>
      <p:sp>
        <p:nvSpPr>
          <p:cNvPr id="32" name="TextBox 31"/>
          <p:cNvSpPr txBox="1"/>
          <p:nvPr/>
        </p:nvSpPr>
        <p:spPr>
          <a:xfrm>
            <a:off x="8183879" y="4800600"/>
            <a:ext cx="3017520" cy="365760"/>
          </a:xfrm>
          <a:prstGeom prst="rect">
            <a:avLst/>
          </a:prstGeom>
          <a:noFill/>
        </p:spPr>
        <p:txBody>
          <a:bodyPr wrap="square" lIns="0" rIns="0" tIns="0" bIns="0">
            <a:spAutoFit/>
          </a:bodyPr>
          <a:lstStyle/>
          <a:p>
            <a:pPr algn="l">
              <a:lnSpc>
                <a:spcPct val="125000"/>
              </a:lnSpc>
              <a:spcAft>
                <a:spcPts val="600"/>
              </a:spcAft>
            </a:pPr>
            <a:r>
              <a:rPr sz="2300" b="1">
                <a:solidFill>
                  <a:srgbClr val="1C1C1E"/>
                </a:solidFill>
                <a:latin typeface="Georgia"/>
              </a:rPr>
              <a:t>1</a:t>
            </a:r>
          </a:p>
        </p:txBody>
      </p:sp>
      <p:sp>
        <p:nvSpPr>
          <p:cNvPr id="33" name="TextBox 32"/>
          <p:cNvSpPr txBox="1"/>
          <p:nvPr/>
        </p:nvSpPr>
        <p:spPr>
          <a:xfrm>
            <a:off x="8183879" y="5166360"/>
            <a:ext cx="3017520" cy="320040"/>
          </a:xfrm>
          <a:prstGeom prst="rect">
            <a:avLst/>
          </a:prstGeom>
          <a:noFill/>
        </p:spPr>
        <p:txBody>
          <a:bodyPr wrap="square" lIns="0" rIns="0" tIns="0" bIns="0">
            <a:spAutoFit/>
          </a:bodyPr>
          <a:lstStyle/>
          <a:p>
            <a:pPr algn="l">
              <a:lnSpc>
                <a:spcPct val="125000"/>
              </a:lnSpc>
              <a:spcAft>
                <a:spcPts val="600"/>
              </a:spcAft>
            </a:pPr>
            <a:r>
              <a:rPr sz="1050" b="0">
                <a:solidFill>
                  <a:srgbClr val="8A8A94"/>
                </a:solidFill>
                <a:latin typeface="Segoe UI"/>
              </a:rPr>
              <a:t>scenario left FAILING on purpose</a:t>
            </a:r>
          </a:p>
        </p:txBody>
      </p:sp>
      <p:sp>
        <p:nvSpPr>
          <p:cNvPr id="34" name="TextBox 33"/>
          <p:cNvSpPr txBox="1"/>
          <p:nvPr/>
        </p:nvSpPr>
        <p:spPr>
          <a:xfrm>
            <a:off x="8183879" y="5623560"/>
            <a:ext cx="3017520" cy="365760"/>
          </a:xfrm>
          <a:prstGeom prst="rect">
            <a:avLst/>
          </a:prstGeom>
          <a:noFill/>
        </p:spPr>
        <p:txBody>
          <a:bodyPr wrap="square" lIns="0" rIns="0" tIns="0" bIns="0">
            <a:spAutoFit/>
          </a:bodyPr>
          <a:lstStyle/>
          <a:p>
            <a:pPr algn="l">
              <a:lnSpc>
                <a:spcPct val="125000"/>
              </a:lnSpc>
              <a:spcAft>
                <a:spcPts val="600"/>
              </a:spcAft>
            </a:pPr>
            <a:r>
              <a:rPr sz="2300" b="1">
                <a:solidFill>
                  <a:srgbClr val="1C1C1E"/>
                </a:solidFill>
                <a:latin typeface="Georgia"/>
              </a:rPr>
              <a:t>0</a:t>
            </a:r>
          </a:p>
        </p:txBody>
      </p:sp>
      <p:sp>
        <p:nvSpPr>
          <p:cNvPr id="35" name="TextBox 34"/>
          <p:cNvSpPr txBox="1"/>
          <p:nvPr/>
        </p:nvSpPr>
        <p:spPr>
          <a:xfrm>
            <a:off x="8183879" y="5989320"/>
            <a:ext cx="3017520" cy="320040"/>
          </a:xfrm>
          <a:prstGeom prst="rect">
            <a:avLst/>
          </a:prstGeom>
          <a:noFill/>
        </p:spPr>
        <p:txBody>
          <a:bodyPr wrap="square" lIns="0" rIns="0" tIns="0" bIns="0">
            <a:spAutoFit/>
          </a:bodyPr>
          <a:lstStyle/>
          <a:p>
            <a:pPr algn="l">
              <a:lnSpc>
                <a:spcPct val="125000"/>
              </a:lnSpc>
              <a:spcAft>
                <a:spcPts val="600"/>
              </a:spcAft>
            </a:pPr>
            <a:r>
              <a:rPr sz="1050" b="0">
                <a:solidFill>
                  <a:srgbClr val="8A8A94"/>
                </a:solidFill>
                <a:latin typeface="Segoe UI"/>
              </a:rPr>
              <a:t>refusals resolved by rewording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8961120" cy="274320"/>
          </a:xfrm>
          <a:prstGeom prst="rect">
            <a:avLst/>
          </a:prstGeom>
          <a:noFill/>
        </p:spPr>
        <p:txBody>
          <a:bodyPr wrap="square" lIns="0" rIns="0" tIns="0" bIns="0">
            <a:spAutoFit/>
          </a:bodyPr>
          <a:lstStyle/>
          <a:p>
            <a:pPr algn="l">
              <a:lnSpc>
                <a:spcPct val="125000"/>
              </a:lnSpc>
              <a:spcAft>
                <a:spcPts val="600"/>
              </a:spcAft>
            </a:pPr>
            <a:r>
              <a:rPr sz="1200" b="1">
                <a:solidFill>
                  <a:srgbClr val="E2551F"/>
                </a:solidFill>
                <a:latin typeface="Segoe UI"/>
              </a:rPr>
              <a:t>CONCLUSION</a:t>
            </a:r>
          </a:p>
        </p:txBody>
      </p:sp>
      <p:sp>
        <p:nvSpPr>
          <p:cNvPr id="4" name="TextBox 3"/>
          <p:cNvSpPr txBox="1"/>
          <p:nvPr/>
        </p:nvSpPr>
        <p:spPr>
          <a:xfrm>
            <a:off x="777240" y="731520"/>
            <a:ext cx="9144000" cy="1024128"/>
          </a:xfrm>
          <a:prstGeom prst="rect">
            <a:avLst/>
          </a:prstGeom>
          <a:noFill/>
        </p:spPr>
        <p:txBody>
          <a:bodyPr wrap="square" lIns="0" rIns="0" tIns="0" bIns="0">
            <a:spAutoFit/>
          </a:bodyPr>
          <a:lstStyle/>
          <a:p>
            <a:pPr algn="l">
              <a:lnSpc>
                <a:spcPct val="125000"/>
              </a:lnSpc>
              <a:spcAft>
                <a:spcPts val="600"/>
              </a:spcAft>
            </a:pPr>
            <a:r>
              <a:rPr sz="2700" b="1">
                <a:solidFill>
                  <a:srgbClr val="1C1C1E"/>
                </a:solidFill>
                <a:latin typeface="Georgia"/>
              </a:rPr>
              <a:t>What it is, and where it goes</a:t>
            </a:r>
          </a:p>
        </p:txBody>
      </p:sp>
      <p:sp>
        <p:nvSpPr>
          <p:cNvPr id="5" name="Rounded Rectangle 4"/>
          <p:cNvSpPr/>
          <p:nvPr/>
        </p:nvSpPr>
        <p:spPr>
          <a:xfrm>
            <a:off x="777240" y="1691640"/>
            <a:ext cx="5166360" cy="2286000"/>
          </a:xfrm>
          <a:prstGeom prst="roundRect">
            <a:avLst>
              <a:gd name="adj" fmla="val 4000"/>
            </a:avLst>
          </a:prstGeom>
          <a:solidFill>
            <a:srgbClr val="FFFFFF"/>
          </a:solidFill>
          <a:ln w="12700">
            <a:solidFill>
              <a:srgbClr val="E2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78992" y="1874519"/>
            <a:ext cx="4572000" cy="274320"/>
          </a:xfrm>
          <a:prstGeom prst="rect">
            <a:avLst/>
          </a:prstGeom>
          <a:noFill/>
        </p:spPr>
        <p:txBody>
          <a:bodyPr wrap="square" lIns="0" rIns="0" tIns="0" bIns="0">
            <a:spAutoFit/>
          </a:bodyPr>
          <a:lstStyle/>
          <a:p>
            <a:pPr algn="l">
              <a:lnSpc>
                <a:spcPct val="125000"/>
              </a:lnSpc>
              <a:spcAft>
                <a:spcPts val="600"/>
              </a:spcAft>
            </a:pPr>
            <a:r>
              <a:rPr sz="1100" b="1">
                <a:solidFill>
                  <a:srgbClr val="E2551F"/>
                </a:solidFill>
                <a:latin typeface="Segoe UI"/>
              </a:rPr>
              <a:t>WHAT WE BUILT</a:t>
            </a:r>
          </a:p>
        </p:txBody>
      </p:sp>
      <p:sp>
        <p:nvSpPr>
          <p:cNvPr id="7" name="TextBox 6"/>
          <p:cNvSpPr txBox="1"/>
          <p:nvPr/>
        </p:nvSpPr>
        <p:spPr>
          <a:xfrm>
            <a:off x="1078992" y="2212848"/>
            <a:ext cx="4617720" cy="1645920"/>
          </a:xfrm>
          <a:prstGeom prst="rect">
            <a:avLst/>
          </a:prstGeom>
          <a:noFill/>
        </p:spPr>
        <p:txBody>
          <a:bodyPr wrap="square" lIns="0" rIns="0" tIns="0" bIns="0">
            <a:spAutoFit/>
          </a:bodyPr>
          <a:lstStyle/>
          <a:p>
            <a:pPr algn="l">
              <a:lnSpc>
                <a:spcPct val="125000"/>
              </a:lnSpc>
              <a:spcAft>
                <a:spcPts val="600"/>
              </a:spcAft>
            </a:pPr>
            <a:r>
              <a:rPr sz="1300" b="0">
                <a:solidFill>
                  <a:srgbClr val="4A4A52"/>
                </a:solidFill>
                <a:latin typeface="Segoe UI"/>
              </a:rPr>
              <a:t>An agent that investigates a security alert the way an analyst would: forms a hypothesis, decides what evidence would falsify it, gathers, concludes with citations, acts when justified, and then checks that its own action actually took effect.</a:t>
            </a:r>
          </a:p>
        </p:txBody>
      </p:sp>
      <p:sp>
        <p:nvSpPr>
          <p:cNvPr id="8" name="Rounded Rectangle 7"/>
          <p:cNvSpPr/>
          <p:nvPr/>
        </p:nvSpPr>
        <p:spPr>
          <a:xfrm>
            <a:off x="6217920" y="1691640"/>
            <a:ext cx="5166360" cy="2286000"/>
          </a:xfrm>
          <a:prstGeom prst="roundRect">
            <a:avLst>
              <a:gd name="adj" fmla="val 4000"/>
            </a:avLst>
          </a:prstGeom>
          <a:solidFill>
            <a:srgbClr val="FFFFFF"/>
          </a:solidFill>
          <a:ln w="12700">
            <a:solidFill>
              <a:srgbClr val="E2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19672" y="1874519"/>
            <a:ext cx="4572000" cy="274320"/>
          </a:xfrm>
          <a:prstGeom prst="rect">
            <a:avLst/>
          </a:prstGeom>
          <a:noFill/>
        </p:spPr>
        <p:txBody>
          <a:bodyPr wrap="square" lIns="0" rIns="0" tIns="0" bIns="0">
            <a:spAutoFit/>
          </a:bodyPr>
          <a:lstStyle/>
          <a:p>
            <a:pPr algn="l">
              <a:lnSpc>
                <a:spcPct val="125000"/>
              </a:lnSpc>
              <a:spcAft>
                <a:spcPts val="600"/>
              </a:spcAft>
            </a:pPr>
            <a:r>
              <a:rPr sz="1100" b="1">
                <a:solidFill>
                  <a:srgbClr val="E2551F"/>
                </a:solidFill>
                <a:latin typeface="Segoe UI"/>
              </a:rPr>
              <a:t>SCALING IT</a:t>
            </a:r>
          </a:p>
        </p:txBody>
      </p:sp>
      <p:sp>
        <p:nvSpPr>
          <p:cNvPr id="10" name="TextBox 9"/>
          <p:cNvSpPr txBox="1"/>
          <p:nvPr/>
        </p:nvSpPr>
        <p:spPr>
          <a:xfrm>
            <a:off x="6519672" y="2212848"/>
            <a:ext cx="4617720" cy="1645920"/>
          </a:xfrm>
          <a:prstGeom prst="rect">
            <a:avLst/>
          </a:prstGeom>
          <a:noFill/>
        </p:spPr>
        <p:txBody>
          <a:bodyPr wrap="square" lIns="0" rIns="0" tIns="0" bIns="0">
            <a:spAutoFit/>
          </a:bodyPr>
          <a:lstStyle/>
          <a:p>
            <a:pPr algn="l">
              <a:lnSpc>
                <a:spcPct val="125000"/>
              </a:lnSpc>
              <a:spcAft>
                <a:spcPts val="600"/>
              </a:spcAft>
            </a:pPr>
            <a:r>
              <a:rPr sz="1300" b="0">
                <a:solidFill>
                  <a:srgbClr val="4A4A52"/>
                </a:solidFill>
                <a:latin typeface="Segoe UI"/>
              </a:rPr>
              <a:t>The tools are already an interface, not an implementation. Point get_server_logs at a real SIEM, get_asset_info at a real CMDB and block_ip at a real firewall API, and the reasoning loop is unchanged. The sandbox boundary is a swap, not a rewrite.</a:t>
            </a:r>
          </a:p>
        </p:txBody>
      </p:sp>
      <p:sp>
        <p:nvSpPr>
          <p:cNvPr id="11" name="Rounded Rectangle 10"/>
          <p:cNvSpPr/>
          <p:nvPr/>
        </p:nvSpPr>
        <p:spPr>
          <a:xfrm>
            <a:off x="777240" y="4160520"/>
            <a:ext cx="10607040" cy="1234440"/>
          </a:xfrm>
          <a:prstGeom prst="roundRect">
            <a:avLst>
              <a:gd name="adj" fmla="val 4000"/>
            </a:avLst>
          </a:prstGeom>
          <a:solidFill>
            <a:srgbClr val="FFF3E4"/>
          </a:solidFill>
          <a:ln w="12700">
            <a:solidFill>
              <a:srgbClr val="E2D8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4160520"/>
            <a:ext cx="50292" cy="1234440"/>
          </a:xfrm>
          <a:prstGeom prst="rect">
            <a:avLst/>
          </a:prstGeom>
          <a:solidFill>
            <a:srgbClr val="E255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4343400"/>
            <a:ext cx="10058400" cy="292608"/>
          </a:xfrm>
          <a:prstGeom prst="rect">
            <a:avLst/>
          </a:prstGeom>
          <a:noFill/>
        </p:spPr>
        <p:txBody>
          <a:bodyPr wrap="square" lIns="0" rIns="0" tIns="0" bIns="0">
            <a:spAutoFit/>
          </a:bodyPr>
          <a:lstStyle/>
          <a:p>
            <a:pPr algn="l">
              <a:lnSpc>
                <a:spcPct val="125000"/>
              </a:lnSpc>
              <a:spcAft>
                <a:spcPts val="600"/>
              </a:spcAft>
            </a:pPr>
            <a:r>
              <a:rPr sz="1100" b="1">
                <a:solidFill>
                  <a:srgbClr val="E2551F"/>
                </a:solidFill>
                <a:latin typeface="Segoe UI"/>
              </a:rPr>
              <a:t>THE LIMITATION WE LEFT VISIBLE</a:t>
            </a:r>
          </a:p>
        </p:txBody>
      </p:sp>
      <p:sp>
        <p:nvSpPr>
          <p:cNvPr id="14" name="TextBox 13"/>
          <p:cNvSpPr txBox="1"/>
          <p:nvPr/>
        </p:nvSpPr>
        <p:spPr>
          <a:xfrm>
            <a:off x="1097280" y="4663440"/>
            <a:ext cx="10058400" cy="640080"/>
          </a:xfrm>
          <a:prstGeom prst="rect">
            <a:avLst/>
          </a:prstGeom>
          <a:noFill/>
        </p:spPr>
        <p:txBody>
          <a:bodyPr wrap="square" lIns="0" rIns="0" tIns="0" bIns="0">
            <a:spAutoFit/>
          </a:bodyPr>
          <a:lstStyle/>
          <a:p>
            <a:pPr algn="l">
              <a:lnSpc>
                <a:spcPct val="125000"/>
              </a:lnSpc>
              <a:spcAft>
                <a:spcPts val="600"/>
              </a:spcAft>
            </a:pPr>
            <a:r>
              <a:rPr sz="1250" b="0">
                <a:solidFill>
                  <a:srgbClr val="4A4A52"/>
                </a:solidFill>
                <a:latin typeface="Segoe UI"/>
              </a:rPr>
              <a:t>Scenario 7 fails on purpose. The agent correctly works out that a database account had no privilege on the targeted table, and says so in its report, but the scoring model has no term for a configuration control, so the case stops short of a verdict. We built the factor, it failed its own gate, and we reverted it rather than ship a number we could not defend.</a:t>
            </a:r>
          </a:p>
        </p:txBody>
      </p:sp>
      <p:sp>
        <p:nvSpPr>
          <p:cNvPr id="15" name="TextBox 14"/>
          <p:cNvSpPr txBox="1"/>
          <p:nvPr/>
        </p:nvSpPr>
        <p:spPr>
          <a:xfrm>
            <a:off x="777240" y="5715000"/>
            <a:ext cx="10607040" cy="457200"/>
          </a:xfrm>
          <a:prstGeom prst="rect">
            <a:avLst/>
          </a:prstGeom>
          <a:noFill/>
        </p:spPr>
        <p:txBody>
          <a:bodyPr wrap="square" lIns="0" rIns="0" tIns="0" bIns="0">
            <a:spAutoFit/>
          </a:bodyPr>
          <a:lstStyle/>
          <a:p>
            <a:pPr algn="ctr">
              <a:lnSpc>
                <a:spcPct val="125000"/>
              </a:lnSpc>
              <a:spcAft>
                <a:spcPts val="600"/>
              </a:spcAft>
            </a:pPr>
            <a:r>
              <a:rPr sz="1700" b="1">
                <a:solidFill>
                  <a:srgbClr val="E2551F"/>
                </a:solidFill>
                <a:latin typeface="Consolas"/>
              </a:rPr>
              <a:t>soc-agent-trace-viewer.vercel.app</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R102"/>
          <p:cNvSpPr/>
          <p:nvPr/>
        </p:nvSpPr>
        <p:spPr>
          <a:xfrm>
            <a:off x="0" y="0"/>
            <a:ext cx="12188952" cy="6858000"/>
          </a:xfrm>
          <a:prstGeom prst="rect">
            <a:avLst/>
          </a:prstGeom>
          <a:solidFill>
            <a:srgbClr val="FFFAF0"/>
          </a:solidFill>
          <a:ln>
            <a:noFill/>
          </a:ln>
          <a:effectLst/>
        </p:spPr>
        <p:txBody>
          <a:bodyPr rtlCol="0" anchor="ctr"/>
          <a:lstStyle/>
          <a:p>
            <a:pPr algn="ctr"/>
          </a:p>
        </p:txBody>
      </p:sp>
      <p:sp>
        <p:nvSpPr>
          <p:cNvPr id="103" name="T104"/>
          <p:cNvSpPr txBox="1"/>
          <p:nvPr/>
        </p:nvSpPr>
        <p:spPr>
          <a:xfrm>
            <a:off x="777240" y="457200"/>
            <a:ext cx="9144000" cy="274320"/>
          </a:xfrm>
          <a:prstGeom prst="rect">
            <a:avLst/>
          </a:prstGeom>
          <a:noFill/>
        </p:spPr>
        <p:txBody>
          <a:bodyPr wrap="square" lIns="0" rIns="0" tIns="0" bIns="0"/>
          <a:lstStyle/>
          <a:p>
            <a:pPr algn="l">
              <a:lnSpc>
                <a:spcPct val="125000"/>
              </a:lnSpc>
            </a:pPr>
            <a:r>
              <a:rPr sz="1200" b="1">
                <a:solidFill>
                  <a:srgbClr val="E2551F"/>
                </a:solidFill>
                <a:latin typeface="Segoe UI"/>
              </a:rPr>
              <a:t>SYSTEM ARCHITECTURE</a:t>
            </a:r>
          </a:p>
        </p:txBody>
      </p:sp>
      <p:sp>
        <p:nvSpPr>
          <p:cNvPr id="105" name="T106"/>
          <p:cNvSpPr txBox="1"/>
          <p:nvPr/>
        </p:nvSpPr>
        <p:spPr>
          <a:xfrm>
            <a:off x="777240" y="731520"/>
            <a:ext cx="9144000" cy="1024128"/>
          </a:xfrm>
          <a:prstGeom prst="rect">
            <a:avLst/>
          </a:prstGeom>
          <a:noFill/>
        </p:spPr>
        <p:txBody>
          <a:bodyPr wrap="square" lIns="0" rIns="0" tIns="0" bIns="0"/>
          <a:lstStyle/>
          <a:p>
            <a:pPr algn="l">
              <a:lnSpc>
                <a:spcPct val="125000"/>
              </a:lnSpc>
            </a:pPr>
            <a:r>
              <a:rPr sz="2700" b="1">
                <a:solidFill>
                  <a:srgbClr val="1C1C1E"/>
                </a:solidFill>
                <a:latin typeface="Georgia"/>
              </a:rPr>
              <a:t>Every component, and the path a case takes</a:t>
            </a:r>
          </a:p>
        </p:txBody>
      </p:sp>
      <p:sp>
        <p:nvSpPr>
          <p:cNvPr id="107" name="R108"/>
          <p:cNvSpPr/>
          <p:nvPr/>
        </p:nvSpPr>
        <p:spPr>
          <a:xfrm>
            <a:off x="10040112" y="475488"/>
            <a:ext cx="1344168" cy="402336"/>
          </a:xfrm>
          <a:prstGeom prst="roundRect">
            <a:avLst>
              <a:gd name="adj" fmla="val 25"/>
            </a:avLst>
          </a:prstGeom>
          <a:solidFill>
            <a:srgbClr val="FFF3E4"/>
          </a:solidFill>
          <a:ln w="12700">
            <a:solidFill>
              <a:srgbClr val="E2551F"/>
            </a:solidFill>
          </a:ln>
          <a:effectLst/>
        </p:spPr>
        <p:txBody>
          <a:bodyPr rtlCol="0" anchor="ctr"/>
          <a:lstStyle/>
          <a:p>
            <a:pPr algn="ctr"/>
          </a:p>
        </p:txBody>
      </p:sp>
      <p:sp>
        <p:nvSpPr>
          <p:cNvPr id="109" name="T110"/>
          <p:cNvSpPr txBox="1"/>
          <p:nvPr/>
        </p:nvSpPr>
        <p:spPr>
          <a:xfrm>
            <a:off x="10040112" y="576072"/>
            <a:ext cx="1344168" cy="237744"/>
          </a:xfrm>
          <a:prstGeom prst="rect">
            <a:avLst/>
          </a:prstGeom>
          <a:noFill/>
        </p:spPr>
        <p:txBody>
          <a:bodyPr wrap="square" lIns="0" rIns="0" tIns="0" bIns="0"/>
          <a:lstStyle/>
          <a:p>
            <a:pPr algn="ctr">
              <a:lnSpc>
                <a:spcPct val="125000"/>
              </a:lnSpc>
            </a:pPr>
            <a:r>
              <a:rPr sz="1200" b="1">
                <a:solidFill>
                  <a:srgbClr val="E2551F"/>
                </a:solidFill>
                <a:latin typeface="Segoe UI"/>
              </a:rPr>
              <a:t>PS9</a:t>
            </a:r>
          </a:p>
        </p:txBody>
      </p:sp>
      <p:sp>
        <p:nvSpPr>
          <p:cNvPr id="111" name="R112"/>
          <p:cNvSpPr/>
          <p:nvPr/>
        </p:nvSpPr>
        <p:spPr>
          <a:xfrm>
            <a:off x="777240" y="1719072"/>
            <a:ext cx="3337560" cy="1298448"/>
          </a:xfrm>
          <a:prstGeom prst="roundRect">
            <a:avLst>
              <a:gd name="adj" fmla="val 6"/>
            </a:avLst>
          </a:prstGeom>
          <a:solidFill>
            <a:srgbClr val="FFFFFF"/>
          </a:solidFill>
          <a:ln w="12700">
            <a:solidFill>
              <a:srgbClr val="E2D8CC"/>
            </a:solidFill>
          </a:ln>
          <a:effectLst/>
        </p:spPr>
        <p:txBody>
          <a:bodyPr rtlCol="0" anchor="ctr"/>
          <a:lstStyle/>
          <a:p>
            <a:pPr algn="ctr"/>
          </a:p>
        </p:txBody>
      </p:sp>
      <p:sp>
        <p:nvSpPr>
          <p:cNvPr id="113" name="T114"/>
          <p:cNvSpPr txBox="1"/>
          <p:nvPr/>
        </p:nvSpPr>
        <p:spPr>
          <a:xfrm>
            <a:off x="1014984" y="1883664"/>
            <a:ext cx="2862072" cy="219456"/>
          </a:xfrm>
          <a:prstGeom prst="rect">
            <a:avLst/>
          </a:prstGeom>
          <a:noFill/>
        </p:spPr>
        <p:txBody>
          <a:bodyPr wrap="square" lIns="0" rIns="0" tIns="0" bIns="0"/>
          <a:lstStyle/>
          <a:p>
            <a:pPr algn="l">
              <a:lnSpc>
                <a:spcPct val="125000"/>
              </a:lnSpc>
            </a:pPr>
            <a:r>
              <a:rPr sz="1000" b="1" spc="40">
                <a:solidFill>
                  <a:srgbClr val="E2551F"/>
                </a:solidFill>
                <a:latin typeface="Segoe UI"/>
              </a:rPr>
              <a:t>EXTERNAL SYSTEMS</a:t>
            </a:r>
          </a:p>
        </p:txBody>
      </p:sp>
      <p:sp>
        <p:nvSpPr>
          <p:cNvPr id="115" name="T116"/>
          <p:cNvSpPr txBox="1"/>
          <p:nvPr/>
        </p:nvSpPr>
        <p:spPr>
          <a:xfrm>
            <a:off x="1014984" y="2176272"/>
            <a:ext cx="2862072" cy="676656"/>
          </a:xfrm>
          <a:prstGeom prst="rect">
            <a:avLst/>
          </a:prstGeom>
          <a:noFill/>
        </p:spPr>
        <p:txBody>
          <a:bodyPr wrap="square" lIns="0" rIns="0" tIns="0" bIns="0"/>
          <a:lstStyle/>
          <a:p>
            <a:pPr algn="l">
              <a:lnSpc>
                <a:spcPct val="130000"/>
              </a:lnSpc>
            </a:pPr>
            <a:r>
              <a:rPr sz="950" b="0">
                <a:solidFill>
                  <a:srgbClr val="4A4A52"/>
                </a:solidFill>
                <a:latin typeface="Segoe UI"/>
              </a:rPr>
              <a:t>Simulated NIDS / Snort / Suricata alert feed, plus seven flat JSON evidence stores: alerts, assets, CVE KB, server logs, packet metadata, configuration, firewall.</a:t>
            </a:r>
          </a:p>
        </p:txBody>
      </p:sp>
      <p:sp>
        <p:nvSpPr>
          <p:cNvPr id="117" name="R118"/>
          <p:cNvSpPr/>
          <p:nvPr/>
        </p:nvSpPr>
        <p:spPr>
          <a:xfrm>
            <a:off x="4421124" y="1719072"/>
            <a:ext cx="3337560" cy="1298448"/>
          </a:xfrm>
          <a:prstGeom prst="roundRect">
            <a:avLst>
              <a:gd name="adj" fmla="val 6"/>
            </a:avLst>
          </a:prstGeom>
          <a:solidFill>
            <a:srgbClr val="FFFFFF"/>
          </a:solidFill>
          <a:ln w="12700">
            <a:solidFill>
              <a:srgbClr val="E2D8CC"/>
            </a:solidFill>
          </a:ln>
          <a:effectLst/>
        </p:spPr>
        <p:txBody>
          <a:bodyPr rtlCol="0" anchor="ctr"/>
          <a:lstStyle/>
          <a:p>
            <a:pPr algn="ctr"/>
          </a:p>
        </p:txBody>
      </p:sp>
      <p:sp>
        <p:nvSpPr>
          <p:cNvPr id="119" name="T120"/>
          <p:cNvSpPr txBox="1"/>
          <p:nvPr/>
        </p:nvSpPr>
        <p:spPr>
          <a:xfrm>
            <a:off x="4658868" y="1883664"/>
            <a:ext cx="2862072" cy="219456"/>
          </a:xfrm>
          <a:prstGeom prst="rect">
            <a:avLst/>
          </a:prstGeom>
          <a:noFill/>
        </p:spPr>
        <p:txBody>
          <a:bodyPr wrap="square" lIns="0" rIns="0" tIns="0" bIns="0"/>
          <a:lstStyle/>
          <a:p>
            <a:pPr algn="l">
              <a:lnSpc>
                <a:spcPct val="125000"/>
              </a:lnSpc>
            </a:pPr>
            <a:r>
              <a:rPr sz="1000" b="1" spc="40">
                <a:solidFill>
                  <a:srgbClr val="E2551F"/>
                </a:solidFill>
                <a:latin typeface="Segoe UI"/>
              </a:rPr>
              <a:t>AGENT / CONTROLLER</a:t>
            </a:r>
          </a:p>
        </p:txBody>
      </p:sp>
      <p:sp>
        <p:nvSpPr>
          <p:cNvPr id="121" name="T122"/>
          <p:cNvSpPr txBox="1"/>
          <p:nvPr/>
        </p:nvSpPr>
        <p:spPr>
          <a:xfrm>
            <a:off x="4658868" y="2176272"/>
            <a:ext cx="2862072" cy="676656"/>
          </a:xfrm>
          <a:prstGeom prst="rect">
            <a:avLst/>
          </a:prstGeom>
          <a:noFill/>
        </p:spPr>
        <p:txBody>
          <a:bodyPr wrap="square" lIns="0" rIns="0" tIns="0" bIns="0"/>
          <a:lstStyle/>
          <a:p>
            <a:pPr algn="l">
              <a:lnSpc>
                <a:spcPct val="130000"/>
              </a:lnSpc>
            </a:pPr>
            <a:r>
              <a:rPr sz="950" b="0">
                <a:solidFill>
                  <a:srgbClr val="4A4A52"/>
                </a:solidFill>
                <a:latin typeface="Segoe UI"/>
              </a:rPr>
              <a:t>A hand-written tool-use loop on the model's native tool calling. It chooses which tool, in what order, and when it has gathered enough to stop. Nothing is scripted.</a:t>
            </a:r>
          </a:p>
        </p:txBody>
      </p:sp>
      <p:sp>
        <p:nvSpPr>
          <p:cNvPr id="123" name="R124"/>
          <p:cNvSpPr/>
          <p:nvPr/>
        </p:nvSpPr>
        <p:spPr>
          <a:xfrm>
            <a:off x="8065008" y="1719072"/>
            <a:ext cx="3337560" cy="1298448"/>
          </a:xfrm>
          <a:prstGeom prst="roundRect">
            <a:avLst>
              <a:gd name="adj" fmla="val 6"/>
            </a:avLst>
          </a:prstGeom>
          <a:solidFill>
            <a:srgbClr val="FFFFFF"/>
          </a:solidFill>
          <a:ln w="12700">
            <a:solidFill>
              <a:srgbClr val="E2D8CC"/>
            </a:solidFill>
          </a:ln>
          <a:effectLst/>
        </p:spPr>
        <p:txBody>
          <a:bodyPr rtlCol="0" anchor="ctr"/>
          <a:lstStyle/>
          <a:p>
            <a:pPr algn="ctr"/>
          </a:p>
        </p:txBody>
      </p:sp>
      <p:sp>
        <p:nvSpPr>
          <p:cNvPr id="125" name="T126"/>
          <p:cNvSpPr txBox="1"/>
          <p:nvPr/>
        </p:nvSpPr>
        <p:spPr>
          <a:xfrm>
            <a:off x="8302752" y="1883664"/>
            <a:ext cx="2862072" cy="219456"/>
          </a:xfrm>
          <a:prstGeom prst="rect">
            <a:avLst/>
          </a:prstGeom>
          <a:noFill/>
        </p:spPr>
        <p:txBody>
          <a:bodyPr wrap="square" lIns="0" rIns="0" tIns="0" bIns="0"/>
          <a:lstStyle/>
          <a:p>
            <a:pPr algn="l">
              <a:lnSpc>
                <a:spcPct val="125000"/>
              </a:lnSpc>
            </a:pPr>
            <a:r>
              <a:rPr sz="1000" b="1" spc="40">
                <a:solidFill>
                  <a:srgbClr val="E2551F"/>
                </a:solidFill>
                <a:latin typeface="Segoe UI"/>
              </a:rPr>
              <a:t>PLANNING</a:t>
            </a:r>
          </a:p>
        </p:txBody>
      </p:sp>
      <p:sp>
        <p:nvSpPr>
          <p:cNvPr id="127" name="T128"/>
          <p:cNvSpPr txBox="1"/>
          <p:nvPr/>
        </p:nvSpPr>
        <p:spPr>
          <a:xfrm>
            <a:off x="8302752" y="2176272"/>
            <a:ext cx="2862072" cy="676656"/>
          </a:xfrm>
          <a:prstGeom prst="rect">
            <a:avLst/>
          </a:prstGeom>
          <a:noFill/>
        </p:spPr>
        <p:txBody>
          <a:bodyPr wrap="square" lIns="0" rIns="0" tIns="0" bIns="0"/>
          <a:lstStyle/>
          <a:p>
            <a:pPr algn="l">
              <a:lnSpc>
                <a:spcPct val="130000"/>
              </a:lnSpc>
            </a:pPr>
            <a:r>
              <a:rPr sz="950" b="0">
                <a:solidFill>
                  <a:srgbClr val="4A4A52"/>
                </a:solidFill>
                <a:latin typeface="Segoe UI"/>
              </a:rPr>
              <a:t>HYPOTHESIZE: state what would confirm the attack succeeded and what would falsify it, before any call. reconsider() re-enters here, never at the verdict.</a:t>
            </a:r>
          </a:p>
        </p:txBody>
      </p:sp>
      <p:sp>
        <p:nvSpPr>
          <p:cNvPr id="129" name="R130"/>
          <p:cNvSpPr/>
          <p:nvPr/>
        </p:nvSpPr>
        <p:spPr>
          <a:xfrm>
            <a:off x="777240" y="3218688"/>
            <a:ext cx="3337560" cy="1298448"/>
          </a:xfrm>
          <a:prstGeom prst="roundRect">
            <a:avLst>
              <a:gd name="adj" fmla="val 6"/>
            </a:avLst>
          </a:prstGeom>
          <a:solidFill>
            <a:srgbClr val="FFFFFF"/>
          </a:solidFill>
          <a:ln w="12700">
            <a:solidFill>
              <a:srgbClr val="E2D8CC"/>
            </a:solidFill>
          </a:ln>
          <a:effectLst/>
        </p:spPr>
        <p:txBody>
          <a:bodyPr rtlCol="0" anchor="ctr"/>
          <a:lstStyle/>
          <a:p>
            <a:pPr algn="ctr"/>
          </a:p>
        </p:txBody>
      </p:sp>
      <p:sp>
        <p:nvSpPr>
          <p:cNvPr id="131" name="T132"/>
          <p:cNvSpPr txBox="1"/>
          <p:nvPr/>
        </p:nvSpPr>
        <p:spPr>
          <a:xfrm>
            <a:off x="1014984" y="3383280"/>
            <a:ext cx="2862072" cy="219456"/>
          </a:xfrm>
          <a:prstGeom prst="rect">
            <a:avLst/>
          </a:prstGeom>
          <a:noFill/>
        </p:spPr>
        <p:txBody>
          <a:bodyPr wrap="square" lIns="0" rIns="0" tIns="0" bIns="0"/>
          <a:lstStyle/>
          <a:p>
            <a:pPr algn="l">
              <a:lnSpc>
                <a:spcPct val="125000"/>
              </a:lnSpc>
            </a:pPr>
            <a:r>
              <a:rPr sz="1000" b="1" spc="40">
                <a:solidFill>
                  <a:srgbClr val="1C1C1E"/>
                </a:solidFill>
                <a:latin typeface="Segoe UI"/>
              </a:rPr>
              <a:t>TOOLS &amp; RETRIEVAL</a:t>
            </a:r>
          </a:p>
        </p:txBody>
      </p:sp>
      <p:sp>
        <p:nvSpPr>
          <p:cNvPr id="133" name="T134"/>
          <p:cNvSpPr txBox="1"/>
          <p:nvPr/>
        </p:nvSpPr>
        <p:spPr>
          <a:xfrm>
            <a:off x="1014984" y="3675888"/>
            <a:ext cx="2862072" cy="676656"/>
          </a:xfrm>
          <a:prstGeom prst="rect">
            <a:avLst/>
          </a:prstGeom>
          <a:noFill/>
        </p:spPr>
        <p:txBody>
          <a:bodyPr wrap="square" lIns="0" rIns="0" tIns="0" bIns="0"/>
          <a:lstStyle/>
          <a:p>
            <a:pPr algn="l">
              <a:lnSpc>
                <a:spcPct val="130000"/>
              </a:lnSpc>
            </a:pPr>
            <a:r>
              <a:rPr sz="950" b="0">
                <a:solidFill>
                  <a:srgbClr val="4A4A52"/>
                </a:solidFill>
                <a:latin typeface="Segoe UI"/>
              </a:rPr>
              <a:t>Eight read tools and two act tools, each taking a required reason argument, so the trace can never hold an unexplained call. Retrieval is per-asset lookup, not vector search.</a:t>
            </a:r>
          </a:p>
        </p:txBody>
      </p:sp>
      <p:sp>
        <p:nvSpPr>
          <p:cNvPr id="135" name="R136"/>
          <p:cNvSpPr/>
          <p:nvPr/>
        </p:nvSpPr>
        <p:spPr>
          <a:xfrm>
            <a:off x="4421124" y="3218688"/>
            <a:ext cx="3337560" cy="1298448"/>
          </a:xfrm>
          <a:prstGeom prst="roundRect">
            <a:avLst>
              <a:gd name="adj" fmla="val 6"/>
            </a:avLst>
          </a:prstGeom>
          <a:solidFill>
            <a:srgbClr val="FFFFFF"/>
          </a:solidFill>
          <a:ln w="12700">
            <a:solidFill>
              <a:srgbClr val="E2D8CC"/>
            </a:solidFill>
          </a:ln>
          <a:effectLst/>
        </p:spPr>
        <p:txBody>
          <a:bodyPr rtlCol="0" anchor="ctr"/>
          <a:lstStyle/>
          <a:p>
            <a:pPr algn="ctr"/>
          </a:p>
        </p:txBody>
      </p:sp>
      <p:sp>
        <p:nvSpPr>
          <p:cNvPr id="137" name="T138"/>
          <p:cNvSpPr txBox="1"/>
          <p:nvPr/>
        </p:nvSpPr>
        <p:spPr>
          <a:xfrm>
            <a:off x="4658868" y="3383280"/>
            <a:ext cx="2862072" cy="219456"/>
          </a:xfrm>
          <a:prstGeom prst="rect">
            <a:avLst/>
          </a:prstGeom>
          <a:noFill/>
        </p:spPr>
        <p:txBody>
          <a:bodyPr wrap="square" lIns="0" rIns="0" tIns="0" bIns="0"/>
          <a:lstStyle/>
          <a:p>
            <a:pPr algn="l">
              <a:lnSpc>
                <a:spcPct val="125000"/>
              </a:lnSpc>
            </a:pPr>
            <a:r>
              <a:rPr sz="1000" b="1" spc="40">
                <a:solidFill>
                  <a:srgbClr val="1C1C1E"/>
                </a:solidFill>
                <a:latin typeface="Segoe UI"/>
              </a:rPr>
              <a:t>MEMORY / STATE</a:t>
            </a:r>
          </a:p>
        </p:txBody>
      </p:sp>
      <p:sp>
        <p:nvSpPr>
          <p:cNvPr id="139" name="T140"/>
          <p:cNvSpPr txBox="1"/>
          <p:nvPr/>
        </p:nvSpPr>
        <p:spPr>
          <a:xfrm>
            <a:off x="4658868" y="3675888"/>
            <a:ext cx="2862072" cy="676656"/>
          </a:xfrm>
          <a:prstGeom prst="rect">
            <a:avLst/>
          </a:prstGeom>
          <a:noFill/>
        </p:spPr>
        <p:txBody>
          <a:bodyPr wrap="square" lIns="0" rIns="0" tIns="0" bIns="0"/>
          <a:lstStyle/>
          <a:p>
            <a:pPr algn="l">
              <a:lnSpc>
                <a:spcPct val="130000"/>
              </a:lnSpc>
            </a:pPr>
            <a:r>
              <a:rPr sz="950" b="0">
                <a:solidFill>
                  <a:srgbClr val="4A4A52"/>
                </a:solidFill>
                <a:latin typeface="Segoe UI"/>
              </a:rPr>
              <a:t>Per-case state, one structured trace, and firewall_state.json which block_ip mutates on disk. Pristine seed fixtures stay read-only; every run works on a fresh copy.</a:t>
            </a:r>
          </a:p>
        </p:txBody>
      </p:sp>
      <p:sp>
        <p:nvSpPr>
          <p:cNvPr id="141" name="R142"/>
          <p:cNvSpPr/>
          <p:nvPr/>
        </p:nvSpPr>
        <p:spPr>
          <a:xfrm>
            <a:off x="8065008" y="3218688"/>
            <a:ext cx="3337560" cy="1298448"/>
          </a:xfrm>
          <a:prstGeom prst="roundRect">
            <a:avLst>
              <a:gd name="adj" fmla="val 6"/>
            </a:avLst>
          </a:prstGeom>
          <a:solidFill>
            <a:srgbClr val="FFFFFF"/>
          </a:solidFill>
          <a:ln w="12700">
            <a:solidFill>
              <a:srgbClr val="E2D8CC"/>
            </a:solidFill>
          </a:ln>
          <a:effectLst/>
        </p:spPr>
        <p:txBody>
          <a:bodyPr rtlCol="0" anchor="ctr"/>
          <a:lstStyle/>
          <a:p>
            <a:pPr algn="ctr"/>
          </a:p>
        </p:txBody>
      </p:sp>
      <p:sp>
        <p:nvSpPr>
          <p:cNvPr id="143" name="T144"/>
          <p:cNvSpPr txBox="1"/>
          <p:nvPr/>
        </p:nvSpPr>
        <p:spPr>
          <a:xfrm>
            <a:off x="8302752" y="3383280"/>
            <a:ext cx="2862072" cy="219456"/>
          </a:xfrm>
          <a:prstGeom prst="rect">
            <a:avLst/>
          </a:prstGeom>
          <a:noFill/>
        </p:spPr>
        <p:txBody>
          <a:bodyPr wrap="square" lIns="0" rIns="0" tIns="0" bIns="0"/>
          <a:lstStyle/>
          <a:p>
            <a:pPr algn="l">
              <a:lnSpc>
                <a:spcPct val="125000"/>
              </a:lnSpc>
            </a:pPr>
            <a:r>
              <a:rPr sz="1000" b="1" spc="40">
                <a:solidFill>
                  <a:srgbClr val="1C1C1E"/>
                </a:solidFill>
                <a:latin typeface="Segoe UI"/>
              </a:rPr>
              <a:t>EVALUATION / VERIFICATION</a:t>
            </a:r>
          </a:p>
        </p:txBody>
      </p:sp>
      <p:sp>
        <p:nvSpPr>
          <p:cNvPr id="145" name="T146"/>
          <p:cNvSpPr txBox="1"/>
          <p:nvPr/>
        </p:nvSpPr>
        <p:spPr>
          <a:xfrm>
            <a:off x="8302752" y="3675888"/>
            <a:ext cx="2862072" cy="676656"/>
          </a:xfrm>
          <a:prstGeom prst="rect">
            <a:avLst/>
          </a:prstGeom>
          <a:noFill/>
        </p:spPr>
        <p:txBody>
          <a:bodyPr wrap="square" lIns="0" rIns="0" tIns="0" bIns="0"/>
          <a:lstStyle/>
          <a:p>
            <a:pPr algn="l">
              <a:lnSpc>
                <a:spcPct val="130000"/>
              </a:lnSpc>
            </a:pPr>
            <a:r>
              <a:rPr sz="950" b="0">
                <a:solidFill>
                  <a:srgbClr val="4A4A52"/>
                </a:solidFill>
                <a:latin typeface="Segoe UI"/>
              </a:rPr>
              <a:t>Four guard families validate the FORM of every declared finding at submit_assessment. check_firewall_state re-reads the file from disk, so verification cannot be decorative.</a:t>
            </a:r>
          </a:p>
        </p:txBody>
      </p:sp>
      <p:sp>
        <p:nvSpPr>
          <p:cNvPr id="147" name="R148"/>
          <p:cNvSpPr/>
          <p:nvPr/>
        </p:nvSpPr>
        <p:spPr>
          <a:xfrm>
            <a:off x="777240" y="4718304"/>
            <a:ext cx="5166360" cy="1298448"/>
          </a:xfrm>
          <a:prstGeom prst="roundRect">
            <a:avLst>
              <a:gd name="adj" fmla="val 6"/>
            </a:avLst>
          </a:prstGeom>
          <a:solidFill>
            <a:srgbClr val="FFFFFF"/>
          </a:solidFill>
          <a:ln w="12700">
            <a:solidFill>
              <a:srgbClr val="E2D8CC"/>
            </a:solidFill>
          </a:ln>
          <a:effectLst/>
        </p:spPr>
        <p:txBody>
          <a:bodyPr rtlCol="0" anchor="ctr"/>
          <a:lstStyle/>
          <a:p>
            <a:pPr algn="ctr"/>
          </a:p>
        </p:txBody>
      </p:sp>
      <p:sp>
        <p:nvSpPr>
          <p:cNvPr id="149" name="T150"/>
          <p:cNvSpPr txBox="1"/>
          <p:nvPr/>
        </p:nvSpPr>
        <p:spPr>
          <a:xfrm>
            <a:off x="1014984" y="4882896"/>
            <a:ext cx="4690872" cy="219456"/>
          </a:xfrm>
          <a:prstGeom prst="rect">
            <a:avLst/>
          </a:prstGeom>
          <a:noFill/>
        </p:spPr>
        <p:txBody>
          <a:bodyPr wrap="square" lIns="0" rIns="0" tIns="0" bIns="0"/>
          <a:lstStyle/>
          <a:p>
            <a:pPr algn="l">
              <a:lnSpc>
                <a:spcPct val="125000"/>
              </a:lnSpc>
            </a:pPr>
            <a:r>
              <a:rPr sz="1000" b="1" spc="40">
                <a:solidFill>
                  <a:srgbClr val="1C1C1E"/>
                </a:solidFill>
                <a:latin typeface="Segoe UI"/>
              </a:rPr>
              <a:t>HUMAN INTERACTION</a:t>
            </a:r>
          </a:p>
        </p:txBody>
      </p:sp>
      <p:sp>
        <p:nvSpPr>
          <p:cNvPr id="151" name="T152"/>
          <p:cNvSpPr txBox="1"/>
          <p:nvPr/>
        </p:nvSpPr>
        <p:spPr>
          <a:xfrm>
            <a:off x="1014984" y="5175504"/>
            <a:ext cx="4690872" cy="676656"/>
          </a:xfrm>
          <a:prstGeom prst="rect">
            <a:avLst/>
          </a:prstGeom>
          <a:noFill/>
        </p:spPr>
        <p:txBody>
          <a:bodyPr wrap="square" lIns="0" rIns="0" tIns="0" bIns="0"/>
          <a:lstStyle/>
          <a:p>
            <a:pPr algn="l">
              <a:lnSpc>
                <a:spcPct val="130000"/>
              </a:lnSpc>
            </a:pPr>
            <a:r>
              <a:rPr sz="950" b="0">
                <a:solidFill>
                  <a:srgbClr val="4A4A52"/>
                </a:solidFill>
                <a:latin typeface="Segoe UI"/>
              </a:rPr>
              <a:t>human_override(case, decision, justification) always supersedes the action policy. The agent halts or reverses, records the override alongside its prior conclusion, and never re-blocks automatically.</a:t>
            </a:r>
          </a:p>
        </p:txBody>
      </p:sp>
      <p:sp>
        <p:nvSpPr>
          <p:cNvPr id="153" name="R154"/>
          <p:cNvSpPr/>
          <p:nvPr/>
        </p:nvSpPr>
        <p:spPr>
          <a:xfrm>
            <a:off x="6249924" y="4718304"/>
            <a:ext cx="5166360" cy="1298448"/>
          </a:xfrm>
          <a:prstGeom prst="roundRect">
            <a:avLst>
              <a:gd name="adj" fmla="val 6"/>
            </a:avLst>
          </a:prstGeom>
          <a:solidFill>
            <a:srgbClr val="FFFFFF"/>
          </a:solidFill>
          <a:ln w="12700">
            <a:solidFill>
              <a:srgbClr val="E2D8CC"/>
            </a:solidFill>
          </a:ln>
          <a:effectLst/>
        </p:spPr>
        <p:txBody>
          <a:bodyPr rtlCol="0" anchor="ctr"/>
          <a:lstStyle/>
          <a:p>
            <a:pPr algn="ctr"/>
          </a:p>
        </p:txBody>
      </p:sp>
      <p:sp>
        <p:nvSpPr>
          <p:cNvPr id="155" name="T156"/>
          <p:cNvSpPr txBox="1"/>
          <p:nvPr/>
        </p:nvSpPr>
        <p:spPr>
          <a:xfrm>
            <a:off x="6487668" y="4882896"/>
            <a:ext cx="4690872" cy="219456"/>
          </a:xfrm>
          <a:prstGeom prst="rect">
            <a:avLst/>
          </a:prstGeom>
          <a:noFill/>
        </p:spPr>
        <p:txBody>
          <a:bodyPr wrap="square" lIns="0" rIns="0" tIns="0" bIns="0"/>
          <a:lstStyle/>
          <a:p>
            <a:pPr algn="l">
              <a:lnSpc>
                <a:spcPct val="125000"/>
              </a:lnSpc>
            </a:pPr>
            <a:r>
              <a:rPr sz="1000" b="1" spc="40">
                <a:solidFill>
                  <a:srgbClr val="1C1C1E"/>
                </a:solidFill>
                <a:latin typeface="Segoe UI"/>
              </a:rPr>
              <a:t>FAILURE HANDLING</a:t>
            </a:r>
          </a:p>
        </p:txBody>
      </p:sp>
      <p:sp>
        <p:nvSpPr>
          <p:cNvPr id="157" name="T158"/>
          <p:cNvSpPr txBox="1"/>
          <p:nvPr/>
        </p:nvSpPr>
        <p:spPr>
          <a:xfrm>
            <a:off x="6487668" y="5175504"/>
            <a:ext cx="4690872" cy="676656"/>
          </a:xfrm>
          <a:prstGeom prst="rect">
            <a:avLst/>
          </a:prstGeom>
          <a:noFill/>
        </p:spPr>
        <p:txBody>
          <a:bodyPr wrap="square" lIns="0" rIns="0" tIns="0" bIns="0"/>
          <a:lstStyle/>
          <a:p>
            <a:pPr algn="l">
              <a:lnSpc>
                <a:spcPct val="130000"/>
              </a:lnSpc>
            </a:pPr>
            <a:r>
              <a:rPr sz="950" b="0">
                <a:solidFill>
                  <a:srgbClr val="4A4A52"/>
                </a:solidFill>
                <a:latin typeface="Segoe UI"/>
              </a:rPr>
              <a:t>Tool unavailable, retry, then route to an alternate source and cap confidence with a degraded clamp. Guard refusals bounded at three, then the factor is dropped and an Impasse is recorded. 4xx is never retried.</a:t>
            </a:r>
          </a:p>
        </p:txBody>
      </p:sp>
      <p:sp>
        <p:nvSpPr>
          <p:cNvPr id="159" name="T160"/>
          <p:cNvSpPr txBox="1"/>
          <p:nvPr/>
        </p:nvSpPr>
        <p:spPr>
          <a:xfrm>
            <a:off x="4114800" y="2240280"/>
            <a:ext cx="274320" cy="237744"/>
          </a:xfrm>
          <a:prstGeom prst="rect">
            <a:avLst/>
          </a:prstGeom>
          <a:noFill/>
        </p:spPr>
        <p:txBody>
          <a:bodyPr wrap="square" lIns="0" rIns="0" tIns="0" bIns="0"/>
          <a:lstStyle/>
          <a:p>
            <a:pPr algn="ctr">
              <a:lnSpc>
                <a:spcPct val="125000"/>
              </a:lnSpc>
            </a:pPr>
            <a:r>
              <a:rPr sz="1300" b="1">
                <a:solidFill>
                  <a:srgbClr val="8A8A94"/>
                </a:solidFill>
                <a:latin typeface="Segoe UI"/>
              </a:rPr>
              <a:t>&gt;</a:t>
            </a:r>
          </a:p>
        </p:txBody>
      </p:sp>
      <p:sp>
        <p:nvSpPr>
          <p:cNvPr id="161" name="T162"/>
          <p:cNvSpPr txBox="1"/>
          <p:nvPr/>
        </p:nvSpPr>
        <p:spPr>
          <a:xfrm>
            <a:off x="7758684" y="2240280"/>
            <a:ext cx="274320" cy="237744"/>
          </a:xfrm>
          <a:prstGeom prst="rect">
            <a:avLst/>
          </a:prstGeom>
          <a:noFill/>
        </p:spPr>
        <p:txBody>
          <a:bodyPr wrap="square" lIns="0" rIns="0" tIns="0" bIns="0"/>
          <a:lstStyle/>
          <a:p>
            <a:pPr algn="ctr">
              <a:lnSpc>
                <a:spcPct val="125000"/>
              </a:lnSpc>
            </a:pPr>
            <a:r>
              <a:rPr sz="1300" b="1">
                <a:solidFill>
                  <a:srgbClr val="8A8A94"/>
                </a:solidFill>
                <a:latin typeface="Segoe UI"/>
              </a:rPr>
              <a:t>&gt;</a:t>
            </a:r>
          </a:p>
        </p:txBody>
      </p:sp>
      <p:sp>
        <p:nvSpPr>
          <p:cNvPr id="163" name="T164"/>
          <p:cNvSpPr txBox="1"/>
          <p:nvPr/>
        </p:nvSpPr>
        <p:spPr>
          <a:xfrm>
            <a:off x="4114800" y="3739896"/>
            <a:ext cx="274320" cy="237744"/>
          </a:xfrm>
          <a:prstGeom prst="rect">
            <a:avLst/>
          </a:prstGeom>
          <a:noFill/>
        </p:spPr>
        <p:txBody>
          <a:bodyPr wrap="square" lIns="0" rIns="0" tIns="0" bIns="0"/>
          <a:lstStyle/>
          <a:p>
            <a:pPr algn="ctr">
              <a:lnSpc>
                <a:spcPct val="125000"/>
              </a:lnSpc>
            </a:pPr>
            <a:r>
              <a:rPr sz="1300" b="1">
                <a:solidFill>
                  <a:srgbClr val="8A8A94"/>
                </a:solidFill>
                <a:latin typeface="Segoe UI"/>
              </a:rPr>
              <a:t>&gt;</a:t>
            </a:r>
          </a:p>
        </p:txBody>
      </p:sp>
      <p:sp>
        <p:nvSpPr>
          <p:cNvPr id="165" name="T166"/>
          <p:cNvSpPr txBox="1"/>
          <p:nvPr/>
        </p:nvSpPr>
        <p:spPr>
          <a:xfrm>
            <a:off x="7758684" y="3739896"/>
            <a:ext cx="274320" cy="237744"/>
          </a:xfrm>
          <a:prstGeom prst="rect">
            <a:avLst/>
          </a:prstGeom>
          <a:noFill/>
        </p:spPr>
        <p:txBody>
          <a:bodyPr wrap="square" lIns="0" rIns="0" tIns="0" bIns="0"/>
          <a:lstStyle/>
          <a:p>
            <a:pPr algn="ctr">
              <a:lnSpc>
                <a:spcPct val="125000"/>
              </a:lnSpc>
            </a:pPr>
            <a:r>
              <a:rPr sz="1300" b="1">
                <a:solidFill>
                  <a:srgbClr val="8A8A94"/>
                </a:solidFill>
                <a:latin typeface="Segoe UI"/>
              </a:rPr>
              <a:t>&gt;</a:t>
            </a:r>
          </a:p>
        </p:txBody>
      </p:sp>
      <p:sp>
        <p:nvSpPr>
          <p:cNvPr id="167" name="R168"/>
          <p:cNvSpPr/>
          <p:nvPr/>
        </p:nvSpPr>
        <p:spPr>
          <a:xfrm>
            <a:off x="777240" y="6181344"/>
            <a:ext cx="50292" cy="420624"/>
          </a:xfrm>
          <a:prstGeom prst="rect">
            <a:avLst/>
          </a:prstGeom>
          <a:solidFill>
            <a:srgbClr val="E2551F"/>
          </a:solidFill>
          <a:ln>
            <a:noFill/>
          </a:ln>
          <a:effectLst/>
        </p:spPr>
        <p:txBody>
          <a:bodyPr rtlCol="0" anchor="ctr"/>
          <a:lstStyle/>
          <a:p>
            <a:pPr algn="ctr"/>
          </a:p>
        </p:txBody>
      </p:sp>
      <p:sp>
        <p:nvSpPr>
          <p:cNvPr id="169" name="T170"/>
          <p:cNvSpPr txBox="1"/>
          <p:nvPr/>
        </p:nvSpPr>
        <p:spPr>
          <a:xfrm>
            <a:off x="1078992" y="6217920"/>
            <a:ext cx="10332720" cy="384048"/>
          </a:xfrm>
          <a:prstGeom prst="rect">
            <a:avLst/>
          </a:prstGeom>
          <a:noFill/>
        </p:spPr>
        <p:txBody>
          <a:bodyPr wrap="square" lIns="0" rIns="0" tIns="0" bIns="0"/>
          <a:lstStyle/>
          <a:p>
            <a:pPr algn="l">
              <a:lnSpc>
                <a:spcPct val="130000"/>
              </a:lnSpc>
            </a:pPr>
            <a:r>
              <a:rPr sz="950" b="0">
                <a:solidFill>
                  <a:srgbClr val="8A8A94"/>
                </a:solidFill>
                <a:latin typeface="Segoe UI"/>
              </a:rPr>
              <a:t>One case walks left to right across each tier. A tool failure, a delayed log or a human override all re-enter at PLANNING through a single reconsider() function, so there is no second code path for a revised conclusion.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 name="R302"/>
          <p:cNvSpPr/>
          <p:nvPr/>
        </p:nvSpPr>
        <p:spPr>
          <a:xfrm>
            <a:off x="0" y="0"/>
            <a:ext cx="12188952" cy="6858000"/>
          </a:xfrm>
          <a:prstGeom prst="rect">
            <a:avLst/>
          </a:prstGeom>
          <a:solidFill>
            <a:srgbClr val="FFFAF0"/>
          </a:solidFill>
          <a:ln>
            <a:noFill/>
          </a:ln>
          <a:effectLst/>
        </p:spPr>
        <p:txBody>
          <a:bodyPr rtlCol="0" anchor="ctr"/>
          <a:lstStyle/>
          <a:p>
            <a:pPr algn="ctr"/>
          </a:p>
        </p:txBody>
      </p:sp>
      <p:sp>
        <p:nvSpPr>
          <p:cNvPr id="303" name="T304"/>
          <p:cNvSpPr txBox="1"/>
          <p:nvPr/>
        </p:nvSpPr>
        <p:spPr>
          <a:xfrm>
            <a:off x="777240" y="457200"/>
            <a:ext cx="9144000" cy="274320"/>
          </a:xfrm>
          <a:prstGeom prst="rect">
            <a:avLst/>
          </a:prstGeom>
          <a:noFill/>
        </p:spPr>
        <p:txBody>
          <a:bodyPr wrap="square" lIns="0" rIns="0" tIns="0" bIns="0"/>
          <a:lstStyle/>
          <a:p>
            <a:pPr algn="l">
              <a:lnSpc>
                <a:spcPct val="130000"/>
              </a:lnSpc>
            </a:pPr>
            <a:r>
              <a:rPr sz="1200" b="1">
                <a:solidFill>
                  <a:srgbClr val="E2551F"/>
                </a:solidFill>
                <a:latin typeface="Segoe UI"/>
              </a:rPr>
              <a:t>TARGET USERS AND IMPACT</a:t>
            </a:r>
          </a:p>
        </p:txBody>
      </p:sp>
      <p:sp>
        <p:nvSpPr>
          <p:cNvPr id="305" name="T306"/>
          <p:cNvSpPr txBox="1"/>
          <p:nvPr/>
        </p:nvSpPr>
        <p:spPr>
          <a:xfrm>
            <a:off x="777240" y="731520"/>
            <a:ext cx="9144000" cy="1024128"/>
          </a:xfrm>
          <a:prstGeom prst="rect">
            <a:avLst/>
          </a:prstGeom>
          <a:noFill/>
        </p:spPr>
        <p:txBody>
          <a:bodyPr wrap="square" lIns="0" rIns="0" tIns="0" bIns="0"/>
          <a:lstStyle/>
          <a:p>
            <a:pPr algn="l">
              <a:lnSpc>
                <a:spcPct val="130000"/>
              </a:lnSpc>
            </a:pPr>
            <a:r>
              <a:rPr sz="2700" b="1">
                <a:solidFill>
                  <a:srgbClr val="1C1C1E"/>
                </a:solidFill>
                <a:latin typeface="Georgia"/>
              </a:rPr>
              <a:t>Who it's for, and what changes for them</a:t>
            </a:r>
          </a:p>
        </p:txBody>
      </p:sp>
      <p:sp>
        <p:nvSpPr>
          <p:cNvPr id="307" name="R308"/>
          <p:cNvSpPr/>
          <p:nvPr/>
        </p:nvSpPr>
        <p:spPr>
          <a:xfrm>
            <a:off x="10040112" y="475488"/>
            <a:ext cx="1344168" cy="402336"/>
          </a:xfrm>
          <a:prstGeom prst="roundRect">
            <a:avLst>
              <a:gd name="adj" fmla="val 25"/>
            </a:avLst>
          </a:prstGeom>
          <a:solidFill>
            <a:srgbClr val="FFF3E4"/>
          </a:solidFill>
          <a:ln w="12700">
            <a:solidFill>
              <a:srgbClr val="E2551F"/>
            </a:solidFill>
          </a:ln>
          <a:effectLst/>
        </p:spPr>
        <p:txBody>
          <a:bodyPr rtlCol="0" anchor="ctr"/>
          <a:lstStyle/>
          <a:p>
            <a:pPr algn="ctr"/>
          </a:p>
        </p:txBody>
      </p:sp>
      <p:sp>
        <p:nvSpPr>
          <p:cNvPr id="309" name="T310"/>
          <p:cNvSpPr txBox="1"/>
          <p:nvPr/>
        </p:nvSpPr>
        <p:spPr>
          <a:xfrm>
            <a:off x="10040112" y="576072"/>
            <a:ext cx="1344168" cy="237744"/>
          </a:xfrm>
          <a:prstGeom prst="rect">
            <a:avLst/>
          </a:prstGeom>
          <a:noFill/>
        </p:spPr>
        <p:txBody>
          <a:bodyPr wrap="square" lIns="0" rIns="0" tIns="0" bIns="0"/>
          <a:lstStyle/>
          <a:p>
            <a:pPr algn="ctr">
              <a:lnSpc>
                <a:spcPct val="130000"/>
              </a:lnSpc>
            </a:pPr>
            <a:r>
              <a:rPr sz="1200" b="1">
                <a:solidFill>
                  <a:srgbClr val="E2551F"/>
                </a:solidFill>
                <a:latin typeface="Segoe UI"/>
              </a:rPr>
              <a:t>10%</a:t>
            </a:r>
          </a:p>
        </p:txBody>
      </p:sp>
      <p:sp>
        <p:nvSpPr>
          <p:cNvPr id="311" name="R312"/>
          <p:cNvSpPr/>
          <p:nvPr/>
        </p:nvSpPr>
        <p:spPr>
          <a:xfrm>
            <a:off x="777240" y="1755648"/>
            <a:ext cx="3337560" cy="1645920"/>
          </a:xfrm>
          <a:prstGeom prst="roundRect">
            <a:avLst>
              <a:gd name="adj" fmla="val 6"/>
            </a:avLst>
          </a:prstGeom>
          <a:solidFill>
            <a:srgbClr val="FFFFFF"/>
          </a:solidFill>
          <a:ln w="12700">
            <a:solidFill>
              <a:srgbClr val="E2D8CC"/>
            </a:solidFill>
          </a:ln>
          <a:effectLst/>
        </p:spPr>
        <p:txBody>
          <a:bodyPr rtlCol="0" anchor="ctr"/>
          <a:lstStyle/>
          <a:p>
            <a:pPr algn="ctr"/>
          </a:p>
        </p:txBody>
      </p:sp>
      <p:sp>
        <p:nvSpPr>
          <p:cNvPr id="313" name="T314"/>
          <p:cNvSpPr txBox="1"/>
          <p:nvPr/>
        </p:nvSpPr>
        <p:spPr>
          <a:xfrm>
            <a:off x="1014984" y="1920240"/>
            <a:ext cx="2862072" cy="219456"/>
          </a:xfrm>
          <a:prstGeom prst="rect">
            <a:avLst/>
          </a:prstGeom>
          <a:noFill/>
        </p:spPr>
        <p:txBody>
          <a:bodyPr wrap="square" lIns="0" rIns="0" tIns="0" bIns="0"/>
          <a:lstStyle/>
          <a:p>
            <a:pPr algn="l">
              <a:lnSpc>
                <a:spcPct val="130000"/>
              </a:lnSpc>
            </a:pPr>
            <a:r>
              <a:rPr sz="1000" b="1" spc="40">
                <a:solidFill>
                  <a:srgbClr val="E2551F"/>
                </a:solidFill>
                <a:latin typeface="Segoe UI"/>
              </a:rPr>
              <a:t>THE TIER-1 ANALYST</a:t>
            </a:r>
          </a:p>
        </p:txBody>
      </p:sp>
      <p:sp>
        <p:nvSpPr>
          <p:cNvPr id="315" name="T316"/>
          <p:cNvSpPr txBox="1"/>
          <p:nvPr/>
        </p:nvSpPr>
        <p:spPr>
          <a:xfrm>
            <a:off x="1014984" y="2212848"/>
            <a:ext cx="2862072" cy="1078992"/>
          </a:xfrm>
          <a:prstGeom prst="rect">
            <a:avLst/>
          </a:prstGeom>
          <a:noFill/>
        </p:spPr>
        <p:txBody>
          <a:bodyPr wrap="square" lIns="0" rIns="0" tIns="0" bIns="0"/>
          <a:lstStyle/>
          <a:p>
            <a:pPr algn="l">
              <a:lnSpc>
                <a:spcPct val="130000"/>
              </a:lnSpc>
            </a:pPr>
            <a:r>
              <a:rPr sz="950" b="0">
                <a:solidFill>
                  <a:srgbClr val="4A4A52"/>
                </a:solidFill>
                <a:latin typeface="Segoe UI"/>
              </a:rPr>
              <a:t>Works an alert queue on a shift. Runs the same handful of lookups on every alert, and most of them turn out to be nothing. This is the person whose evening the agent gives back.</a:t>
            </a:r>
          </a:p>
        </p:txBody>
      </p:sp>
      <p:sp>
        <p:nvSpPr>
          <p:cNvPr id="317" name="R318"/>
          <p:cNvSpPr/>
          <p:nvPr/>
        </p:nvSpPr>
        <p:spPr>
          <a:xfrm>
            <a:off x="4421124" y="1755648"/>
            <a:ext cx="3337560" cy="1645920"/>
          </a:xfrm>
          <a:prstGeom prst="roundRect">
            <a:avLst>
              <a:gd name="adj" fmla="val 6"/>
            </a:avLst>
          </a:prstGeom>
          <a:solidFill>
            <a:srgbClr val="FFFFFF"/>
          </a:solidFill>
          <a:ln w="12700">
            <a:solidFill>
              <a:srgbClr val="E2D8CC"/>
            </a:solidFill>
          </a:ln>
          <a:effectLst/>
        </p:spPr>
        <p:txBody>
          <a:bodyPr rtlCol="0" anchor="ctr"/>
          <a:lstStyle/>
          <a:p>
            <a:pPr algn="ctr"/>
          </a:p>
        </p:txBody>
      </p:sp>
      <p:sp>
        <p:nvSpPr>
          <p:cNvPr id="319" name="T320"/>
          <p:cNvSpPr txBox="1"/>
          <p:nvPr/>
        </p:nvSpPr>
        <p:spPr>
          <a:xfrm>
            <a:off x="4658868" y="1920240"/>
            <a:ext cx="2862072" cy="219456"/>
          </a:xfrm>
          <a:prstGeom prst="rect">
            <a:avLst/>
          </a:prstGeom>
          <a:noFill/>
        </p:spPr>
        <p:txBody>
          <a:bodyPr wrap="square" lIns="0" rIns="0" tIns="0" bIns="0"/>
          <a:lstStyle/>
          <a:p>
            <a:pPr algn="l">
              <a:lnSpc>
                <a:spcPct val="130000"/>
              </a:lnSpc>
            </a:pPr>
            <a:r>
              <a:rPr sz="1000" b="1" spc="40">
                <a:solidFill>
                  <a:srgbClr val="E2551F"/>
                </a:solidFill>
                <a:latin typeface="Segoe UI"/>
              </a:rPr>
              <a:t>THE SHIFT LEAD</a:t>
            </a:r>
          </a:p>
        </p:txBody>
      </p:sp>
      <p:sp>
        <p:nvSpPr>
          <p:cNvPr id="321" name="T322"/>
          <p:cNvSpPr txBox="1"/>
          <p:nvPr/>
        </p:nvSpPr>
        <p:spPr>
          <a:xfrm>
            <a:off x="4658868" y="2212848"/>
            <a:ext cx="2862072" cy="1078992"/>
          </a:xfrm>
          <a:prstGeom prst="rect">
            <a:avLst/>
          </a:prstGeom>
          <a:noFill/>
        </p:spPr>
        <p:txBody>
          <a:bodyPr wrap="square" lIns="0" rIns="0" tIns="0" bIns="0"/>
          <a:lstStyle/>
          <a:p>
            <a:pPr algn="l">
              <a:lnSpc>
                <a:spcPct val="130000"/>
              </a:lnSpc>
            </a:pPr>
            <a:r>
              <a:rPr sz="950" b="0">
                <a:solidFill>
                  <a:srgbClr val="4A4A52"/>
                </a:solidFill>
                <a:latin typeface="Segoe UI"/>
              </a:rPr>
              <a:t>Signs off on what gets closed and what gets escalated. Needs to see WHY a case was closed, not just that somebody closed it. Today that reasoning mostly lives in one analyst's head.</a:t>
            </a:r>
          </a:p>
        </p:txBody>
      </p:sp>
      <p:sp>
        <p:nvSpPr>
          <p:cNvPr id="323" name="R324"/>
          <p:cNvSpPr/>
          <p:nvPr/>
        </p:nvSpPr>
        <p:spPr>
          <a:xfrm>
            <a:off x="8065008" y="1755648"/>
            <a:ext cx="3337560" cy="1645920"/>
          </a:xfrm>
          <a:prstGeom prst="roundRect">
            <a:avLst>
              <a:gd name="adj" fmla="val 6"/>
            </a:avLst>
          </a:prstGeom>
          <a:solidFill>
            <a:srgbClr val="FFFFFF"/>
          </a:solidFill>
          <a:ln w="12700">
            <a:solidFill>
              <a:srgbClr val="E2D8CC"/>
            </a:solidFill>
          </a:ln>
          <a:effectLst/>
        </p:spPr>
        <p:txBody>
          <a:bodyPr rtlCol="0" anchor="ctr"/>
          <a:lstStyle/>
          <a:p>
            <a:pPr algn="ctr"/>
          </a:p>
        </p:txBody>
      </p:sp>
      <p:sp>
        <p:nvSpPr>
          <p:cNvPr id="325" name="T326"/>
          <p:cNvSpPr txBox="1"/>
          <p:nvPr/>
        </p:nvSpPr>
        <p:spPr>
          <a:xfrm>
            <a:off x="8302752" y="1920240"/>
            <a:ext cx="2862072" cy="219456"/>
          </a:xfrm>
          <a:prstGeom prst="rect">
            <a:avLst/>
          </a:prstGeom>
          <a:noFill/>
        </p:spPr>
        <p:txBody>
          <a:bodyPr wrap="square" lIns="0" rIns="0" tIns="0" bIns="0"/>
          <a:lstStyle/>
          <a:p>
            <a:pPr algn="l">
              <a:lnSpc>
                <a:spcPct val="130000"/>
              </a:lnSpc>
            </a:pPr>
            <a:r>
              <a:rPr sz="1000" b="1" spc="40">
                <a:solidFill>
                  <a:srgbClr val="E2551F"/>
                </a:solidFill>
                <a:latin typeface="Segoe UI"/>
              </a:rPr>
              <a:t>THE SMALL SECURITY TEAM</a:t>
            </a:r>
          </a:p>
        </p:txBody>
      </p:sp>
      <p:sp>
        <p:nvSpPr>
          <p:cNvPr id="327" name="T328"/>
          <p:cNvSpPr txBox="1"/>
          <p:nvPr/>
        </p:nvSpPr>
        <p:spPr>
          <a:xfrm>
            <a:off x="8302752" y="2212848"/>
            <a:ext cx="2862072" cy="1078992"/>
          </a:xfrm>
          <a:prstGeom prst="rect">
            <a:avLst/>
          </a:prstGeom>
          <a:noFill/>
        </p:spPr>
        <p:txBody>
          <a:bodyPr wrap="square" lIns="0" rIns="0" tIns="0" bIns="0"/>
          <a:lstStyle/>
          <a:p>
            <a:pPr algn="l">
              <a:lnSpc>
                <a:spcPct val="130000"/>
              </a:lnSpc>
            </a:pPr>
            <a:r>
              <a:rPr sz="950" b="0">
                <a:solidFill>
                  <a:srgbClr val="4A4A52"/>
                </a:solidFill>
                <a:latin typeface="Segoe UI"/>
              </a:rPr>
              <a:t>Has the alert volume of a large organisation and a fraction of the headcount. Cannot put a human behind every signature that fires, so real breaches sit in a queue behind false alarms.</a:t>
            </a:r>
          </a:p>
        </p:txBody>
      </p:sp>
      <p:sp>
        <p:nvSpPr>
          <p:cNvPr id="329" name="R330"/>
          <p:cNvSpPr/>
          <p:nvPr/>
        </p:nvSpPr>
        <p:spPr>
          <a:xfrm>
            <a:off x="777240" y="3630168"/>
            <a:ext cx="5166360" cy="1335024"/>
          </a:xfrm>
          <a:prstGeom prst="roundRect">
            <a:avLst>
              <a:gd name="adj" fmla="val 6"/>
            </a:avLst>
          </a:prstGeom>
          <a:solidFill>
            <a:srgbClr val="FFFFFF"/>
          </a:solidFill>
          <a:ln w="12700">
            <a:solidFill>
              <a:srgbClr val="E2D8CC"/>
            </a:solidFill>
          </a:ln>
          <a:effectLst/>
        </p:spPr>
        <p:txBody>
          <a:bodyPr rtlCol="0" anchor="ctr"/>
          <a:lstStyle/>
          <a:p>
            <a:pPr algn="ctr"/>
          </a:p>
        </p:txBody>
      </p:sp>
      <p:sp>
        <p:nvSpPr>
          <p:cNvPr id="331" name="T332"/>
          <p:cNvSpPr txBox="1"/>
          <p:nvPr/>
        </p:nvSpPr>
        <p:spPr>
          <a:xfrm>
            <a:off x="1014984" y="3794760"/>
            <a:ext cx="4690872" cy="219456"/>
          </a:xfrm>
          <a:prstGeom prst="rect">
            <a:avLst/>
          </a:prstGeom>
          <a:noFill/>
        </p:spPr>
        <p:txBody>
          <a:bodyPr wrap="square" lIns="0" rIns="0" tIns="0" bIns="0"/>
          <a:lstStyle/>
          <a:p>
            <a:pPr algn="l">
              <a:lnSpc>
                <a:spcPct val="130000"/>
              </a:lnSpc>
            </a:pPr>
            <a:r>
              <a:rPr sz="1000" b="1" spc="40">
                <a:solidFill>
                  <a:srgbClr val="8A8A94"/>
                </a:solidFill>
                <a:latin typeface="Segoe UI"/>
              </a:rPr>
              <a:t>TODAY</a:t>
            </a:r>
          </a:p>
        </p:txBody>
      </p:sp>
      <p:sp>
        <p:nvSpPr>
          <p:cNvPr id="333" name="T334"/>
          <p:cNvSpPr txBox="1"/>
          <p:nvPr/>
        </p:nvSpPr>
        <p:spPr>
          <a:xfrm>
            <a:off x="1014984" y="4087368"/>
            <a:ext cx="4690872" cy="1133856"/>
          </a:xfrm>
          <a:prstGeom prst="rect">
            <a:avLst/>
          </a:prstGeom>
          <a:noFill/>
        </p:spPr>
        <p:txBody>
          <a:bodyPr wrap="square" lIns="0" rIns="0" tIns="0" bIns="0"/>
          <a:lstStyle/>
          <a:p>
            <a:pPr algn="l">
              <a:lnSpc>
                <a:spcPct val="130000"/>
              </a:lnSpc>
            </a:pPr>
            <a:r>
              <a:rPr sz="950" b="0">
                <a:solidFill>
                  <a:srgbClr val="4A4A52"/>
                </a:solidFill>
                <a:latin typeface="Segoe UI"/>
              </a:rPr>
              <a:t>An alert fires. An analyst opens five different tools, joins the answers together by hand, and makes a call. The ticket records the verdict. The reasoning behind it is not written down, so the next analyst starts over.</a:t>
            </a:r>
          </a:p>
        </p:txBody>
      </p:sp>
      <p:sp>
        <p:nvSpPr>
          <p:cNvPr id="335" name="R336"/>
          <p:cNvSpPr/>
          <p:nvPr/>
        </p:nvSpPr>
        <p:spPr>
          <a:xfrm>
            <a:off x="6245352" y="3630168"/>
            <a:ext cx="5166360" cy="1335024"/>
          </a:xfrm>
          <a:prstGeom prst="roundRect">
            <a:avLst>
              <a:gd name="adj" fmla="val 6"/>
            </a:avLst>
          </a:prstGeom>
          <a:solidFill>
            <a:srgbClr val="FFF3E4"/>
          </a:solidFill>
          <a:ln>
            <a:noFill/>
          </a:ln>
          <a:effectLst/>
        </p:spPr>
        <p:txBody>
          <a:bodyPr rtlCol="0" anchor="ctr"/>
          <a:lstStyle/>
          <a:p>
            <a:pPr algn="ctr"/>
          </a:p>
        </p:txBody>
      </p:sp>
      <p:sp>
        <p:nvSpPr>
          <p:cNvPr id="337" name="R338"/>
          <p:cNvSpPr/>
          <p:nvPr/>
        </p:nvSpPr>
        <p:spPr>
          <a:xfrm>
            <a:off x="6245352" y="3630168"/>
            <a:ext cx="50292" cy="1335024"/>
          </a:xfrm>
          <a:prstGeom prst="rect">
            <a:avLst/>
          </a:prstGeom>
          <a:solidFill>
            <a:srgbClr val="E2551F"/>
          </a:solidFill>
          <a:ln>
            <a:noFill/>
          </a:ln>
          <a:effectLst/>
        </p:spPr>
        <p:txBody>
          <a:bodyPr rtlCol="0" anchor="ctr"/>
          <a:lstStyle/>
          <a:p>
            <a:pPr algn="ctr"/>
          </a:p>
        </p:txBody>
      </p:sp>
      <p:sp>
        <p:nvSpPr>
          <p:cNvPr id="339" name="T340"/>
          <p:cNvSpPr txBox="1"/>
          <p:nvPr/>
        </p:nvSpPr>
        <p:spPr>
          <a:xfrm>
            <a:off x="6519672" y="3794760"/>
            <a:ext cx="4617720" cy="219456"/>
          </a:xfrm>
          <a:prstGeom prst="rect">
            <a:avLst/>
          </a:prstGeom>
          <a:noFill/>
        </p:spPr>
        <p:txBody>
          <a:bodyPr wrap="square" lIns="0" rIns="0" tIns="0" bIns="0"/>
          <a:lstStyle/>
          <a:p>
            <a:pPr algn="l">
              <a:lnSpc>
                <a:spcPct val="130000"/>
              </a:lnSpc>
            </a:pPr>
            <a:r>
              <a:rPr sz="1000" b="1" spc="40">
                <a:solidFill>
                  <a:srgbClr val="E2551F"/>
                </a:solidFill>
                <a:latin typeface="Segoe UI"/>
              </a:rPr>
              <a:t>WITH THE AGENT</a:t>
            </a:r>
          </a:p>
        </p:txBody>
      </p:sp>
      <p:sp>
        <p:nvSpPr>
          <p:cNvPr id="341" name="T342"/>
          <p:cNvSpPr txBox="1"/>
          <p:nvPr/>
        </p:nvSpPr>
        <p:spPr>
          <a:xfrm>
            <a:off x="6519672" y="4087368"/>
            <a:ext cx="4617720" cy="1133856"/>
          </a:xfrm>
          <a:prstGeom prst="rect">
            <a:avLst/>
          </a:prstGeom>
          <a:noFill/>
        </p:spPr>
        <p:txBody>
          <a:bodyPr wrap="square" lIns="0" rIns="0" tIns="0" bIns="0"/>
          <a:lstStyle/>
          <a:p>
            <a:pPr algn="l">
              <a:lnSpc>
                <a:spcPct val="130000"/>
              </a:lnSpc>
            </a:pPr>
            <a:r>
              <a:rPr sz="950" b="0">
                <a:solidFill>
                  <a:srgbClr val="4A4A52"/>
                </a:solidFill>
                <a:latin typeface="Segoe UI"/>
              </a:rPr>
              <a:t>The same investigation runs in seconds and writes down every step: what it checked, why it checked it, what it found, and what it could not establish. The analyst reviews a finished case instead of building one.</a:t>
            </a:r>
          </a:p>
        </p:txBody>
      </p:sp>
      <p:sp>
        <p:nvSpPr>
          <p:cNvPr id="343" name="R344"/>
          <p:cNvSpPr/>
          <p:nvPr/>
        </p:nvSpPr>
        <p:spPr>
          <a:xfrm>
            <a:off x="777240" y="5321808"/>
            <a:ext cx="50292" cy="868680"/>
          </a:xfrm>
          <a:prstGeom prst="rect">
            <a:avLst/>
          </a:prstGeom>
          <a:solidFill>
            <a:srgbClr val="E2551F"/>
          </a:solidFill>
          <a:ln>
            <a:noFill/>
          </a:ln>
          <a:effectLst/>
        </p:spPr>
        <p:txBody>
          <a:bodyPr rtlCol="0" anchor="ctr"/>
          <a:lstStyle/>
          <a:p>
            <a:pPr algn="ctr"/>
          </a:p>
        </p:txBody>
      </p:sp>
      <p:sp>
        <p:nvSpPr>
          <p:cNvPr id="345" name="T346"/>
          <p:cNvSpPr txBox="1"/>
          <p:nvPr/>
        </p:nvSpPr>
        <p:spPr>
          <a:xfrm>
            <a:off x="1078992" y="5358384"/>
            <a:ext cx="10332720" cy="274320"/>
          </a:xfrm>
          <a:prstGeom prst="rect">
            <a:avLst/>
          </a:prstGeom>
          <a:noFill/>
        </p:spPr>
        <p:txBody>
          <a:bodyPr wrap="square" lIns="0" rIns="0" tIns="0" bIns="0"/>
          <a:lstStyle/>
          <a:p>
            <a:pPr algn="l">
              <a:lnSpc>
                <a:spcPct val="130000"/>
              </a:lnSpc>
            </a:pPr>
            <a:r>
              <a:rPr sz="1000" b="1" spc="40">
                <a:solidFill>
                  <a:srgbClr val="E2551F"/>
                </a:solidFill>
                <a:latin typeface="Segoe UI"/>
              </a:rPr>
              <a:t>IT DOES NOT REPLACE THE ANALYST</a:t>
            </a:r>
          </a:p>
        </p:txBody>
      </p:sp>
      <p:sp>
        <p:nvSpPr>
          <p:cNvPr id="347" name="T348"/>
          <p:cNvSpPr txBox="1"/>
          <p:nvPr/>
        </p:nvSpPr>
        <p:spPr>
          <a:xfrm>
            <a:off x="1078992" y="5669280"/>
            <a:ext cx="10332720" cy="548640"/>
          </a:xfrm>
          <a:prstGeom prst="rect">
            <a:avLst/>
          </a:prstGeom>
          <a:noFill/>
        </p:spPr>
        <p:txBody>
          <a:bodyPr wrap="square" lIns="0" rIns="0" tIns="0" bIns="0"/>
          <a:lstStyle/>
          <a:p>
            <a:pPr algn="l">
              <a:lnSpc>
                <a:spcPct val="130000"/>
              </a:lnSpc>
            </a:pPr>
            <a:r>
              <a:rPr sz="950" b="0">
                <a:solidFill>
                  <a:srgbClr val="4A4A52"/>
                </a:solidFill>
                <a:latin typeface="Segoe UI"/>
              </a:rPr>
              <a:t>It does the mechanical part and hands over a case file with the evidence already attached, including an explicit “I could not establish this” wherever the evidence was missing. A human still decides what to do about a breach.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